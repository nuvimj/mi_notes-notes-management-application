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8" r:id="rId9"/>
    <p:sldId id="265" r:id="rId10"/>
    <p:sldId id="266" r:id="rId11"/>
    <p:sldId id="267" r:id="rId12"/>
    <p:sldId id="269" r:id="rId13"/>
    <p:sldId id="274" r:id="rId14"/>
    <p:sldId id="270" r:id="rId15"/>
    <p:sldId id="272" r:id="rId16"/>
    <p:sldId id="273" r:id="rId17"/>
    <p:sldId id="275" r:id="rId18"/>
    <p:sldId id="261" r:id="rId19"/>
    <p:sldId id="276" r:id="rId20"/>
    <p:sldId id="277" r:id="rId21"/>
    <p:sldId id="279" r:id="rId22"/>
    <p:sldId id="278" r:id="rId23"/>
    <p:sldId id="281" r:id="rId24"/>
    <p:sldId id="303" r:id="rId25"/>
    <p:sldId id="282" r:id="rId26"/>
    <p:sldId id="283" r:id="rId27"/>
    <p:sldId id="284" r:id="rId28"/>
    <p:sldId id="285" r:id="rId29"/>
    <p:sldId id="286" r:id="rId30"/>
    <p:sldId id="287" r:id="rId31"/>
    <p:sldId id="288" r:id="rId32"/>
    <p:sldId id="289" r:id="rId33"/>
    <p:sldId id="290" r:id="rId34"/>
    <p:sldId id="291" r:id="rId35"/>
    <p:sldId id="292" r:id="rId36"/>
    <p:sldId id="307" r:id="rId37"/>
    <p:sldId id="308" r:id="rId38"/>
    <p:sldId id="309" r:id="rId39"/>
    <p:sldId id="310" r:id="rId40"/>
    <p:sldId id="311" r:id="rId41"/>
    <p:sldId id="312" r:id="rId42"/>
    <p:sldId id="313" r:id="rId43"/>
    <p:sldId id="314" r:id="rId44"/>
    <p:sldId id="315" r:id="rId45"/>
    <p:sldId id="317" r:id="rId46"/>
    <p:sldId id="316" r:id="rId47"/>
    <p:sldId id="318" r:id="rId48"/>
    <p:sldId id="305"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01563F8-EF3B-4F36-ACB0-00E4FCC42EF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623508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1563F8-EF3B-4F36-ACB0-00E4FCC42EF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1162207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01563F8-EF3B-4F36-ACB0-00E4FCC42EF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770237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01563F8-EF3B-4F36-ACB0-00E4FCC42EF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4223321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01563F8-EF3B-4F36-ACB0-00E4FCC42EF4}" type="datetimeFigureOut">
              <a:rPr lang="en-US" smtClean="0"/>
              <a:t>7/29/2025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464595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01563F8-EF3B-4F36-ACB0-00E4FCC42EF4}" type="datetimeFigureOut">
              <a:rPr lang="en-US" smtClean="0"/>
              <a:t>7/29/2025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1583726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1563F8-EF3B-4F36-ACB0-00E4FCC42EF4}" type="datetimeFigureOut">
              <a:rPr lang="en-US" smtClean="0"/>
              <a:t>7/29/2025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148080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1563F8-EF3B-4F36-ACB0-00E4FCC42EF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338770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1563F8-EF3B-4F36-ACB0-00E4FCC42EF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2512988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1563F8-EF3B-4F36-ACB0-00E4FCC42EF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1836388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1563F8-EF3B-4F36-ACB0-00E4FCC42EF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3062431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1563F8-EF3B-4F36-ACB0-00E4FCC42EF4}" type="datetimeFigureOut">
              <a:rPr lang="en-US" smtClean="0"/>
              <a:t>7/29/2025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CC5A40-029A-4E7E-BFFD-F9D1A2A30718}" type="slidenum">
              <a:rPr lang="en-US" smtClean="0"/>
              <a:t>‹#›</a:t>
            </a:fld>
            <a:endParaRPr lang="en-US"/>
          </a:p>
        </p:txBody>
      </p:sp>
    </p:spTree>
    <p:extLst>
      <p:ext uri="{BB962C8B-B14F-4D97-AF65-F5344CB8AC3E}">
        <p14:creationId xmlns:p14="http://schemas.microsoft.com/office/powerpoint/2010/main" val="2609179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5527" y="484905"/>
            <a:ext cx="11790218" cy="1764282"/>
          </a:xfrm>
        </p:spPr>
        <p:txBody>
          <a:bodyPr>
            <a:normAutofit/>
          </a:bodyPr>
          <a:lstStyle/>
          <a:p>
            <a:r>
              <a:rPr lang="en-US" b="1" dirty="0" smtClean="0">
                <a:latin typeface="Times New Roman" panose="02020603050405020304" pitchFamily="18" charset="0"/>
                <a:cs typeface="Times New Roman" panose="02020603050405020304" pitchFamily="18" charset="0"/>
              </a:rPr>
              <a:t>An Introduction to the Legal Systems of Sri Lanka</a:t>
            </a:r>
            <a:endParaRPr lang="en-US"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3172691"/>
            <a:ext cx="9144000" cy="3463639"/>
          </a:xfrm>
        </p:spPr>
        <p:txBody>
          <a:bodyPr>
            <a:normAutofit/>
          </a:bodyPr>
          <a:lstStyle/>
          <a:p>
            <a:r>
              <a:rPr lang="en-US" sz="4000" b="1" dirty="0" smtClean="0">
                <a:latin typeface="Times New Roman" panose="02020603050405020304" pitchFamily="18" charset="0"/>
                <a:cs typeface="Times New Roman" panose="02020603050405020304" pitchFamily="18" charset="0"/>
              </a:rPr>
              <a:t>S. Piumal Fernando </a:t>
            </a:r>
            <a:r>
              <a:rPr lang="en-US" b="1" dirty="0" smtClean="0">
                <a:latin typeface="Times New Roman" panose="02020603050405020304" pitchFamily="18" charset="0"/>
                <a:cs typeface="Times New Roman" panose="02020603050405020304" pitchFamily="18" charset="0"/>
              </a:rPr>
              <a:t>(LL. M, LL. B)</a:t>
            </a:r>
          </a:p>
          <a:p>
            <a:r>
              <a:rPr lang="en-US" sz="2000" b="1" dirty="0" smtClean="0">
                <a:latin typeface="Times New Roman" panose="02020603050405020304" pitchFamily="18" charset="0"/>
                <a:cs typeface="Times New Roman" panose="02020603050405020304" pitchFamily="18" charset="0"/>
              </a:rPr>
              <a:t>Ph. D (Reading) University of Peradeniya</a:t>
            </a:r>
          </a:p>
          <a:p>
            <a:r>
              <a:rPr lang="en-US" b="1" dirty="0" smtClean="0">
                <a:latin typeface="Times New Roman" panose="02020603050405020304" pitchFamily="18" charset="0"/>
                <a:cs typeface="Times New Roman" panose="02020603050405020304" pitchFamily="18" charset="0"/>
              </a:rPr>
              <a:t>Diploma in Forensic Medicine</a:t>
            </a:r>
          </a:p>
          <a:p>
            <a:r>
              <a:rPr lang="en-US" sz="3200" b="1" i="1" dirty="0" smtClean="0">
                <a:latin typeface="Times New Roman" panose="02020603050405020304" pitchFamily="18" charset="0"/>
                <a:cs typeface="Times New Roman" panose="02020603050405020304" pitchFamily="18" charset="0"/>
              </a:rPr>
              <a:t>Attorney-at-Law</a:t>
            </a:r>
          </a:p>
          <a:p>
            <a:r>
              <a:rPr lang="en-US" sz="2800" b="1" dirty="0">
                <a:latin typeface="Times New Roman" panose="02020603050405020304" pitchFamily="18" charset="0"/>
                <a:cs typeface="Times New Roman" panose="02020603050405020304" pitchFamily="18" charset="0"/>
              </a:rPr>
              <a:t>Senior Lecturer &amp; Examiner – Sri Lanka Law </a:t>
            </a:r>
            <a:r>
              <a:rPr lang="en-US" sz="2800" b="1" dirty="0" smtClean="0">
                <a:latin typeface="Times New Roman" panose="02020603050405020304" pitchFamily="18" charset="0"/>
                <a:cs typeface="Times New Roman" panose="02020603050405020304" pitchFamily="18" charset="0"/>
              </a:rPr>
              <a:t>College</a:t>
            </a:r>
          </a:p>
          <a:p>
            <a:r>
              <a:rPr lang="en-US" sz="2000" b="1" dirty="0" smtClean="0">
                <a:latin typeface="Times New Roman" panose="02020603050405020304" pitchFamily="18" charset="0"/>
                <a:cs typeface="Times New Roman" panose="02020603050405020304" pitchFamily="18" charset="0"/>
              </a:rPr>
              <a:t>Notary Public| Company Secretary| Commissioner for Oaths|</a:t>
            </a:r>
          </a:p>
          <a:p>
            <a:r>
              <a:rPr lang="en-US" sz="2000" b="1" dirty="0" smtClean="0">
                <a:latin typeface="Times New Roman" panose="02020603050405020304" pitchFamily="18" charset="0"/>
                <a:cs typeface="Times New Roman" panose="02020603050405020304" pitchFamily="18" charset="0"/>
              </a:rPr>
              <a:t>Former Registered Agent at National Intellectual </a:t>
            </a:r>
            <a:r>
              <a:rPr lang="en-US" sz="2000" b="1" dirty="0">
                <a:latin typeface="Times New Roman" panose="02020603050405020304" pitchFamily="18" charset="0"/>
                <a:cs typeface="Times New Roman" panose="02020603050405020304" pitchFamily="18" charset="0"/>
              </a:rPr>
              <a:t>P</a:t>
            </a:r>
            <a:r>
              <a:rPr lang="en-US" sz="2000" b="1" dirty="0" smtClean="0">
                <a:latin typeface="Times New Roman" panose="02020603050405020304" pitchFamily="18" charset="0"/>
                <a:cs typeface="Times New Roman" panose="02020603050405020304" pitchFamily="18" charset="0"/>
              </a:rPr>
              <a:t>roperty Office</a:t>
            </a:r>
            <a:endParaRPr lang="en-US" sz="1800" b="1" dirty="0" smtClean="0">
              <a:latin typeface="Times New Roman" panose="02020603050405020304" pitchFamily="18" charset="0"/>
              <a:cs typeface="Times New Roman" panose="02020603050405020304" pitchFamily="18" charset="0"/>
            </a:endParaRPr>
          </a:p>
          <a:p>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4183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Main Segments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514350" indent="-514350" algn="just">
              <a:buAutoNum type="arabicPeriod"/>
            </a:pPr>
            <a:r>
              <a:rPr lang="en-US" dirty="0" smtClean="0">
                <a:latin typeface="Times New Roman" panose="02020603050405020304" pitchFamily="18" charset="0"/>
                <a:cs typeface="Times New Roman" panose="02020603050405020304" pitchFamily="18" charset="0"/>
              </a:rPr>
              <a:t>What is Law?</a:t>
            </a:r>
          </a:p>
          <a:p>
            <a:pPr marL="514350" indent="-514350" algn="just">
              <a:buAutoNum type="arabicPeriod"/>
            </a:pPr>
            <a:r>
              <a:rPr lang="en-US" dirty="0" smtClean="0">
                <a:latin typeface="Times New Roman" panose="02020603050405020304" pitchFamily="18" charset="0"/>
                <a:cs typeface="Times New Roman" panose="02020603050405020304" pitchFamily="18" charset="0"/>
              </a:rPr>
              <a:t>Legal System of Sri Lanka</a:t>
            </a:r>
          </a:p>
          <a:p>
            <a:pPr marL="514350" indent="-514350" algn="just">
              <a:buFont typeface="Arial" panose="020B0604020202020204" pitchFamily="34" charset="0"/>
              <a:buAutoNum type="arabicPeriod"/>
            </a:pPr>
            <a:r>
              <a:rPr lang="en-US" dirty="0">
                <a:latin typeface="Times New Roman" panose="02020603050405020304" pitchFamily="18" charset="0"/>
                <a:cs typeface="Times New Roman" panose="02020603050405020304" pitchFamily="18" charset="0"/>
              </a:rPr>
              <a:t>Supreme Law</a:t>
            </a:r>
          </a:p>
          <a:p>
            <a:pPr marL="514350" indent="-514350" algn="just">
              <a:buAutoNum type="arabicPeriod"/>
            </a:pPr>
            <a:r>
              <a:rPr lang="en-US" dirty="0" smtClean="0">
                <a:latin typeface="Times New Roman" panose="02020603050405020304" pitchFamily="18" charset="0"/>
                <a:cs typeface="Times New Roman" panose="02020603050405020304" pitchFamily="18" charset="0"/>
              </a:rPr>
              <a:t>Legal Traditions</a:t>
            </a:r>
          </a:p>
          <a:p>
            <a:pPr marL="514350" indent="-514350" algn="just">
              <a:buAutoNum type="arabicPeriod"/>
            </a:pPr>
            <a:r>
              <a:rPr lang="en-US" dirty="0" smtClean="0">
                <a:latin typeface="Times New Roman" panose="02020603050405020304" pitchFamily="18" charset="0"/>
                <a:cs typeface="Times New Roman" panose="02020603050405020304" pitchFamily="18" charset="0"/>
              </a:rPr>
              <a:t>Court Hierarchy</a:t>
            </a:r>
          </a:p>
        </p:txBody>
      </p:sp>
    </p:spTree>
    <p:extLst>
      <p:ext uri="{BB962C8B-B14F-4D97-AF65-F5344CB8AC3E}">
        <p14:creationId xmlns:p14="http://schemas.microsoft.com/office/powerpoint/2010/main" val="31757140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What is Law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lgn="just">
              <a:buNone/>
            </a:pPr>
            <a:r>
              <a:rPr lang="en-US" dirty="0" smtClean="0">
                <a:latin typeface="Times New Roman" panose="02020603050405020304" pitchFamily="18" charset="0"/>
                <a:cs typeface="Times New Roman" panose="02020603050405020304" pitchFamily="18" charset="0"/>
              </a:rPr>
              <a:t>Law is a set of rules that govern society, protect people, and provide structure. </a:t>
            </a:r>
          </a:p>
          <a:p>
            <a:pPr marL="0" indent="0" algn="just">
              <a:buNone/>
            </a:pPr>
            <a:r>
              <a:rPr lang="en-US" dirty="0" smtClean="0">
                <a:latin typeface="Times New Roman" panose="02020603050405020304" pitchFamily="18" charset="0"/>
                <a:cs typeface="Times New Roman" panose="02020603050405020304" pitchFamily="18" charset="0"/>
              </a:rPr>
              <a:t>Laws are important because they help keep society safe and orderly.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25552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What are Rules?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O</a:t>
            </a:r>
            <a:r>
              <a:rPr lang="en-US" dirty="0" smtClean="0">
                <a:latin typeface="Times New Roman" panose="02020603050405020304" pitchFamily="18" charset="0"/>
                <a:cs typeface="Times New Roman" panose="02020603050405020304" pitchFamily="18" charset="0"/>
              </a:rPr>
              <a:t>ne of a set of explicit or understood regulations or principles governing conduct or procedure within a particular area of activity.</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88850" y="3638116"/>
            <a:ext cx="3815207" cy="2538847"/>
          </a:xfrm>
          <a:prstGeom prst="rect">
            <a:avLst/>
          </a:prstGeom>
          <a:ln>
            <a:noFill/>
          </a:ln>
          <a:effectLst>
            <a:softEdge rad="112500"/>
          </a:effectLst>
        </p:spPr>
      </p:pic>
      <p:pic>
        <p:nvPicPr>
          <p:cNvPr id="1026" name="Picture 2" descr="The Veddas of Sri Lanka - kipt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2761" y="3638115"/>
            <a:ext cx="4828478" cy="253884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99772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2"/>
          <a:stretch>
            <a:fillRect/>
          </a:stretch>
        </p:blipFill>
        <p:spPr>
          <a:xfrm>
            <a:off x="8243463" y="1302327"/>
            <a:ext cx="3674671" cy="5522047"/>
          </a:xfrm>
          <a:prstGeom prst="rect">
            <a:avLst/>
          </a:prstGeom>
          <a:ln>
            <a:noFill/>
          </a:ln>
          <a:effectLst>
            <a:softEdge rad="112500"/>
          </a:effectLst>
        </p:spPr>
      </p:pic>
      <p:sp>
        <p:nvSpPr>
          <p:cNvPr id="7" name="Rectangle 6"/>
          <p:cNvSpPr/>
          <p:nvPr/>
        </p:nvSpPr>
        <p:spPr>
          <a:xfrm>
            <a:off x="273866" y="1302327"/>
            <a:ext cx="7969597" cy="5347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b="1" u="sng" dirty="0" smtClean="0">
                <a:solidFill>
                  <a:schemeClr val="tx1"/>
                </a:solidFill>
                <a:latin typeface="Times New Roman" panose="02020603050405020304" pitchFamily="18" charset="0"/>
                <a:cs typeface="Times New Roman" panose="02020603050405020304" pitchFamily="18" charset="0"/>
              </a:rPr>
              <a:t>The Multiple System of Law</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Many different systems of law have affected the development of the law of Sri Lanka.</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These are Sinhalese law (today more commonly referred to as </a:t>
            </a:r>
            <a:r>
              <a:rPr lang="en-US" sz="2800" dirty="0" err="1" smtClean="0">
                <a:solidFill>
                  <a:schemeClr val="tx1"/>
                </a:solidFill>
                <a:latin typeface="Times New Roman" panose="02020603050405020304" pitchFamily="18" charset="0"/>
                <a:cs typeface="Times New Roman" panose="02020603050405020304" pitchFamily="18" charset="0"/>
              </a:rPr>
              <a:t>Kandyan</a:t>
            </a:r>
            <a:r>
              <a:rPr lang="en-US" sz="2800" dirty="0" smtClean="0">
                <a:solidFill>
                  <a:schemeClr val="tx1"/>
                </a:solidFill>
                <a:latin typeface="Times New Roman" panose="02020603050405020304" pitchFamily="18" charset="0"/>
                <a:cs typeface="Times New Roman" panose="02020603050405020304" pitchFamily="18" charset="0"/>
              </a:rPr>
              <a:t> Law), Buddhist Law, Hindu Law, </a:t>
            </a:r>
            <a:r>
              <a:rPr lang="en-US" sz="2800" dirty="0" err="1" smtClean="0">
                <a:solidFill>
                  <a:schemeClr val="tx1"/>
                </a:solidFill>
                <a:latin typeface="Times New Roman" panose="02020603050405020304" pitchFamily="18" charset="0"/>
                <a:cs typeface="Times New Roman" panose="02020603050405020304" pitchFamily="18" charset="0"/>
              </a:rPr>
              <a:t>Thesawalamai</a:t>
            </a:r>
            <a:r>
              <a:rPr lang="en-US" sz="2800" dirty="0" smtClean="0">
                <a:solidFill>
                  <a:schemeClr val="tx1"/>
                </a:solidFill>
                <a:latin typeface="Times New Roman" panose="02020603050405020304" pitchFamily="18" charset="0"/>
                <a:cs typeface="Times New Roman" panose="02020603050405020304" pitchFamily="18" charset="0"/>
              </a:rPr>
              <a:t> Law, Islamic Law, </a:t>
            </a:r>
            <a:r>
              <a:rPr lang="en-US" sz="2800" dirty="0" err="1" smtClean="0">
                <a:solidFill>
                  <a:schemeClr val="tx1"/>
                </a:solidFill>
                <a:latin typeface="Times New Roman" panose="02020603050405020304" pitchFamily="18" charset="0"/>
                <a:cs typeface="Times New Roman" panose="02020603050405020304" pitchFamily="18" charset="0"/>
              </a:rPr>
              <a:t>Mukkuvar</a:t>
            </a:r>
            <a:r>
              <a:rPr lang="en-US" sz="2800" dirty="0" smtClean="0">
                <a:solidFill>
                  <a:schemeClr val="tx1"/>
                </a:solidFill>
                <a:latin typeface="Times New Roman" panose="02020603050405020304" pitchFamily="18" charset="0"/>
                <a:cs typeface="Times New Roman" panose="02020603050405020304" pitchFamily="18" charset="0"/>
              </a:rPr>
              <a:t> Law, Roman Dutch Law and English Law.</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An individual may, in respect of different transactions or legal relations, be governed by different systems of law.</a:t>
            </a: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10532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273866" y="1302327"/>
            <a:ext cx="11724170" cy="5347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b="1" u="sng" dirty="0" smtClean="0">
                <a:solidFill>
                  <a:schemeClr val="tx1"/>
                </a:solidFill>
                <a:latin typeface="Times New Roman" panose="02020603050405020304" pitchFamily="18" charset="0"/>
                <a:cs typeface="Times New Roman" panose="02020603050405020304" pitchFamily="18" charset="0"/>
              </a:rPr>
              <a:t>The Multiple System of Law</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The Sinhalese who spoke the Sinhala language and the Tamils whose language was Tamil were the two chief sections of the population.</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r>
              <a:rPr lang="en-US" sz="2800" b="1" dirty="0" smtClean="0">
                <a:solidFill>
                  <a:schemeClr val="tx1"/>
                </a:solidFill>
                <a:latin typeface="Times New Roman" panose="02020603050405020304" pitchFamily="18" charset="0"/>
                <a:cs typeface="Times New Roman" panose="02020603050405020304" pitchFamily="18" charset="0"/>
              </a:rPr>
              <a:t>The Sinhalese</a:t>
            </a:r>
            <a:r>
              <a:rPr lang="en-US" sz="2800" dirty="0" smtClean="0">
                <a:solidFill>
                  <a:schemeClr val="tx1"/>
                </a:solidFill>
                <a:latin typeface="Times New Roman" panose="02020603050405020304" pitchFamily="18" charset="0"/>
                <a:cs typeface="Times New Roman" panose="02020603050405020304" pitchFamily="18" charset="0"/>
              </a:rPr>
              <a:t> occupied the interior, southern and western areas of the country were Buddhists.</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r>
              <a:rPr lang="en-US" sz="2800" b="1" dirty="0" smtClean="0">
                <a:solidFill>
                  <a:schemeClr val="tx1"/>
                </a:solidFill>
                <a:latin typeface="Times New Roman" panose="02020603050405020304" pitchFamily="18" charset="0"/>
                <a:cs typeface="Times New Roman" panose="02020603050405020304" pitchFamily="18" charset="0"/>
              </a:rPr>
              <a:t>Tamils</a:t>
            </a:r>
            <a:r>
              <a:rPr lang="en-US" sz="2800" dirty="0" smtClean="0">
                <a:solidFill>
                  <a:schemeClr val="tx1"/>
                </a:solidFill>
                <a:latin typeface="Times New Roman" panose="02020603050405020304" pitchFamily="18" charset="0"/>
                <a:cs typeface="Times New Roman" panose="02020603050405020304" pitchFamily="18" charset="0"/>
              </a:rPr>
              <a:t> who followed Hindu religion occupied the northern and Eastern areas of the country.</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b="1" dirty="0" smtClean="0">
                <a:solidFill>
                  <a:schemeClr val="tx1"/>
                </a:solidFill>
                <a:latin typeface="Times New Roman" panose="02020603050405020304" pitchFamily="18" charset="0"/>
                <a:cs typeface="Times New Roman" panose="02020603050405020304" pitchFamily="18" charset="0"/>
              </a:rPr>
              <a:t>Muslim</a:t>
            </a:r>
            <a:r>
              <a:rPr lang="en-US" sz="2800" dirty="0" smtClean="0">
                <a:solidFill>
                  <a:schemeClr val="tx1"/>
                </a:solidFill>
                <a:latin typeface="Times New Roman" panose="02020603050405020304" pitchFamily="18" charset="0"/>
                <a:cs typeface="Times New Roman" panose="02020603050405020304" pitchFamily="18" charset="0"/>
              </a:rPr>
              <a:t> traders had settled on the western seaboard and later all over the country.</a:t>
            </a:r>
          </a:p>
        </p:txBody>
      </p:sp>
    </p:spTree>
    <p:extLst>
      <p:ext uri="{BB962C8B-B14F-4D97-AF65-F5344CB8AC3E}">
        <p14:creationId xmlns:p14="http://schemas.microsoft.com/office/powerpoint/2010/main" val="13917789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273866" y="1302327"/>
            <a:ext cx="11724170" cy="5347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b="1" u="sng" dirty="0" smtClean="0">
                <a:solidFill>
                  <a:schemeClr val="tx1"/>
                </a:solidFill>
                <a:latin typeface="Times New Roman" panose="02020603050405020304" pitchFamily="18" charset="0"/>
                <a:cs typeface="Times New Roman" panose="02020603050405020304" pitchFamily="18" charset="0"/>
              </a:rPr>
              <a:t>The Multiple System of Law</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b="1" dirty="0" err="1" smtClean="0">
                <a:solidFill>
                  <a:schemeClr val="tx1"/>
                </a:solidFill>
                <a:latin typeface="Times New Roman" panose="02020603050405020304" pitchFamily="18" charset="0"/>
                <a:cs typeface="Times New Roman" panose="02020603050405020304" pitchFamily="18" charset="0"/>
              </a:rPr>
              <a:t>Mukkuvars</a:t>
            </a:r>
            <a:r>
              <a:rPr lang="en-US" sz="2800" dirty="0" smtClean="0">
                <a:solidFill>
                  <a:schemeClr val="tx1"/>
                </a:solidFill>
                <a:latin typeface="Times New Roman" panose="02020603050405020304" pitchFamily="18" charset="0"/>
                <a:cs typeface="Times New Roman" panose="02020603050405020304" pitchFamily="18" charset="0"/>
              </a:rPr>
              <a:t>, was a fisher caste arrived to Sri Lanka from the south-western coast of India, and settled down in Jaffna, </a:t>
            </a:r>
            <a:r>
              <a:rPr lang="en-US" sz="2800" dirty="0" err="1" smtClean="0">
                <a:solidFill>
                  <a:schemeClr val="tx1"/>
                </a:solidFill>
                <a:latin typeface="Times New Roman" panose="02020603050405020304" pitchFamily="18" charset="0"/>
                <a:cs typeface="Times New Roman" panose="02020603050405020304" pitchFamily="18" charset="0"/>
              </a:rPr>
              <a:t>Kalpitiya</a:t>
            </a:r>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err="1" smtClean="0">
                <a:solidFill>
                  <a:schemeClr val="tx1"/>
                </a:solidFill>
                <a:latin typeface="Times New Roman" panose="02020603050405020304" pitchFamily="18" charset="0"/>
                <a:cs typeface="Times New Roman" panose="02020603050405020304" pitchFamily="18" charset="0"/>
              </a:rPr>
              <a:t>Puttlam</a:t>
            </a:r>
            <a:r>
              <a:rPr lang="en-US" sz="2800" dirty="0" smtClean="0">
                <a:solidFill>
                  <a:schemeClr val="tx1"/>
                </a:solidFill>
                <a:latin typeface="Times New Roman" panose="02020603050405020304" pitchFamily="18" charset="0"/>
                <a:cs typeface="Times New Roman" panose="02020603050405020304" pitchFamily="18" charset="0"/>
              </a:rPr>
              <a:t> and </a:t>
            </a:r>
            <a:r>
              <a:rPr lang="en-US" sz="2800" dirty="0" err="1" smtClean="0">
                <a:solidFill>
                  <a:schemeClr val="tx1"/>
                </a:solidFill>
                <a:latin typeface="Times New Roman" panose="02020603050405020304" pitchFamily="18" charset="0"/>
                <a:cs typeface="Times New Roman" panose="02020603050405020304" pitchFamily="18" charset="0"/>
              </a:rPr>
              <a:t>Batticaloa</a:t>
            </a:r>
            <a:r>
              <a:rPr lang="en-US" sz="2800" dirty="0" smtClean="0">
                <a:solidFill>
                  <a:schemeClr val="tx1"/>
                </a:solidFill>
                <a:latin typeface="Times New Roman" panose="02020603050405020304" pitchFamily="18" charset="0"/>
                <a:cs typeface="Times New Roman" panose="02020603050405020304" pitchFamily="18" charset="0"/>
              </a:rPr>
              <a:t>.</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b="1" dirty="0" err="1" smtClean="0">
                <a:solidFill>
                  <a:schemeClr val="tx1"/>
                </a:solidFill>
                <a:latin typeface="Times New Roman" panose="02020603050405020304" pitchFamily="18" charset="0"/>
                <a:cs typeface="Times New Roman" panose="02020603050405020304" pitchFamily="18" charset="0"/>
              </a:rPr>
              <a:t>Chetty</a:t>
            </a:r>
            <a:r>
              <a:rPr lang="en-US" sz="2800" b="1" dirty="0" smtClean="0">
                <a:solidFill>
                  <a:schemeClr val="tx1"/>
                </a:solidFill>
                <a:latin typeface="Times New Roman" panose="02020603050405020304" pitchFamily="18" charset="0"/>
                <a:cs typeface="Times New Roman" panose="02020603050405020304" pitchFamily="18" charset="0"/>
              </a:rPr>
              <a:t> (</a:t>
            </a:r>
            <a:r>
              <a:rPr lang="en-US" sz="2800" b="1" dirty="0" err="1" smtClean="0">
                <a:solidFill>
                  <a:schemeClr val="tx1"/>
                </a:solidFill>
                <a:latin typeface="Times New Roman" panose="02020603050405020304" pitchFamily="18" charset="0"/>
                <a:cs typeface="Times New Roman" panose="02020603050405020304" pitchFamily="18" charset="0"/>
              </a:rPr>
              <a:t>Hetti</a:t>
            </a:r>
            <a:r>
              <a:rPr lang="en-US" sz="2800" b="1" dirty="0" smtClean="0">
                <a:solidFill>
                  <a:schemeClr val="tx1"/>
                </a:solidFill>
                <a:latin typeface="Times New Roman" panose="02020603050405020304" pitchFamily="18" charset="0"/>
                <a:cs typeface="Times New Roman" panose="02020603050405020304" pitchFamily="18" charset="0"/>
              </a:rPr>
              <a:t>)</a:t>
            </a:r>
            <a:r>
              <a:rPr lang="en-US" sz="2800" dirty="0" smtClean="0">
                <a:solidFill>
                  <a:schemeClr val="tx1"/>
                </a:solidFill>
                <a:latin typeface="Times New Roman" panose="02020603050405020304" pitchFamily="18" charset="0"/>
                <a:cs typeface="Times New Roman" panose="02020603050405020304" pitchFamily="18" charset="0"/>
              </a:rPr>
              <a:t>, merchants who arrived from India and settled down mainly in Colombo.</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b="1" dirty="0" err="1" smtClean="0">
                <a:solidFill>
                  <a:schemeClr val="tx1"/>
                </a:solidFill>
                <a:latin typeface="Times New Roman" panose="02020603050405020304" pitchFamily="18" charset="0"/>
                <a:cs typeface="Times New Roman" panose="02020603050405020304" pitchFamily="18" charset="0"/>
              </a:rPr>
              <a:t>Persee</a:t>
            </a:r>
            <a:r>
              <a:rPr lang="en-US" sz="2800" dirty="0" smtClean="0">
                <a:solidFill>
                  <a:schemeClr val="tx1"/>
                </a:solidFill>
                <a:latin typeface="Times New Roman" panose="02020603050405020304" pitchFamily="18" charset="0"/>
                <a:cs typeface="Times New Roman" panose="02020603050405020304" pitchFamily="18" charset="0"/>
              </a:rPr>
              <a:t> merchants also migrated from India to Sri Lanka and settled down mainly in Colombo.</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r>
              <a:rPr lang="en-US" sz="2800" b="1" dirty="0" smtClean="0">
                <a:solidFill>
                  <a:schemeClr val="tx1"/>
                </a:solidFill>
                <a:latin typeface="Times New Roman" panose="02020603050405020304" pitchFamily="18" charset="0"/>
                <a:cs typeface="Times New Roman" panose="02020603050405020304" pitchFamily="18" charset="0"/>
              </a:rPr>
              <a:t>The </a:t>
            </a:r>
            <a:r>
              <a:rPr lang="en-US" sz="2800" b="1" dirty="0" err="1" smtClean="0">
                <a:solidFill>
                  <a:schemeClr val="tx1"/>
                </a:solidFill>
                <a:latin typeface="Times New Roman" panose="02020603050405020304" pitchFamily="18" charset="0"/>
                <a:cs typeface="Times New Roman" panose="02020603050405020304" pitchFamily="18" charset="0"/>
              </a:rPr>
              <a:t>Paravars</a:t>
            </a:r>
            <a:r>
              <a:rPr lang="en-US" sz="2800" dirty="0" smtClean="0">
                <a:solidFill>
                  <a:schemeClr val="tx1"/>
                </a:solidFill>
                <a:latin typeface="Times New Roman" panose="02020603050405020304" pitchFamily="18" charset="0"/>
                <a:cs typeface="Times New Roman" panose="02020603050405020304" pitchFamily="18" charset="0"/>
              </a:rPr>
              <a:t>, lived around the pearl fisheries of Sri Lanka and they arrived from South India.</a:t>
            </a: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54655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838200" y="1159651"/>
            <a:ext cx="4246418" cy="461665"/>
          </a:xfrm>
          <a:prstGeom prst="rect">
            <a:avLst/>
          </a:prstGeom>
        </p:spPr>
        <p:txBody>
          <a:bodyPr wrap="square">
            <a:spAutoFit/>
          </a:bodyPr>
          <a:lstStyle/>
          <a:p>
            <a:pPr algn="just"/>
            <a:r>
              <a:rPr lang="en-US" sz="2400" b="1" u="sng" dirty="0" smtClean="0">
                <a:solidFill>
                  <a:schemeClr val="tx1"/>
                </a:solidFill>
                <a:latin typeface="Times New Roman" panose="02020603050405020304" pitchFamily="18" charset="0"/>
                <a:cs typeface="Times New Roman" panose="02020603050405020304" pitchFamily="18" charset="0"/>
              </a:rPr>
              <a:t>The Multiple System of Law</a:t>
            </a:r>
          </a:p>
        </p:txBody>
      </p:sp>
      <p:pic>
        <p:nvPicPr>
          <p:cNvPr id="4" name="Picture 3"/>
          <p:cNvPicPr>
            <a:picLocks noChangeAspect="1"/>
          </p:cNvPicPr>
          <p:nvPr/>
        </p:nvPicPr>
        <p:blipFill rotWithShape="1">
          <a:blip r:embed="rId2"/>
          <a:srcRect b="7538"/>
          <a:stretch/>
        </p:blipFill>
        <p:spPr>
          <a:xfrm>
            <a:off x="7371160" y="789708"/>
            <a:ext cx="4802159" cy="6082145"/>
          </a:xfrm>
          <a:prstGeom prst="rect">
            <a:avLst/>
          </a:prstGeom>
        </p:spPr>
      </p:pic>
    </p:spTree>
    <p:extLst>
      <p:ext uri="{BB962C8B-B14F-4D97-AF65-F5344CB8AC3E}">
        <p14:creationId xmlns:p14="http://schemas.microsoft.com/office/powerpoint/2010/main" val="41706505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273866" y="1302327"/>
            <a:ext cx="11724170" cy="5347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b="1" u="sng" dirty="0" smtClean="0">
                <a:solidFill>
                  <a:schemeClr val="tx1"/>
                </a:solidFill>
                <a:latin typeface="Times New Roman" panose="02020603050405020304" pitchFamily="18" charset="0"/>
                <a:cs typeface="Times New Roman" panose="02020603050405020304" pitchFamily="18" charset="0"/>
              </a:rPr>
              <a:t>Personnel Laws and Territorial Laws</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err="1" smtClean="0">
                <a:solidFill>
                  <a:schemeClr val="tx1"/>
                </a:solidFill>
                <a:latin typeface="Times New Roman" panose="02020603050405020304" pitchFamily="18" charset="0"/>
                <a:cs typeface="Times New Roman" panose="02020603050405020304" pitchFamily="18" charset="0"/>
              </a:rPr>
              <a:t>Kandyan</a:t>
            </a:r>
            <a:r>
              <a:rPr lang="en-US" sz="2800" dirty="0" smtClean="0">
                <a:solidFill>
                  <a:schemeClr val="tx1"/>
                </a:solidFill>
                <a:latin typeface="Times New Roman" panose="02020603050405020304" pitchFamily="18" charset="0"/>
                <a:cs typeface="Times New Roman" panose="02020603050405020304" pitchFamily="18" charset="0"/>
              </a:rPr>
              <a:t> Law</a:t>
            </a:r>
          </a:p>
          <a:p>
            <a:pPr marL="457200" indent="-457200" algn="just">
              <a:buFont typeface="Arial" panose="020B0604020202020204" pitchFamily="34" charset="0"/>
              <a:buChar char="•"/>
            </a:pPr>
            <a:r>
              <a:rPr lang="en-US" sz="2800" dirty="0" err="1" smtClean="0">
                <a:solidFill>
                  <a:schemeClr val="tx1"/>
                </a:solidFill>
                <a:latin typeface="Times New Roman" panose="02020603050405020304" pitchFamily="18" charset="0"/>
                <a:cs typeface="Times New Roman" panose="02020603050405020304" pitchFamily="18" charset="0"/>
              </a:rPr>
              <a:t>Thesawalamai</a:t>
            </a:r>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smtClean="0">
                <a:solidFill>
                  <a:schemeClr val="tx1"/>
                </a:solidFill>
                <a:latin typeface="Times New Roman" panose="02020603050405020304" pitchFamily="18" charset="0"/>
                <a:cs typeface="Times New Roman" panose="02020603050405020304" pitchFamily="18" charset="0"/>
              </a:rPr>
              <a:t>Muslim Law</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These are the three systems of law found in Sri Lanka, which are not in general application but apply to sections of the community.</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19838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273866" y="1302327"/>
            <a:ext cx="11724170" cy="5347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r>
              <a:rPr lang="en-US" sz="2800" b="1" u="sng" dirty="0" smtClean="0">
                <a:solidFill>
                  <a:schemeClr val="tx1"/>
                </a:solidFill>
                <a:latin typeface="Times New Roman" panose="02020603050405020304" pitchFamily="18" charset="0"/>
                <a:cs typeface="Times New Roman" panose="02020603050405020304" pitchFamily="18" charset="0"/>
              </a:rPr>
              <a:t>Personnel Laws and Territorial Laws</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err="1" smtClean="0">
                <a:solidFill>
                  <a:schemeClr val="tx1"/>
                </a:solidFill>
                <a:latin typeface="Times New Roman" panose="02020603050405020304" pitchFamily="18" charset="0"/>
                <a:cs typeface="Times New Roman" panose="02020603050405020304" pitchFamily="18" charset="0"/>
              </a:rPr>
              <a:t>Kandyan</a:t>
            </a:r>
            <a:r>
              <a:rPr lang="en-US" sz="2800" dirty="0" smtClean="0">
                <a:solidFill>
                  <a:schemeClr val="tx1"/>
                </a:solidFill>
                <a:latin typeface="Times New Roman" panose="02020603050405020304" pitchFamily="18" charset="0"/>
                <a:cs typeface="Times New Roman" panose="02020603050405020304" pitchFamily="18" charset="0"/>
              </a:rPr>
              <a:t> Law</a:t>
            </a:r>
          </a:p>
          <a:p>
            <a:pPr marL="457200" indent="-457200" algn="just">
              <a:buFont typeface="Arial" panose="020B0604020202020204" pitchFamily="34" charset="0"/>
              <a:buChar char="•"/>
            </a:pPr>
            <a:r>
              <a:rPr lang="en-US" sz="2800" dirty="0" err="1" smtClean="0">
                <a:solidFill>
                  <a:schemeClr val="tx1"/>
                </a:solidFill>
                <a:latin typeface="Times New Roman" panose="02020603050405020304" pitchFamily="18" charset="0"/>
                <a:cs typeface="Times New Roman" panose="02020603050405020304" pitchFamily="18" charset="0"/>
              </a:rPr>
              <a:t>Thesawalamai</a:t>
            </a:r>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smtClean="0">
                <a:solidFill>
                  <a:schemeClr val="tx1"/>
                </a:solidFill>
                <a:latin typeface="Times New Roman" panose="02020603050405020304" pitchFamily="18" charset="0"/>
                <a:cs typeface="Times New Roman" panose="02020603050405020304" pitchFamily="18" charset="0"/>
              </a:rPr>
              <a:t>Muslim Law</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A territorial law is one which applies to all persons resident in a particular territory. </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The application of a personal law does not depend upon where a person resides but applies instead to a section of the population in a given territory on account of certain common factors which they all possess. </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95129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838200" y="1159651"/>
            <a:ext cx="4246418" cy="461665"/>
          </a:xfrm>
          <a:prstGeom prst="rect">
            <a:avLst/>
          </a:prstGeom>
        </p:spPr>
        <p:txBody>
          <a:bodyPr wrap="square">
            <a:spAutoFit/>
          </a:bodyPr>
          <a:lstStyle/>
          <a:p>
            <a:pPr algn="just"/>
            <a:r>
              <a:rPr lang="en-US" sz="2400" b="1" u="sng" dirty="0" smtClean="0">
                <a:solidFill>
                  <a:schemeClr val="tx1"/>
                </a:solidFill>
                <a:latin typeface="Times New Roman" panose="02020603050405020304" pitchFamily="18" charset="0"/>
                <a:cs typeface="Times New Roman" panose="02020603050405020304" pitchFamily="18" charset="0"/>
              </a:rPr>
              <a:t>The Multiple System of Law</a:t>
            </a:r>
          </a:p>
        </p:txBody>
      </p:sp>
      <p:pic>
        <p:nvPicPr>
          <p:cNvPr id="5" name="Picture 4"/>
          <p:cNvPicPr>
            <a:picLocks noChangeAspect="1"/>
          </p:cNvPicPr>
          <p:nvPr/>
        </p:nvPicPr>
        <p:blipFill>
          <a:blip r:embed="rId2"/>
          <a:stretch>
            <a:fillRect/>
          </a:stretch>
        </p:blipFill>
        <p:spPr>
          <a:xfrm>
            <a:off x="1475076" y="1856588"/>
            <a:ext cx="2972666" cy="4631235"/>
          </a:xfrm>
          <a:prstGeom prst="rect">
            <a:avLst/>
          </a:prstGeom>
        </p:spPr>
      </p:pic>
      <p:pic>
        <p:nvPicPr>
          <p:cNvPr id="6" name="Picture 5"/>
          <p:cNvPicPr>
            <a:picLocks noChangeAspect="1"/>
          </p:cNvPicPr>
          <p:nvPr/>
        </p:nvPicPr>
        <p:blipFill>
          <a:blip r:embed="rId3"/>
          <a:stretch>
            <a:fillRect/>
          </a:stretch>
        </p:blipFill>
        <p:spPr>
          <a:xfrm>
            <a:off x="7412182" y="740085"/>
            <a:ext cx="4391890" cy="5844720"/>
          </a:xfrm>
          <a:prstGeom prst="rect">
            <a:avLst/>
          </a:prstGeom>
        </p:spPr>
      </p:pic>
      <p:sp>
        <p:nvSpPr>
          <p:cNvPr id="7" name="Rectangle 6"/>
          <p:cNvSpPr/>
          <p:nvPr/>
        </p:nvSpPr>
        <p:spPr>
          <a:xfrm>
            <a:off x="10557164" y="2563091"/>
            <a:ext cx="796636" cy="11914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73577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273866" y="1302327"/>
            <a:ext cx="11724170" cy="5347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r>
              <a:rPr lang="en-US" sz="2800" b="1" u="sng" dirty="0" smtClean="0">
                <a:solidFill>
                  <a:schemeClr val="tx1"/>
                </a:solidFill>
                <a:latin typeface="Times New Roman" panose="02020603050405020304" pitchFamily="18" charset="0"/>
                <a:cs typeface="Times New Roman" panose="02020603050405020304" pitchFamily="18" charset="0"/>
              </a:rPr>
              <a:t>Personnel Laws and Territorial Laws</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err="1" smtClean="0">
                <a:solidFill>
                  <a:schemeClr val="tx1"/>
                </a:solidFill>
                <a:latin typeface="Times New Roman" panose="02020603050405020304" pitchFamily="18" charset="0"/>
                <a:cs typeface="Times New Roman" panose="02020603050405020304" pitchFamily="18" charset="0"/>
              </a:rPr>
              <a:t>Kandyan</a:t>
            </a:r>
            <a:r>
              <a:rPr lang="en-US" sz="2800" dirty="0" smtClean="0">
                <a:solidFill>
                  <a:schemeClr val="tx1"/>
                </a:solidFill>
                <a:latin typeface="Times New Roman" panose="02020603050405020304" pitchFamily="18" charset="0"/>
                <a:cs typeface="Times New Roman" panose="02020603050405020304" pitchFamily="18" charset="0"/>
              </a:rPr>
              <a:t> Law</a:t>
            </a:r>
          </a:p>
          <a:p>
            <a:pPr algn="just"/>
            <a:r>
              <a:rPr lang="en-US" sz="2800" dirty="0" smtClean="0">
                <a:solidFill>
                  <a:schemeClr val="tx1"/>
                </a:solidFill>
                <a:latin typeface="Times New Roman" panose="02020603050405020304" pitchFamily="18" charset="0"/>
                <a:cs typeface="Times New Roman" panose="02020603050405020304" pitchFamily="18" charset="0"/>
              </a:rPr>
              <a:t>The distinction between the </a:t>
            </a:r>
            <a:r>
              <a:rPr lang="en-US" sz="2800" dirty="0" err="1" smtClean="0">
                <a:solidFill>
                  <a:schemeClr val="tx1"/>
                </a:solidFill>
                <a:latin typeface="Times New Roman" panose="02020603050405020304" pitchFamily="18" charset="0"/>
                <a:cs typeface="Times New Roman" panose="02020603050405020304" pitchFamily="18" charset="0"/>
              </a:rPr>
              <a:t>Kandyan</a:t>
            </a:r>
            <a:r>
              <a:rPr lang="en-US" sz="2800" dirty="0" smtClean="0">
                <a:solidFill>
                  <a:schemeClr val="tx1"/>
                </a:solidFill>
                <a:latin typeface="Times New Roman" panose="02020603050405020304" pitchFamily="18" charset="0"/>
                <a:cs typeface="Times New Roman" panose="02020603050405020304" pitchFamily="18" charset="0"/>
              </a:rPr>
              <a:t> and low-country Sinhalese is the result of historical developments.</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Sinhalese law as enforced in the </a:t>
            </a:r>
            <a:r>
              <a:rPr lang="en-US" sz="2800" dirty="0" err="1" smtClean="0">
                <a:solidFill>
                  <a:schemeClr val="tx1"/>
                </a:solidFill>
                <a:latin typeface="Times New Roman" panose="02020603050405020304" pitchFamily="18" charset="0"/>
                <a:cs typeface="Times New Roman" panose="02020603050405020304" pitchFamily="18" charset="0"/>
              </a:rPr>
              <a:t>Kandyan</a:t>
            </a:r>
            <a:r>
              <a:rPr lang="en-US" sz="2800" dirty="0" smtClean="0">
                <a:solidFill>
                  <a:schemeClr val="tx1"/>
                </a:solidFill>
                <a:latin typeface="Times New Roman" panose="02020603050405020304" pitchFamily="18" charset="0"/>
                <a:cs typeface="Times New Roman" panose="02020603050405020304" pitchFamily="18" charset="0"/>
              </a:rPr>
              <a:t> Kingdom was a territorial law. But today it is a personal law.</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According to K. </a:t>
            </a:r>
            <a:r>
              <a:rPr lang="en-US" sz="2800" dirty="0" err="1" smtClean="0">
                <a:solidFill>
                  <a:schemeClr val="tx1"/>
                </a:solidFill>
                <a:latin typeface="Times New Roman" panose="02020603050405020304" pitchFamily="18" charset="0"/>
                <a:cs typeface="Times New Roman" panose="02020603050405020304" pitchFamily="18" charset="0"/>
              </a:rPr>
              <a:t>Balasingham</a:t>
            </a:r>
            <a:r>
              <a:rPr lang="en-US" sz="2800" dirty="0" smtClean="0">
                <a:solidFill>
                  <a:schemeClr val="tx1"/>
                </a:solidFill>
                <a:latin typeface="Times New Roman" panose="02020603050405020304" pitchFamily="18" charset="0"/>
                <a:cs typeface="Times New Roman" panose="02020603050405020304" pitchFamily="18" charset="0"/>
              </a:rPr>
              <a:t> (Laws of Ceylon-1929), families who have long lived rooted to the soil of any provinces of </a:t>
            </a:r>
            <a:r>
              <a:rPr lang="en-US" sz="2800" dirty="0" err="1" smtClean="0">
                <a:solidFill>
                  <a:schemeClr val="tx1"/>
                </a:solidFill>
                <a:latin typeface="Times New Roman" panose="02020603050405020304" pitchFamily="18" charset="0"/>
                <a:cs typeface="Times New Roman" panose="02020603050405020304" pitchFamily="18" charset="0"/>
              </a:rPr>
              <a:t>Kandyan</a:t>
            </a:r>
            <a:r>
              <a:rPr lang="en-US" sz="2800" dirty="0" smtClean="0">
                <a:solidFill>
                  <a:schemeClr val="tx1"/>
                </a:solidFill>
                <a:latin typeface="Times New Roman" panose="02020603050405020304" pitchFamily="18" charset="0"/>
                <a:cs typeface="Times New Roman" panose="02020603050405020304" pitchFamily="18" charset="0"/>
              </a:rPr>
              <a:t> Kingdom where prevails </a:t>
            </a:r>
            <a:r>
              <a:rPr lang="en-US" sz="2800" dirty="0" err="1" smtClean="0">
                <a:solidFill>
                  <a:schemeClr val="tx1"/>
                </a:solidFill>
                <a:latin typeface="Times New Roman" panose="02020603050405020304" pitchFamily="18" charset="0"/>
                <a:cs typeface="Times New Roman" panose="02020603050405020304" pitchFamily="18" charset="0"/>
              </a:rPr>
              <a:t>Kandyan</a:t>
            </a:r>
            <a:r>
              <a:rPr lang="en-US" sz="2800" dirty="0" smtClean="0">
                <a:solidFill>
                  <a:schemeClr val="tx1"/>
                </a:solidFill>
                <a:latin typeface="Times New Roman" panose="02020603050405020304" pitchFamily="18" charset="0"/>
                <a:cs typeface="Times New Roman" panose="02020603050405020304" pitchFamily="18" charset="0"/>
              </a:rPr>
              <a:t> Law, speak the language, and follow the customs may be regarded as </a:t>
            </a:r>
            <a:r>
              <a:rPr lang="en-US" sz="2800" dirty="0" err="1" smtClean="0">
                <a:solidFill>
                  <a:schemeClr val="tx1"/>
                </a:solidFill>
                <a:latin typeface="Times New Roman" panose="02020603050405020304" pitchFamily="18" charset="0"/>
                <a:cs typeface="Times New Roman" panose="02020603050405020304" pitchFamily="18" charset="0"/>
              </a:rPr>
              <a:t>Kandyans</a:t>
            </a:r>
            <a:r>
              <a:rPr lang="en-US" sz="2800" dirty="0" smtClean="0">
                <a:solidFill>
                  <a:schemeClr val="tx1"/>
                </a:solidFill>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3791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273866" y="1302327"/>
            <a:ext cx="11724170" cy="5347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b="1" u="sng" dirty="0" smtClean="0">
                <a:solidFill>
                  <a:schemeClr val="tx1"/>
                </a:solidFill>
                <a:latin typeface="Times New Roman" panose="02020603050405020304" pitchFamily="18" charset="0"/>
                <a:cs typeface="Times New Roman" panose="02020603050405020304" pitchFamily="18" charset="0"/>
              </a:rPr>
              <a:t>Personnel Laws and Territorial Laws</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err="1" smtClean="0">
                <a:solidFill>
                  <a:schemeClr val="tx1"/>
                </a:solidFill>
                <a:latin typeface="Times New Roman" panose="02020603050405020304" pitchFamily="18" charset="0"/>
                <a:cs typeface="Times New Roman" panose="02020603050405020304" pitchFamily="18" charset="0"/>
              </a:rPr>
              <a:t>Kandyan</a:t>
            </a:r>
            <a:r>
              <a:rPr lang="en-US" sz="2800" dirty="0" smtClean="0">
                <a:solidFill>
                  <a:schemeClr val="tx1"/>
                </a:solidFill>
                <a:latin typeface="Times New Roman" panose="02020603050405020304" pitchFamily="18" charset="0"/>
                <a:cs typeface="Times New Roman" panose="02020603050405020304" pitchFamily="18" charset="0"/>
              </a:rPr>
              <a:t> Law</a:t>
            </a:r>
          </a:p>
          <a:p>
            <a:pPr algn="just"/>
            <a:r>
              <a:rPr lang="en-US" sz="2800" dirty="0" smtClean="0">
                <a:solidFill>
                  <a:schemeClr val="tx1"/>
                </a:solidFill>
                <a:latin typeface="Times New Roman" panose="02020603050405020304" pitchFamily="18" charset="0"/>
                <a:cs typeface="Times New Roman" panose="02020603050405020304" pitchFamily="18" charset="0"/>
              </a:rPr>
              <a:t>According to F. A. Hayley (Laws of the Customs of the Sinhalese-1923), the </a:t>
            </a:r>
            <a:r>
              <a:rPr lang="en-US" sz="2800" dirty="0" err="1" smtClean="0">
                <a:solidFill>
                  <a:schemeClr val="tx1"/>
                </a:solidFill>
                <a:latin typeface="Times New Roman" panose="02020603050405020304" pitchFamily="18" charset="0"/>
                <a:cs typeface="Times New Roman" panose="02020603050405020304" pitchFamily="18" charset="0"/>
              </a:rPr>
              <a:t>Kandyan</a:t>
            </a:r>
            <a:r>
              <a:rPr lang="en-US" sz="2800" dirty="0" smtClean="0">
                <a:solidFill>
                  <a:schemeClr val="tx1"/>
                </a:solidFill>
                <a:latin typeface="Times New Roman" panose="02020603050405020304" pitchFamily="18" charset="0"/>
                <a:cs typeface="Times New Roman" panose="02020603050405020304" pitchFamily="18" charset="0"/>
              </a:rPr>
              <a:t> Kingdom is contained in the Central, North-Central, North-Western, </a:t>
            </a:r>
            <a:r>
              <a:rPr lang="en-US" sz="2800" dirty="0" err="1" smtClean="0">
                <a:solidFill>
                  <a:schemeClr val="tx1"/>
                </a:solidFill>
                <a:latin typeface="Times New Roman" panose="02020603050405020304" pitchFamily="18" charset="0"/>
                <a:cs typeface="Times New Roman" panose="02020603050405020304" pitchFamily="18" charset="0"/>
              </a:rPr>
              <a:t>Uva</a:t>
            </a:r>
            <a:r>
              <a:rPr lang="en-US" sz="2800" dirty="0" smtClean="0">
                <a:solidFill>
                  <a:schemeClr val="tx1"/>
                </a:solidFill>
                <a:latin typeface="Times New Roman" panose="02020603050405020304" pitchFamily="18" charset="0"/>
                <a:cs typeface="Times New Roman" panose="02020603050405020304" pitchFamily="18" charset="0"/>
              </a:rPr>
              <a:t> and </a:t>
            </a:r>
            <a:r>
              <a:rPr lang="en-US" sz="2800" dirty="0" err="1" smtClean="0">
                <a:solidFill>
                  <a:schemeClr val="tx1"/>
                </a:solidFill>
                <a:latin typeface="Times New Roman" panose="02020603050405020304" pitchFamily="18" charset="0"/>
                <a:cs typeface="Times New Roman" panose="02020603050405020304" pitchFamily="18" charset="0"/>
              </a:rPr>
              <a:t>Sabaragamuwa</a:t>
            </a:r>
            <a:r>
              <a:rPr lang="en-US" sz="2800" dirty="0" smtClean="0">
                <a:solidFill>
                  <a:schemeClr val="tx1"/>
                </a:solidFill>
                <a:latin typeface="Times New Roman" panose="02020603050405020304" pitchFamily="18" charset="0"/>
                <a:cs typeface="Times New Roman" panose="02020603050405020304" pitchFamily="18" charset="0"/>
              </a:rPr>
              <a:t> Provinces. </a:t>
            </a:r>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84267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273866" y="1302327"/>
            <a:ext cx="11724170" cy="5347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endParaRPr lang="en-US" sz="2800" b="1" u="sng" dirty="0">
              <a:solidFill>
                <a:schemeClr val="tx1"/>
              </a:solidFill>
              <a:latin typeface="Times New Roman" panose="02020603050405020304" pitchFamily="18" charset="0"/>
              <a:cs typeface="Times New Roman" panose="02020603050405020304" pitchFamily="18" charset="0"/>
            </a:endParaRPr>
          </a:p>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endParaRPr lang="en-US" sz="2800" b="1" u="sng" dirty="0">
              <a:solidFill>
                <a:schemeClr val="tx1"/>
              </a:solidFill>
              <a:latin typeface="Times New Roman" panose="02020603050405020304" pitchFamily="18" charset="0"/>
              <a:cs typeface="Times New Roman" panose="02020603050405020304" pitchFamily="18" charset="0"/>
            </a:endParaRPr>
          </a:p>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endParaRPr lang="en-US" sz="2800" b="1" u="sng" dirty="0">
              <a:solidFill>
                <a:schemeClr val="tx1"/>
              </a:solidFill>
              <a:latin typeface="Times New Roman" panose="02020603050405020304" pitchFamily="18" charset="0"/>
              <a:cs typeface="Times New Roman" panose="02020603050405020304" pitchFamily="18" charset="0"/>
            </a:endParaRPr>
          </a:p>
          <a:p>
            <a:pPr algn="just"/>
            <a:r>
              <a:rPr lang="en-US" sz="2800" b="1" u="sng" dirty="0" smtClean="0">
                <a:solidFill>
                  <a:schemeClr val="tx1"/>
                </a:solidFill>
                <a:latin typeface="Times New Roman" panose="02020603050405020304" pitchFamily="18" charset="0"/>
                <a:cs typeface="Times New Roman" panose="02020603050405020304" pitchFamily="18" charset="0"/>
              </a:rPr>
              <a:t>Personnel Laws and Territorial Laws</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err="1" smtClean="0">
                <a:solidFill>
                  <a:schemeClr val="tx1"/>
                </a:solidFill>
                <a:latin typeface="Times New Roman" panose="02020603050405020304" pitchFamily="18" charset="0"/>
                <a:cs typeface="Times New Roman" panose="02020603050405020304" pitchFamily="18" charset="0"/>
              </a:rPr>
              <a:t>Thesawalamai</a:t>
            </a:r>
            <a:endParaRPr lang="en-US" sz="2800" dirty="0" smtClean="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Malabar inhabitants (Dravidians) who arrived to the southern coastal areas of India, brought </a:t>
            </a:r>
            <a:r>
              <a:rPr lang="en-US" sz="2800" dirty="0" err="1" smtClean="0">
                <a:solidFill>
                  <a:schemeClr val="tx1"/>
                </a:solidFill>
                <a:latin typeface="Times New Roman" panose="02020603050405020304" pitchFamily="18" charset="0"/>
                <a:cs typeface="Times New Roman" panose="02020603050405020304" pitchFamily="18" charset="0"/>
              </a:rPr>
              <a:t>Thesawalamai</a:t>
            </a:r>
            <a:r>
              <a:rPr lang="en-US" sz="2800" dirty="0" smtClean="0">
                <a:solidFill>
                  <a:schemeClr val="tx1"/>
                </a:solidFill>
                <a:latin typeface="Times New Roman" panose="02020603050405020304" pitchFamily="18" charset="0"/>
                <a:cs typeface="Times New Roman" panose="02020603050405020304" pitchFamily="18" charset="0"/>
              </a:rPr>
              <a:t> to Sri Lanka. </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Later, it was modified by another immigrants who came from India, </a:t>
            </a:r>
            <a:r>
              <a:rPr lang="en-US" sz="2800" dirty="0" err="1" smtClean="0">
                <a:solidFill>
                  <a:schemeClr val="tx1"/>
                </a:solidFill>
                <a:latin typeface="Times New Roman" panose="02020603050405020304" pitchFamily="18" charset="0"/>
                <a:cs typeface="Times New Roman" panose="02020603050405020304" pitchFamily="18" charset="0"/>
              </a:rPr>
              <a:t>Coromandal</a:t>
            </a:r>
            <a:r>
              <a:rPr lang="en-US" sz="2800" dirty="0" smtClean="0">
                <a:solidFill>
                  <a:schemeClr val="tx1"/>
                </a:solidFill>
                <a:latin typeface="Times New Roman" panose="02020603050405020304" pitchFamily="18" charset="0"/>
                <a:cs typeface="Times New Roman" panose="02020603050405020304" pitchFamily="18" charset="0"/>
              </a:rPr>
              <a:t> coast and further </a:t>
            </a:r>
            <a:r>
              <a:rPr lang="en-US" sz="2800" dirty="0" err="1" smtClean="0">
                <a:solidFill>
                  <a:schemeClr val="tx1"/>
                </a:solidFill>
                <a:latin typeface="Times New Roman" panose="02020603050405020304" pitchFamily="18" charset="0"/>
                <a:cs typeface="Times New Roman" panose="02020603050405020304" pitchFamily="18" charset="0"/>
              </a:rPr>
              <a:t>Thesawalamai</a:t>
            </a:r>
            <a:r>
              <a:rPr lang="en-US" sz="2800" dirty="0" smtClean="0">
                <a:solidFill>
                  <a:schemeClr val="tx1"/>
                </a:solidFill>
                <a:latin typeface="Times New Roman" panose="02020603050405020304" pitchFamily="18" charset="0"/>
                <a:cs typeface="Times New Roman" panose="02020603050405020304" pitchFamily="18" charset="0"/>
              </a:rPr>
              <a:t> was influenced by Hindu law.</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err="1" smtClean="0">
                <a:solidFill>
                  <a:schemeClr val="tx1"/>
                </a:solidFill>
                <a:latin typeface="Times New Roman" panose="02020603050405020304" pitchFamily="18" charset="0"/>
                <a:cs typeface="Times New Roman" panose="02020603050405020304" pitchFamily="18" charset="0"/>
              </a:rPr>
              <a:t>Thesawalamai</a:t>
            </a:r>
            <a:r>
              <a:rPr lang="en-US" sz="2800" dirty="0" smtClean="0">
                <a:solidFill>
                  <a:schemeClr val="tx1"/>
                </a:solidFill>
                <a:latin typeface="Times New Roman" panose="02020603050405020304" pitchFamily="18" charset="0"/>
                <a:cs typeface="Times New Roman" panose="02020603050405020304" pitchFamily="18" charset="0"/>
              </a:rPr>
              <a:t> was developed by the administrative system of </a:t>
            </a:r>
            <a:r>
              <a:rPr lang="en-US" sz="2800" dirty="0" err="1" smtClean="0">
                <a:solidFill>
                  <a:schemeClr val="tx1"/>
                </a:solidFill>
                <a:latin typeface="Times New Roman" panose="02020603050405020304" pitchFamily="18" charset="0"/>
                <a:cs typeface="Times New Roman" panose="02020603050405020304" pitchFamily="18" charset="0"/>
              </a:rPr>
              <a:t>Nothern</a:t>
            </a:r>
            <a:r>
              <a:rPr lang="en-US" sz="2800" dirty="0" smtClean="0">
                <a:solidFill>
                  <a:schemeClr val="tx1"/>
                </a:solidFill>
                <a:latin typeface="Times New Roman" panose="02020603050405020304" pitchFamily="18" charset="0"/>
                <a:cs typeface="Times New Roman" panose="02020603050405020304" pitchFamily="18" charset="0"/>
              </a:rPr>
              <a:t> Kingdom of Sri Lanka at the time of the arrival of Portuguese. </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err="1" smtClean="0">
                <a:solidFill>
                  <a:schemeClr val="tx1"/>
                </a:solidFill>
                <a:latin typeface="Times New Roman" panose="02020603050405020304" pitchFamily="18" charset="0"/>
                <a:cs typeface="Times New Roman" panose="02020603050405020304" pitchFamily="18" charset="0"/>
              </a:rPr>
              <a:t>Thesawalamai</a:t>
            </a:r>
            <a:r>
              <a:rPr lang="en-US" sz="2800" dirty="0" smtClean="0">
                <a:solidFill>
                  <a:schemeClr val="tx1"/>
                </a:solidFill>
                <a:latin typeface="Times New Roman" panose="02020603050405020304" pitchFamily="18" charset="0"/>
                <a:cs typeface="Times New Roman" panose="02020603050405020304" pitchFamily="18" charset="0"/>
              </a:rPr>
              <a:t> means, customs of the land.</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01549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273866" y="1302327"/>
            <a:ext cx="11724170" cy="5347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endParaRPr lang="en-US" sz="2800" b="1" u="sng" dirty="0">
              <a:solidFill>
                <a:schemeClr val="tx1"/>
              </a:solidFill>
              <a:latin typeface="Times New Roman" panose="02020603050405020304" pitchFamily="18" charset="0"/>
              <a:cs typeface="Times New Roman" panose="02020603050405020304" pitchFamily="18" charset="0"/>
            </a:endParaRPr>
          </a:p>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endParaRPr lang="en-US" sz="2800" b="1" u="sng" dirty="0">
              <a:solidFill>
                <a:schemeClr val="tx1"/>
              </a:solidFill>
              <a:latin typeface="Times New Roman" panose="02020603050405020304" pitchFamily="18" charset="0"/>
              <a:cs typeface="Times New Roman" panose="02020603050405020304" pitchFamily="18" charset="0"/>
            </a:endParaRPr>
          </a:p>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endParaRPr lang="en-US" sz="2800" b="1" u="sng" dirty="0">
              <a:solidFill>
                <a:schemeClr val="tx1"/>
              </a:solidFill>
              <a:latin typeface="Times New Roman" panose="02020603050405020304" pitchFamily="18" charset="0"/>
              <a:cs typeface="Times New Roman" panose="02020603050405020304" pitchFamily="18" charset="0"/>
            </a:endParaRPr>
          </a:p>
          <a:p>
            <a:pPr algn="just"/>
            <a:r>
              <a:rPr lang="en-US" sz="2800" b="1" u="sng" dirty="0" smtClean="0">
                <a:solidFill>
                  <a:schemeClr val="tx1"/>
                </a:solidFill>
                <a:latin typeface="Times New Roman" panose="02020603050405020304" pitchFamily="18" charset="0"/>
                <a:cs typeface="Times New Roman" panose="02020603050405020304" pitchFamily="18" charset="0"/>
              </a:rPr>
              <a:t>Personnel Laws and Territorial Laws</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smtClean="0">
                <a:solidFill>
                  <a:schemeClr val="tx1"/>
                </a:solidFill>
                <a:latin typeface="Times New Roman" panose="02020603050405020304" pitchFamily="18" charset="0"/>
                <a:cs typeface="Times New Roman" panose="02020603050405020304" pitchFamily="18" charset="0"/>
              </a:rPr>
              <a:t>Muslim Law</a:t>
            </a:r>
          </a:p>
          <a:p>
            <a:pPr algn="just"/>
            <a:r>
              <a:rPr lang="en-US" sz="2800" dirty="0" smtClean="0">
                <a:solidFill>
                  <a:schemeClr val="tx1"/>
                </a:solidFill>
                <a:latin typeface="Times New Roman" panose="02020603050405020304" pitchFamily="18" charset="0"/>
                <a:cs typeface="Times New Roman" panose="02020603050405020304" pitchFamily="18" charset="0"/>
              </a:rPr>
              <a:t>The Muslims who came to Sri Lanka brought with them a Jurisprudence known to Muslims the world over.</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Initially they were settled down mainly in Colombo and other coastal areas but later overspread to the other areas of the country.</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They had their own laws and customs which were later recognized by the Portuguese and Dutch administration.</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69695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273866" y="1302327"/>
            <a:ext cx="11724170" cy="5347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endParaRPr lang="en-US" sz="2800" b="1" u="sng" dirty="0">
              <a:solidFill>
                <a:schemeClr val="tx1"/>
              </a:solidFill>
              <a:latin typeface="Times New Roman" panose="02020603050405020304" pitchFamily="18" charset="0"/>
              <a:cs typeface="Times New Roman" panose="02020603050405020304" pitchFamily="18" charset="0"/>
            </a:endParaRPr>
          </a:p>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endParaRPr lang="en-US" sz="2800" b="1" u="sng" dirty="0">
              <a:solidFill>
                <a:schemeClr val="tx1"/>
              </a:solidFill>
              <a:latin typeface="Times New Roman" panose="02020603050405020304" pitchFamily="18" charset="0"/>
              <a:cs typeface="Times New Roman" panose="02020603050405020304" pitchFamily="18" charset="0"/>
            </a:endParaRPr>
          </a:p>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endParaRPr lang="en-US" sz="2800" b="1" u="sng" dirty="0">
              <a:solidFill>
                <a:schemeClr val="tx1"/>
              </a:solidFill>
              <a:latin typeface="Times New Roman" panose="02020603050405020304" pitchFamily="18" charset="0"/>
              <a:cs typeface="Times New Roman" panose="02020603050405020304" pitchFamily="18" charset="0"/>
            </a:endParaRPr>
          </a:p>
          <a:p>
            <a:pPr algn="just"/>
            <a:r>
              <a:rPr lang="en-US" sz="2800" b="1" u="sng" dirty="0" smtClean="0">
                <a:solidFill>
                  <a:schemeClr val="tx1"/>
                </a:solidFill>
                <a:latin typeface="Times New Roman" panose="02020603050405020304" pitchFamily="18" charset="0"/>
                <a:cs typeface="Times New Roman" panose="02020603050405020304" pitchFamily="18" charset="0"/>
              </a:rPr>
              <a:t>Personnel Laws and Territorial Laws</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smtClean="0">
                <a:solidFill>
                  <a:schemeClr val="tx1"/>
                </a:solidFill>
                <a:latin typeface="Times New Roman" panose="02020603050405020304" pitchFamily="18" charset="0"/>
                <a:cs typeface="Times New Roman" panose="02020603050405020304" pitchFamily="18" charset="0"/>
              </a:rPr>
              <a:t>Muslim Law</a:t>
            </a:r>
          </a:p>
          <a:p>
            <a:pPr algn="just"/>
            <a:r>
              <a:rPr lang="en-US" sz="2800" dirty="0" smtClean="0">
                <a:solidFill>
                  <a:schemeClr val="tx1"/>
                </a:solidFill>
                <a:latin typeface="Times New Roman" panose="02020603050405020304" pitchFamily="18" charset="0"/>
                <a:cs typeface="Times New Roman" panose="02020603050405020304" pitchFamily="18" charset="0"/>
              </a:rPr>
              <a:t>The Muslims had no separate Kingdom and lived with Sinhalese and Tamil communities. </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Muslim law is applicable to all Muslims and immigrants from India known as Coast Moors and also to Afghans.</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smtClean="0">
                <a:solidFill>
                  <a:schemeClr val="tx1"/>
                </a:solidFill>
                <a:latin typeface="Times New Roman" panose="02020603050405020304" pitchFamily="18" charset="0"/>
                <a:cs typeface="Times New Roman" panose="02020603050405020304" pitchFamily="18" charset="0"/>
              </a:rPr>
              <a:t>Muslim law applies to a person who professes Islam in faith (By birth or by conversion).</a:t>
            </a: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3959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5"/>
            <a:ext cx="10515600" cy="1325563"/>
          </a:xfrm>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273866" y="1302327"/>
            <a:ext cx="11724170" cy="5347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b="1" u="sng" dirty="0" smtClean="0">
                <a:solidFill>
                  <a:schemeClr val="tx1"/>
                </a:solidFill>
                <a:latin typeface="Times New Roman" panose="02020603050405020304" pitchFamily="18" charset="0"/>
                <a:cs typeface="Times New Roman" panose="02020603050405020304" pitchFamily="18" charset="0"/>
              </a:rPr>
              <a:t>Personnel Laws and Territorial Laws</a:t>
            </a:r>
          </a:p>
          <a:p>
            <a:pPr algn="just"/>
            <a:endParaRPr lang="en-US" sz="2800" b="1" u="sng" dirty="0">
              <a:solidFill>
                <a:schemeClr val="tx1"/>
              </a:solidFill>
              <a:latin typeface="Times New Roman" panose="02020603050405020304" pitchFamily="18" charset="0"/>
              <a:cs typeface="Times New Roman" panose="02020603050405020304" pitchFamily="18" charset="0"/>
            </a:endParaRPr>
          </a:p>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endParaRPr lang="en-US" sz="2800" b="1" u="sng" dirty="0">
              <a:solidFill>
                <a:schemeClr val="tx1"/>
              </a:solidFill>
              <a:latin typeface="Times New Roman" panose="02020603050405020304" pitchFamily="18" charset="0"/>
              <a:cs typeface="Times New Roman" panose="02020603050405020304" pitchFamily="18" charset="0"/>
            </a:endParaRPr>
          </a:p>
          <a:p>
            <a:pPr algn="just"/>
            <a:endParaRPr lang="en-US" sz="2800" b="1" u="sng"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smtClean="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540099" y="108359"/>
            <a:ext cx="4378035" cy="6749641"/>
          </a:xfrm>
          <a:prstGeom prst="rect">
            <a:avLst/>
          </a:prstGeom>
        </p:spPr>
      </p:pic>
      <p:cxnSp>
        <p:nvCxnSpPr>
          <p:cNvPr id="6" name="Straight Arrow Connector 5"/>
          <p:cNvCxnSpPr/>
          <p:nvPr/>
        </p:nvCxnSpPr>
        <p:spPr>
          <a:xfrm flipV="1">
            <a:off x="5112327" y="1620982"/>
            <a:ext cx="3865418" cy="1219200"/>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8" name="Straight Arrow Connector 7"/>
          <p:cNvCxnSpPr/>
          <p:nvPr/>
        </p:nvCxnSpPr>
        <p:spPr>
          <a:xfrm flipV="1">
            <a:off x="5112327" y="4034151"/>
            <a:ext cx="4270824" cy="61613"/>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pic>
        <p:nvPicPr>
          <p:cNvPr id="10" name="Picture 9"/>
          <p:cNvPicPr>
            <a:picLocks noChangeAspect="1"/>
          </p:cNvPicPr>
          <p:nvPr/>
        </p:nvPicPr>
        <p:blipFill>
          <a:blip r:embed="rId3"/>
          <a:stretch>
            <a:fillRect/>
          </a:stretch>
        </p:blipFill>
        <p:spPr>
          <a:xfrm>
            <a:off x="9252491" y="1317669"/>
            <a:ext cx="606626" cy="606626"/>
          </a:xfrm>
          <a:prstGeom prst="rect">
            <a:avLst/>
          </a:prstGeom>
        </p:spPr>
      </p:pic>
      <p:pic>
        <p:nvPicPr>
          <p:cNvPr id="11" name="Picture 10"/>
          <p:cNvPicPr>
            <a:picLocks noChangeAspect="1"/>
          </p:cNvPicPr>
          <p:nvPr/>
        </p:nvPicPr>
        <p:blipFill>
          <a:blip r:embed="rId3"/>
          <a:stretch>
            <a:fillRect/>
          </a:stretch>
        </p:blipFill>
        <p:spPr>
          <a:xfrm>
            <a:off x="10144626" y="2038529"/>
            <a:ext cx="606626" cy="606626"/>
          </a:xfrm>
          <a:prstGeom prst="rect">
            <a:avLst/>
          </a:prstGeom>
        </p:spPr>
      </p:pic>
      <p:pic>
        <p:nvPicPr>
          <p:cNvPr id="12" name="Picture 11"/>
          <p:cNvPicPr>
            <a:picLocks noChangeAspect="1"/>
          </p:cNvPicPr>
          <p:nvPr/>
        </p:nvPicPr>
        <p:blipFill>
          <a:blip r:embed="rId3"/>
          <a:stretch>
            <a:fillRect/>
          </a:stretch>
        </p:blipFill>
        <p:spPr>
          <a:xfrm>
            <a:off x="8824905" y="2378371"/>
            <a:ext cx="606626" cy="606626"/>
          </a:xfrm>
          <a:prstGeom prst="rect">
            <a:avLst/>
          </a:prstGeom>
        </p:spPr>
      </p:pic>
      <p:pic>
        <p:nvPicPr>
          <p:cNvPr id="13" name="Picture 12"/>
          <p:cNvPicPr>
            <a:picLocks noChangeAspect="1"/>
          </p:cNvPicPr>
          <p:nvPr/>
        </p:nvPicPr>
        <p:blipFill>
          <a:blip r:embed="rId3"/>
          <a:stretch>
            <a:fillRect/>
          </a:stretch>
        </p:blipFill>
        <p:spPr>
          <a:xfrm>
            <a:off x="9841313" y="3976254"/>
            <a:ext cx="606626" cy="606626"/>
          </a:xfrm>
          <a:prstGeom prst="rect">
            <a:avLst/>
          </a:prstGeom>
        </p:spPr>
      </p:pic>
      <p:pic>
        <p:nvPicPr>
          <p:cNvPr id="14" name="Picture 13"/>
          <p:cNvPicPr>
            <a:picLocks noChangeAspect="1"/>
          </p:cNvPicPr>
          <p:nvPr/>
        </p:nvPicPr>
        <p:blipFill>
          <a:blip r:embed="rId3"/>
          <a:stretch>
            <a:fillRect/>
          </a:stretch>
        </p:blipFill>
        <p:spPr>
          <a:xfrm>
            <a:off x="8949178" y="5226701"/>
            <a:ext cx="606626" cy="606626"/>
          </a:xfrm>
          <a:prstGeom prst="rect">
            <a:avLst/>
          </a:prstGeom>
        </p:spPr>
      </p:pic>
      <p:pic>
        <p:nvPicPr>
          <p:cNvPr id="15" name="Picture 14"/>
          <p:cNvPicPr>
            <a:picLocks noChangeAspect="1"/>
          </p:cNvPicPr>
          <p:nvPr/>
        </p:nvPicPr>
        <p:blipFill>
          <a:blip r:embed="rId3"/>
          <a:stretch>
            <a:fillRect/>
          </a:stretch>
        </p:blipFill>
        <p:spPr>
          <a:xfrm>
            <a:off x="10661570" y="5377835"/>
            <a:ext cx="606626" cy="606626"/>
          </a:xfrm>
          <a:prstGeom prst="rect">
            <a:avLst/>
          </a:prstGeom>
        </p:spPr>
      </p:pic>
      <p:pic>
        <p:nvPicPr>
          <p:cNvPr id="16" name="Picture 15"/>
          <p:cNvPicPr>
            <a:picLocks noChangeAspect="1"/>
          </p:cNvPicPr>
          <p:nvPr/>
        </p:nvPicPr>
        <p:blipFill>
          <a:blip r:embed="rId3"/>
          <a:stretch>
            <a:fillRect/>
          </a:stretch>
        </p:blipFill>
        <p:spPr>
          <a:xfrm>
            <a:off x="8137771" y="3294577"/>
            <a:ext cx="606626" cy="606626"/>
          </a:xfrm>
          <a:prstGeom prst="rect">
            <a:avLst/>
          </a:prstGeom>
        </p:spPr>
      </p:pic>
      <p:sp>
        <p:nvSpPr>
          <p:cNvPr id="18" name="Rectangle 17"/>
          <p:cNvSpPr/>
          <p:nvPr/>
        </p:nvSpPr>
        <p:spPr>
          <a:xfrm>
            <a:off x="2355273" y="2654123"/>
            <a:ext cx="2757054" cy="4981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solidFill>
                  <a:schemeClr val="tx1"/>
                </a:solidFill>
                <a:latin typeface="Times New Roman" panose="02020603050405020304" pitchFamily="18" charset="0"/>
                <a:cs typeface="Times New Roman" panose="02020603050405020304" pitchFamily="18" charset="0"/>
              </a:rPr>
              <a:t>Thesawalamai</a:t>
            </a:r>
            <a:endParaRPr lang="en-US" sz="2400" b="1" dirty="0">
              <a:solidFill>
                <a:schemeClr val="tx1"/>
              </a:solidFill>
              <a:latin typeface="Times New Roman" panose="02020603050405020304" pitchFamily="18" charset="0"/>
              <a:cs typeface="Times New Roman" panose="02020603050405020304" pitchFamily="18" charset="0"/>
            </a:endParaRPr>
          </a:p>
        </p:txBody>
      </p:sp>
      <p:sp>
        <p:nvSpPr>
          <p:cNvPr id="19" name="Rectangle 18"/>
          <p:cNvSpPr/>
          <p:nvPr/>
        </p:nvSpPr>
        <p:spPr>
          <a:xfrm>
            <a:off x="2344676" y="3815866"/>
            <a:ext cx="2757054" cy="4981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solidFill>
                  <a:schemeClr val="tx1"/>
                </a:solidFill>
                <a:latin typeface="Times New Roman" panose="02020603050405020304" pitchFamily="18" charset="0"/>
                <a:cs typeface="Times New Roman" panose="02020603050405020304" pitchFamily="18" charset="0"/>
              </a:rPr>
              <a:t>Kandyan</a:t>
            </a:r>
            <a:r>
              <a:rPr lang="en-US" sz="2400" b="1" dirty="0" smtClean="0">
                <a:solidFill>
                  <a:schemeClr val="tx1"/>
                </a:solidFill>
                <a:latin typeface="Times New Roman" panose="02020603050405020304" pitchFamily="18" charset="0"/>
                <a:cs typeface="Times New Roman" panose="02020603050405020304" pitchFamily="18" charset="0"/>
              </a:rPr>
              <a:t> Law</a:t>
            </a:r>
            <a:endParaRPr lang="en-US" sz="2400" b="1" dirty="0">
              <a:solidFill>
                <a:schemeClr val="tx1"/>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2355273" y="4977610"/>
            <a:ext cx="2757054" cy="4981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latin typeface="Times New Roman" panose="02020603050405020304" pitchFamily="18" charset="0"/>
                <a:cs typeface="Times New Roman" panose="02020603050405020304" pitchFamily="18" charset="0"/>
              </a:rPr>
              <a:t>Muslim Law</a:t>
            </a:r>
            <a:endParaRPr lang="en-US" sz="2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40839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17752" y="2305048"/>
            <a:ext cx="2667011" cy="4255869"/>
          </a:xfrm>
          <a:prstGeom prst="rect">
            <a:avLst/>
          </a:prstGeom>
        </p:spPr>
      </p:pic>
      <p:pic>
        <p:nvPicPr>
          <p:cNvPr id="6" name="Picture 5"/>
          <p:cNvPicPr>
            <a:picLocks noChangeAspect="1"/>
          </p:cNvPicPr>
          <p:nvPr/>
        </p:nvPicPr>
        <p:blipFill>
          <a:blip r:embed="rId3"/>
          <a:stretch>
            <a:fillRect/>
          </a:stretch>
        </p:blipFill>
        <p:spPr>
          <a:xfrm>
            <a:off x="2840179" y="2305048"/>
            <a:ext cx="2655241" cy="4255869"/>
          </a:xfrm>
          <a:prstGeom prst="rect">
            <a:avLst/>
          </a:prstGeom>
        </p:spPr>
      </p:pic>
      <p:pic>
        <p:nvPicPr>
          <p:cNvPr id="7" name="Picture 6"/>
          <p:cNvPicPr>
            <a:picLocks noChangeAspect="1"/>
          </p:cNvPicPr>
          <p:nvPr/>
        </p:nvPicPr>
        <p:blipFill>
          <a:blip r:embed="rId4"/>
          <a:stretch>
            <a:fillRect/>
          </a:stretch>
        </p:blipFill>
        <p:spPr>
          <a:xfrm>
            <a:off x="5555661" y="2305047"/>
            <a:ext cx="2667011" cy="4255869"/>
          </a:xfrm>
          <a:prstGeom prst="rect">
            <a:avLst/>
          </a:prstGeom>
        </p:spPr>
      </p:pic>
      <p:sp>
        <p:nvSpPr>
          <p:cNvPr id="8" name="Rectangle 7"/>
          <p:cNvSpPr/>
          <p:nvPr/>
        </p:nvSpPr>
        <p:spPr>
          <a:xfrm>
            <a:off x="8282913" y="69272"/>
            <a:ext cx="3812105" cy="67887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b="1" dirty="0" smtClean="0">
                <a:solidFill>
                  <a:schemeClr val="tx1"/>
                </a:solidFill>
                <a:latin typeface="Times New Roman" panose="02020603050405020304" pitchFamily="18" charset="0"/>
                <a:cs typeface="Times New Roman" panose="02020603050405020304" pitchFamily="18" charset="0"/>
              </a:rPr>
              <a:t>Portuguese 1505 – 1657</a:t>
            </a:r>
          </a:p>
          <a:p>
            <a:pPr algn="just"/>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smtClean="0">
                <a:solidFill>
                  <a:schemeClr val="tx1"/>
                </a:solidFill>
                <a:latin typeface="Times New Roman" panose="02020603050405020304" pitchFamily="18" charset="0"/>
                <a:cs typeface="Times New Roman" panose="02020603050405020304" pitchFamily="18" charset="0"/>
              </a:rPr>
              <a:t>Portuguese was the first European power to exercise dominion over Sri Lanka.</a:t>
            </a:r>
          </a:p>
          <a:p>
            <a:pPr algn="just"/>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smtClean="0">
                <a:solidFill>
                  <a:schemeClr val="tx1"/>
                </a:solidFill>
                <a:latin typeface="Times New Roman" panose="02020603050405020304" pitchFamily="18" charset="0"/>
                <a:cs typeface="Times New Roman" panose="02020603050405020304" pitchFamily="18" charset="0"/>
              </a:rPr>
              <a:t>They did not introduce their own system of law in to Sri Lanka.</a:t>
            </a:r>
          </a:p>
          <a:p>
            <a:pPr algn="just"/>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smtClean="0">
                <a:solidFill>
                  <a:schemeClr val="tx1"/>
                </a:solidFill>
                <a:latin typeface="Times New Roman" panose="02020603050405020304" pitchFamily="18" charset="0"/>
                <a:cs typeface="Times New Roman" panose="02020603050405020304" pitchFamily="18" charset="0"/>
              </a:rPr>
              <a:t>Portuguese never occupied the </a:t>
            </a:r>
            <a:r>
              <a:rPr lang="en-US" sz="2400" dirty="0" err="1" smtClean="0">
                <a:solidFill>
                  <a:schemeClr val="tx1"/>
                </a:solidFill>
                <a:latin typeface="Times New Roman" panose="02020603050405020304" pitchFamily="18" charset="0"/>
                <a:cs typeface="Times New Roman" panose="02020603050405020304" pitchFamily="18" charset="0"/>
              </a:rPr>
              <a:t>Kandyan</a:t>
            </a:r>
            <a:r>
              <a:rPr lang="en-US" sz="2400" dirty="0" smtClean="0">
                <a:solidFill>
                  <a:schemeClr val="tx1"/>
                </a:solidFill>
                <a:latin typeface="Times New Roman" panose="02020603050405020304" pitchFamily="18" charset="0"/>
                <a:cs typeface="Times New Roman" panose="02020603050405020304" pitchFamily="18" charset="0"/>
              </a:rPr>
              <a:t> Provinces.</a:t>
            </a:r>
          </a:p>
          <a:p>
            <a:pPr algn="just"/>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smtClean="0">
                <a:solidFill>
                  <a:schemeClr val="tx1"/>
                </a:solidFill>
                <a:latin typeface="Times New Roman" panose="02020603050405020304" pitchFamily="18" charset="0"/>
                <a:cs typeface="Times New Roman" panose="02020603050405020304" pitchFamily="18" charset="0"/>
              </a:rPr>
              <a:t>Therefore Portuguese did not influence </a:t>
            </a:r>
            <a:r>
              <a:rPr lang="en-US" sz="2400" dirty="0" err="1" smtClean="0">
                <a:solidFill>
                  <a:schemeClr val="tx1"/>
                </a:solidFill>
                <a:latin typeface="Times New Roman" panose="02020603050405020304" pitchFamily="18" charset="0"/>
                <a:cs typeface="Times New Roman" panose="02020603050405020304" pitchFamily="18" charset="0"/>
              </a:rPr>
              <a:t>Kandyan</a:t>
            </a:r>
            <a:r>
              <a:rPr lang="en-US" sz="2400" dirty="0" smtClean="0">
                <a:solidFill>
                  <a:schemeClr val="tx1"/>
                </a:solidFill>
                <a:latin typeface="Times New Roman" panose="02020603050405020304" pitchFamily="18" charset="0"/>
                <a:cs typeface="Times New Roman" panose="02020603050405020304" pitchFamily="18" charset="0"/>
              </a:rPr>
              <a:t> provinces but the maritime provinces slightly. </a:t>
            </a: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84485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marL="0" indent="0" algn="just">
              <a:buNone/>
            </a:pPr>
            <a:r>
              <a:rPr lang="en-US" b="1" dirty="0" smtClean="0">
                <a:solidFill>
                  <a:schemeClr val="tx1"/>
                </a:solidFill>
                <a:latin typeface="Times New Roman" panose="02020603050405020304" pitchFamily="18" charset="0"/>
                <a:cs typeface="Times New Roman" panose="02020603050405020304" pitchFamily="18" charset="0"/>
              </a:rPr>
              <a:t>Portuguese 1505 – 1657</a:t>
            </a:r>
          </a:p>
          <a:p>
            <a:pPr algn="just"/>
            <a:endParaRPr lang="en-US" b="1" dirty="0" smtClean="0">
              <a:solidFill>
                <a:schemeClr val="tx1"/>
              </a:solidFill>
              <a:latin typeface="Times New Roman" panose="02020603050405020304" pitchFamily="18" charset="0"/>
              <a:cs typeface="Times New Roman" panose="02020603050405020304" pitchFamily="18" charset="0"/>
            </a:endParaRPr>
          </a:p>
          <a:p>
            <a:pPr marL="0" indent="0" algn="just">
              <a:buNone/>
            </a:pPr>
            <a:r>
              <a:rPr lang="en-US" dirty="0" smtClean="0">
                <a:solidFill>
                  <a:schemeClr val="tx1"/>
                </a:solidFill>
                <a:latin typeface="Times New Roman" panose="02020603050405020304" pitchFamily="18" charset="0"/>
                <a:cs typeface="Times New Roman" panose="02020603050405020304" pitchFamily="18" charset="0"/>
              </a:rPr>
              <a:t>At the </a:t>
            </a:r>
            <a:r>
              <a:rPr lang="en-US" dirty="0" err="1" smtClean="0">
                <a:solidFill>
                  <a:schemeClr val="tx1"/>
                </a:solidFill>
                <a:latin typeface="Times New Roman" panose="02020603050405020304" pitchFamily="18" charset="0"/>
                <a:cs typeface="Times New Roman" panose="02020603050405020304" pitchFamily="18" charset="0"/>
              </a:rPr>
              <a:t>Malwana</a:t>
            </a:r>
            <a:r>
              <a:rPr lang="en-US" dirty="0" smtClean="0">
                <a:solidFill>
                  <a:schemeClr val="tx1"/>
                </a:solidFill>
                <a:latin typeface="Times New Roman" panose="02020603050405020304" pitchFamily="18" charset="0"/>
                <a:cs typeface="Times New Roman" panose="02020603050405020304" pitchFamily="18" charset="0"/>
              </a:rPr>
              <a:t> Convention of 1597 it is said that the Portuguese agreed to administer the laws and usages of the Sinhalese in the maritime provinces which came under their sway.</a:t>
            </a:r>
          </a:p>
          <a:p>
            <a:pPr algn="just"/>
            <a:endParaRPr lang="en-US" dirty="0" smtClean="0">
              <a:solidFill>
                <a:schemeClr val="tx1"/>
              </a:solidFill>
              <a:latin typeface="Times New Roman" panose="02020603050405020304" pitchFamily="18" charset="0"/>
              <a:cs typeface="Times New Roman" panose="02020603050405020304" pitchFamily="18" charset="0"/>
            </a:endParaRPr>
          </a:p>
          <a:p>
            <a:pPr marL="0" indent="0" algn="just">
              <a:buNone/>
            </a:pPr>
            <a:r>
              <a:rPr lang="en-US" dirty="0" smtClean="0">
                <a:solidFill>
                  <a:schemeClr val="tx1"/>
                </a:solidFill>
                <a:latin typeface="Times New Roman" panose="02020603050405020304" pitchFamily="18" charset="0"/>
                <a:cs typeface="Times New Roman" panose="02020603050405020304" pitchFamily="18" charset="0"/>
              </a:rPr>
              <a:t>Sinhala law in maritime provinces came under the growing influence of Portuguese customs and in course of time it was natural for the Sinhala laws and customs to change their character.</a:t>
            </a:r>
          </a:p>
          <a:p>
            <a:pPr algn="just"/>
            <a:endParaRPr lang="en-US" dirty="0" smtClean="0">
              <a:solidFill>
                <a:schemeClr val="tx1"/>
              </a:solidFill>
              <a:latin typeface="Times New Roman" panose="02020603050405020304" pitchFamily="18" charset="0"/>
              <a:cs typeface="Times New Roman" panose="02020603050405020304" pitchFamily="18" charset="0"/>
            </a:endParaRPr>
          </a:p>
          <a:p>
            <a:pPr marL="0" indent="0" algn="just">
              <a:buNone/>
            </a:pPr>
            <a:r>
              <a:rPr lang="en-US" dirty="0" smtClean="0">
                <a:solidFill>
                  <a:schemeClr val="tx1"/>
                </a:solidFill>
                <a:latin typeface="Times New Roman" panose="02020603050405020304" pitchFamily="18" charset="0"/>
                <a:cs typeface="Times New Roman" panose="02020603050405020304" pitchFamily="18" charset="0"/>
              </a:rPr>
              <a:t>Who are known as Portuguese?</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34989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l="21891" t="10044" r="16727" b="7652"/>
          <a:stretch/>
        </p:blipFill>
        <p:spPr>
          <a:xfrm>
            <a:off x="7689273" y="27253"/>
            <a:ext cx="4502727" cy="6786097"/>
          </a:xfrm>
          <a:prstGeom prst="rect">
            <a:avLst/>
          </a:prstGeom>
        </p:spPr>
      </p:pic>
      <p:sp>
        <p:nvSpPr>
          <p:cNvPr id="5" name="Rectangle 4"/>
          <p:cNvSpPr/>
          <p:nvPr/>
        </p:nvSpPr>
        <p:spPr>
          <a:xfrm>
            <a:off x="96983" y="1468582"/>
            <a:ext cx="7467600" cy="52093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b="1" dirty="0" smtClean="0">
                <a:solidFill>
                  <a:schemeClr val="tx1"/>
                </a:solidFill>
                <a:latin typeface="Times New Roman" panose="02020603050405020304" pitchFamily="18" charset="0"/>
                <a:cs typeface="Times New Roman" panose="02020603050405020304" pitchFamily="18" charset="0"/>
              </a:rPr>
              <a:t>The Dutch 1656 – 1796</a:t>
            </a:r>
          </a:p>
          <a:p>
            <a:pPr algn="just"/>
            <a:endParaRPr lang="en-US" sz="2400" dirty="0" smtClean="0">
              <a:solidFill>
                <a:schemeClr val="tx1"/>
              </a:solidFill>
              <a:latin typeface="Times New Roman" panose="02020603050405020304" pitchFamily="18" charset="0"/>
              <a:cs typeface="Times New Roman" panose="02020603050405020304" pitchFamily="18" charset="0"/>
            </a:endParaRPr>
          </a:p>
          <a:p>
            <a:pPr algn="just"/>
            <a:r>
              <a:rPr lang="en-US" sz="2400" dirty="0" smtClean="0">
                <a:solidFill>
                  <a:schemeClr val="tx1"/>
                </a:solidFill>
                <a:latin typeface="Times New Roman" panose="02020603050405020304" pitchFamily="18" charset="0"/>
                <a:cs typeface="Times New Roman" panose="02020603050405020304" pitchFamily="18" charset="0"/>
              </a:rPr>
              <a:t>The Dutch ruled certain parts of Sri Lanka including maritime provinces. But never gained the control of the </a:t>
            </a:r>
            <a:r>
              <a:rPr lang="en-US" sz="2400" dirty="0" err="1" smtClean="0">
                <a:solidFill>
                  <a:schemeClr val="tx1"/>
                </a:solidFill>
                <a:latin typeface="Times New Roman" panose="02020603050405020304" pitchFamily="18" charset="0"/>
                <a:cs typeface="Times New Roman" panose="02020603050405020304" pitchFamily="18" charset="0"/>
              </a:rPr>
              <a:t>Kandyan</a:t>
            </a:r>
            <a:r>
              <a:rPr lang="en-US" sz="2400" dirty="0" smtClean="0">
                <a:solidFill>
                  <a:schemeClr val="tx1"/>
                </a:solidFill>
                <a:latin typeface="Times New Roman" panose="02020603050405020304" pitchFamily="18" charset="0"/>
                <a:cs typeface="Times New Roman" panose="02020603050405020304" pitchFamily="18" charset="0"/>
              </a:rPr>
              <a:t> Kingdom.</a:t>
            </a:r>
          </a:p>
          <a:p>
            <a:pPr algn="just"/>
            <a:endParaRPr lang="en-US" sz="2400" dirty="0" smtClean="0">
              <a:solidFill>
                <a:schemeClr val="tx1"/>
              </a:solidFill>
              <a:latin typeface="Times New Roman" panose="02020603050405020304" pitchFamily="18" charset="0"/>
              <a:cs typeface="Times New Roman" panose="02020603050405020304" pitchFamily="18" charset="0"/>
            </a:endParaRPr>
          </a:p>
          <a:p>
            <a:pPr algn="just"/>
            <a:r>
              <a:rPr lang="en-US" sz="2400" dirty="0" smtClean="0">
                <a:solidFill>
                  <a:schemeClr val="tx1"/>
                </a:solidFill>
                <a:latin typeface="Times New Roman" panose="02020603050405020304" pitchFamily="18" charset="0"/>
                <a:cs typeface="Times New Roman" panose="02020603050405020304" pitchFamily="18" charset="0"/>
              </a:rPr>
              <a:t>They introduced their laws into Sri Lanka, </a:t>
            </a:r>
            <a:r>
              <a:rPr lang="en-US" sz="2400" dirty="0" err="1" smtClean="0">
                <a:solidFill>
                  <a:schemeClr val="tx1"/>
                </a:solidFill>
                <a:latin typeface="Times New Roman" panose="02020603050405020304" pitchFamily="18" charset="0"/>
                <a:cs typeface="Times New Roman" panose="02020603050405020304" pitchFamily="18" charset="0"/>
              </a:rPr>
              <a:t>i</a:t>
            </a:r>
            <a:r>
              <a:rPr lang="en-US" sz="2400" dirty="0" smtClean="0">
                <a:solidFill>
                  <a:schemeClr val="tx1"/>
                </a:solidFill>
                <a:latin typeface="Times New Roman" panose="02020603050405020304" pitchFamily="18" charset="0"/>
                <a:cs typeface="Times New Roman" panose="02020603050405020304" pitchFamily="18" charset="0"/>
              </a:rPr>
              <a:t>. e. Roman Dutch Law.</a:t>
            </a:r>
          </a:p>
          <a:p>
            <a:pPr algn="just"/>
            <a:endParaRPr lang="en-US" sz="2400" dirty="0" smtClean="0">
              <a:solidFill>
                <a:schemeClr val="tx1"/>
              </a:solidFill>
              <a:latin typeface="Times New Roman" panose="02020603050405020304" pitchFamily="18" charset="0"/>
              <a:cs typeface="Times New Roman" panose="02020603050405020304" pitchFamily="18" charset="0"/>
            </a:endParaRPr>
          </a:p>
          <a:p>
            <a:pPr algn="just"/>
            <a:r>
              <a:rPr lang="en-US" sz="2400" dirty="0" smtClean="0">
                <a:solidFill>
                  <a:schemeClr val="tx1"/>
                </a:solidFill>
                <a:latin typeface="Times New Roman" panose="02020603050405020304" pitchFamily="18" charset="0"/>
                <a:cs typeface="Times New Roman" panose="02020603050405020304" pitchFamily="18" charset="0"/>
              </a:rPr>
              <a:t>Dutch law was regarded as a residuary law which was resorted to where the local customary laws were silent or Dutch considered them unsuitable. </a:t>
            </a:r>
          </a:p>
          <a:p>
            <a:pPr algn="just"/>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smtClean="0">
                <a:solidFill>
                  <a:schemeClr val="tx1"/>
                </a:solidFill>
                <a:latin typeface="Times New Roman" panose="02020603050405020304" pitchFamily="18" charset="0"/>
                <a:cs typeface="Times New Roman" panose="02020603050405020304" pitchFamily="18" charset="0"/>
              </a:rPr>
              <a:t>Who are known as Dutch?</a:t>
            </a: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69106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Legal System of Sri Lanka</a:t>
            </a:r>
            <a:endParaRPr lang="en-US" b="1" dirty="0">
              <a:latin typeface="Times New Roman" panose="02020603050405020304" pitchFamily="18" charset="0"/>
              <a:cs typeface="Times New Roman" panose="02020603050405020304" pitchFamily="18" charset="0"/>
            </a:endParaRPr>
          </a:p>
        </p:txBody>
      </p:sp>
      <p:sp>
        <p:nvSpPr>
          <p:cNvPr id="5" name="Rectangle 4"/>
          <p:cNvSpPr/>
          <p:nvPr/>
        </p:nvSpPr>
        <p:spPr>
          <a:xfrm>
            <a:off x="96983" y="1468582"/>
            <a:ext cx="7467600" cy="52093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b="1" dirty="0" smtClean="0">
                <a:solidFill>
                  <a:schemeClr val="tx1"/>
                </a:solidFill>
                <a:latin typeface="Times New Roman" panose="02020603050405020304" pitchFamily="18" charset="0"/>
                <a:cs typeface="Times New Roman" panose="02020603050405020304" pitchFamily="18" charset="0"/>
              </a:rPr>
              <a:t>The British 1796 - 1948</a:t>
            </a:r>
          </a:p>
          <a:p>
            <a:pPr algn="just"/>
            <a:r>
              <a:rPr lang="en-US" sz="2400" dirty="0" smtClean="0">
                <a:solidFill>
                  <a:schemeClr val="tx1"/>
                </a:solidFill>
                <a:latin typeface="Times New Roman" panose="02020603050405020304" pitchFamily="18" charset="0"/>
                <a:cs typeface="Times New Roman" panose="02020603050405020304" pitchFamily="18" charset="0"/>
              </a:rPr>
              <a:t>The coastal areas were surrendered by the Dutch to British in 1796 under the Articles of Capitulation.</a:t>
            </a:r>
          </a:p>
          <a:p>
            <a:pPr algn="just"/>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smtClean="0">
                <a:solidFill>
                  <a:schemeClr val="tx1"/>
                </a:solidFill>
                <a:latin typeface="Times New Roman" panose="02020603050405020304" pitchFamily="18" charset="0"/>
                <a:cs typeface="Times New Roman" panose="02020603050405020304" pitchFamily="18" charset="0"/>
              </a:rPr>
              <a:t>Same territory was subsequently ceded to the UK at the Peace of Amiens in 1802.</a:t>
            </a:r>
          </a:p>
          <a:p>
            <a:pPr algn="just"/>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smtClean="0">
                <a:solidFill>
                  <a:schemeClr val="tx1"/>
                </a:solidFill>
                <a:latin typeface="Times New Roman" panose="02020603050405020304" pitchFamily="18" charset="0"/>
                <a:cs typeface="Times New Roman" panose="02020603050405020304" pitchFamily="18" charset="0"/>
              </a:rPr>
              <a:t>In 1815, the King of Kandy was deposed and entire island passed under British Crown.</a:t>
            </a:r>
          </a:p>
          <a:p>
            <a:pPr algn="just"/>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smtClean="0">
                <a:solidFill>
                  <a:schemeClr val="tx1"/>
                </a:solidFill>
                <a:latin typeface="Times New Roman" panose="02020603050405020304" pitchFamily="18" charset="0"/>
                <a:cs typeface="Times New Roman" panose="02020603050405020304" pitchFamily="18" charset="0"/>
              </a:rPr>
              <a:t>In a conquered or a ceded colony the law that was already in force, prior to the conquest, continues in force until changed.</a:t>
            </a:r>
          </a:p>
        </p:txBody>
      </p:sp>
      <p:pic>
        <p:nvPicPr>
          <p:cNvPr id="3" name="Picture 2"/>
          <p:cNvPicPr>
            <a:picLocks noChangeAspect="1"/>
          </p:cNvPicPr>
          <p:nvPr/>
        </p:nvPicPr>
        <p:blipFill rotWithShape="1">
          <a:blip r:embed="rId2"/>
          <a:srcRect b="4646"/>
          <a:stretch/>
        </p:blipFill>
        <p:spPr>
          <a:xfrm>
            <a:off x="7781809" y="96981"/>
            <a:ext cx="4313208" cy="6539346"/>
          </a:xfrm>
          <a:prstGeom prst="rect">
            <a:avLst/>
          </a:prstGeom>
        </p:spPr>
      </p:pic>
      <p:sp>
        <p:nvSpPr>
          <p:cNvPr id="6" name="Rectangle 5"/>
          <p:cNvSpPr/>
          <p:nvPr/>
        </p:nvSpPr>
        <p:spPr>
          <a:xfrm>
            <a:off x="10882747" y="138545"/>
            <a:ext cx="1115291" cy="12330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30313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Supreme Law of Sri Lanka</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What is the Supreme Law in Sri Lanka?</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7521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Supreme Law of Sri Lanka</a:t>
            </a:r>
            <a:endParaRPr lang="en-US" dirty="0"/>
          </a:p>
        </p:txBody>
      </p:sp>
      <p:sp>
        <p:nvSpPr>
          <p:cNvPr id="3" name="Content Placeholder 2"/>
          <p:cNvSpPr>
            <a:spLocks noGrp="1"/>
          </p:cNvSpPr>
          <p:nvPr>
            <p:ph idx="1"/>
          </p:nvPr>
        </p:nvSpPr>
        <p:spPr/>
        <p:txBody>
          <a:bodyPr/>
          <a:lstStyle/>
          <a:p>
            <a:pPr marL="0" indent="0" algn="just">
              <a:buNone/>
            </a:pPr>
            <a:r>
              <a:rPr lang="en-US" dirty="0" smtClean="0">
                <a:latin typeface="Times New Roman" panose="02020603050405020304" pitchFamily="18" charset="0"/>
                <a:cs typeface="Times New Roman" panose="02020603050405020304" pitchFamily="18" charset="0"/>
              </a:rPr>
              <a:t>The Constitution of the Democratic Socialist Republic of Sri Lanka 1978</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93598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Supreme Law of Sri Lanka</a:t>
            </a:r>
            <a:endParaRPr lang="en-US" dirty="0"/>
          </a:p>
        </p:txBody>
      </p:sp>
      <p:sp>
        <p:nvSpPr>
          <p:cNvPr id="3" name="Content Placeholder 2"/>
          <p:cNvSpPr>
            <a:spLocks noGrp="1"/>
          </p:cNvSpPr>
          <p:nvPr>
            <p:ph idx="1"/>
          </p:nvPr>
        </p:nvSpPr>
        <p:spPr/>
        <p:txBody>
          <a:bodyPr>
            <a:normAutofit lnSpcReduction="10000"/>
          </a:bodyPr>
          <a:lstStyle/>
          <a:p>
            <a:pPr marL="0" indent="0" algn="just">
              <a:buNone/>
            </a:pPr>
            <a:r>
              <a:rPr lang="en-US" dirty="0" smtClean="0">
                <a:latin typeface="Times New Roman" panose="02020603050405020304" pitchFamily="18" charset="0"/>
                <a:cs typeface="Times New Roman" panose="02020603050405020304" pitchFamily="18" charset="0"/>
              </a:rPr>
              <a:t>The Historical Constitutions of Sri Lanka </a:t>
            </a:r>
          </a:p>
          <a:p>
            <a:pPr algn="just"/>
            <a:r>
              <a:rPr lang="en-US" dirty="0" err="1">
                <a:latin typeface="Times New Roman" panose="02020603050405020304" pitchFamily="18" charset="0"/>
                <a:cs typeface="Times New Roman" panose="02020603050405020304" pitchFamily="18" charset="0"/>
              </a:rPr>
              <a:t>Colebrooke</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Commission 1833</a:t>
            </a:r>
          </a:p>
          <a:p>
            <a:pPr algn="just"/>
            <a:r>
              <a:rPr lang="en-US" dirty="0">
                <a:latin typeface="Times New Roman" panose="02020603050405020304" pitchFamily="18" charset="0"/>
                <a:cs typeface="Times New Roman" panose="02020603050405020304" pitchFamily="18" charset="0"/>
              </a:rPr>
              <a:t>Crew Mc </a:t>
            </a:r>
            <a:r>
              <a:rPr lang="en-US" dirty="0" err="1">
                <a:latin typeface="Times New Roman" panose="02020603050405020304" pitchFamily="18" charset="0"/>
                <a:cs typeface="Times New Roman" panose="02020603050405020304" pitchFamily="18" charset="0"/>
              </a:rPr>
              <a:t>Callum</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Constitution 1910</a:t>
            </a:r>
          </a:p>
          <a:p>
            <a:pPr algn="just"/>
            <a:r>
              <a:rPr lang="en-US" dirty="0">
                <a:latin typeface="Times New Roman" panose="02020603050405020304" pitchFamily="18" charset="0"/>
                <a:cs typeface="Times New Roman" panose="02020603050405020304" pitchFamily="18" charset="0"/>
              </a:rPr>
              <a:t>Manning </a:t>
            </a:r>
            <a:r>
              <a:rPr lang="en-US" dirty="0" smtClean="0">
                <a:latin typeface="Times New Roman" panose="02020603050405020304" pitchFamily="18" charset="0"/>
                <a:cs typeface="Times New Roman" panose="02020603050405020304" pitchFamily="18" charset="0"/>
              </a:rPr>
              <a:t>Devonshire Constitution 1920</a:t>
            </a:r>
          </a:p>
          <a:p>
            <a:pPr algn="just"/>
            <a:r>
              <a:rPr lang="en-US" dirty="0" err="1">
                <a:latin typeface="Times New Roman" panose="02020603050405020304" pitchFamily="18" charset="0"/>
                <a:cs typeface="Times New Roman" panose="02020603050405020304" pitchFamily="18" charset="0"/>
              </a:rPr>
              <a:t>Donoughmore</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Constitution 1931</a:t>
            </a:r>
          </a:p>
          <a:p>
            <a:pPr algn="just"/>
            <a:r>
              <a:rPr lang="en-US" dirty="0" err="1">
                <a:latin typeface="Times New Roman" panose="02020603050405020304" pitchFamily="18" charset="0"/>
                <a:cs typeface="Times New Roman" panose="02020603050405020304" pitchFamily="18" charset="0"/>
              </a:rPr>
              <a:t>Soulbury</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Constitution 1947</a:t>
            </a:r>
          </a:p>
          <a:p>
            <a:pPr algn="just"/>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First Republican Constitution (Autochthones) 1972</a:t>
            </a:r>
          </a:p>
          <a:p>
            <a:pPr algn="just"/>
            <a:r>
              <a:rPr lang="en-US" dirty="0" smtClean="0">
                <a:latin typeface="Times New Roman" panose="02020603050405020304" pitchFamily="18" charset="0"/>
                <a:cs typeface="Times New Roman" panose="02020603050405020304" pitchFamily="18" charset="0"/>
              </a:rPr>
              <a:t>Second </a:t>
            </a:r>
            <a:r>
              <a:rPr lang="en-US" dirty="0">
                <a:latin typeface="Times New Roman" panose="02020603050405020304" pitchFamily="18" charset="0"/>
                <a:cs typeface="Times New Roman" panose="02020603050405020304" pitchFamily="18" charset="0"/>
              </a:rPr>
              <a:t>Republican Constitution (Autochthones) </a:t>
            </a:r>
            <a:r>
              <a:rPr lang="en-US" dirty="0" smtClean="0">
                <a:latin typeface="Times New Roman" panose="02020603050405020304" pitchFamily="18" charset="0"/>
                <a:cs typeface="Times New Roman" panose="02020603050405020304" pitchFamily="18" charset="0"/>
              </a:rPr>
              <a:t>1978</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78874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Supreme Law of Sri Lanka</a:t>
            </a:r>
            <a:endParaRPr lang="en-US" dirty="0"/>
          </a:p>
        </p:txBody>
      </p:sp>
      <p:sp>
        <p:nvSpPr>
          <p:cNvPr id="3" name="Content Placeholder 2"/>
          <p:cNvSpPr>
            <a:spLocks noGrp="1"/>
          </p:cNvSpPr>
          <p:nvPr>
            <p:ph idx="1"/>
          </p:nvPr>
        </p:nvSpPr>
        <p:spPr/>
        <p:txBody>
          <a:bodyPr/>
          <a:lstStyle/>
          <a:p>
            <a:pPr marL="0" indent="0" algn="just">
              <a:buNone/>
            </a:pPr>
            <a:r>
              <a:rPr lang="en-US" dirty="0" smtClean="0">
                <a:latin typeface="Times New Roman" panose="02020603050405020304" pitchFamily="18" charset="0"/>
                <a:cs typeface="Times New Roman" panose="02020603050405020304" pitchFamily="18" charset="0"/>
              </a:rPr>
              <a:t>The Constitution of the Democratic Socialist Republic of Sri Lanka 1978</a:t>
            </a:r>
          </a:p>
          <a:p>
            <a:pPr marL="0" indent="0" algn="just">
              <a:buNone/>
            </a:pPr>
            <a:r>
              <a:rPr lang="en-US" dirty="0" smtClean="0">
                <a:latin typeface="Times New Roman" panose="02020603050405020304" pitchFamily="18" charset="0"/>
                <a:cs typeface="Times New Roman" panose="02020603050405020304" pitchFamily="18" charset="0"/>
              </a:rPr>
              <a:t>Article 3</a:t>
            </a:r>
          </a:p>
          <a:p>
            <a:pPr marL="0" indent="0" algn="just">
              <a:buNone/>
            </a:pPr>
            <a:r>
              <a:rPr lang="en-US" i="1" dirty="0">
                <a:latin typeface="Times New Roman" panose="02020603050405020304" pitchFamily="18" charset="0"/>
                <a:cs typeface="Times New Roman" panose="02020603050405020304" pitchFamily="18" charset="0"/>
              </a:rPr>
              <a:t>In  the  Republic  of  Sri  Lanka  sovereignty  is  </a:t>
            </a:r>
            <a:r>
              <a:rPr lang="en-US" i="1" dirty="0" smtClean="0">
                <a:latin typeface="Times New Roman" panose="02020603050405020304" pitchFamily="18" charset="0"/>
                <a:cs typeface="Times New Roman" panose="02020603050405020304" pitchFamily="18" charset="0"/>
              </a:rPr>
              <a:t>in  </a:t>
            </a:r>
            <a:r>
              <a:rPr lang="en-US" i="1" dirty="0">
                <a:latin typeface="Times New Roman" panose="02020603050405020304" pitchFamily="18" charset="0"/>
                <a:cs typeface="Times New Roman" panose="02020603050405020304" pitchFamily="18" charset="0"/>
              </a:rPr>
              <a:t>the People and is inalienable. Sovereignty includes the </a:t>
            </a:r>
            <a:r>
              <a:rPr lang="en-US" i="1" dirty="0" smtClean="0">
                <a:latin typeface="Times New Roman" panose="02020603050405020304" pitchFamily="18" charset="0"/>
                <a:cs typeface="Times New Roman" panose="02020603050405020304" pitchFamily="18" charset="0"/>
              </a:rPr>
              <a:t>powers </a:t>
            </a:r>
            <a:r>
              <a:rPr lang="en-US" i="1" dirty="0">
                <a:latin typeface="Times New Roman" panose="02020603050405020304" pitchFamily="18" charset="0"/>
                <a:cs typeface="Times New Roman" panose="02020603050405020304" pitchFamily="18" charset="0"/>
              </a:rPr>
              <a:t>of government, fundamental rights and the </a:t>
            </a:r>
            <a:r>
              <a:rPr lang="en-US" i="1" dirty="0" smtClean="0">
                <a:latin typeface="Times New Roman" panose="02020603050405020304" pitchFamily="18" charset="0"/>
                <a:cs typeface="Times New Roman" panose="02020603050405020304" pitchFamily="18" charset="0"/>
              </a:rPr>
              <a:t>franchise</a:t>
            </a:r>
            <a:r>
              <a:rPr lang="en-US" i="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0851024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Supreme Law of Sri Lanka</a:t>
            </a:r>
            <a:endParaRPr lang="en-US" dirty="0"/>
          </a:p>
        </p:txBody>
      </p:sp>
      <p:sp>
        <p:nvSpPr>
          <p:cNvPr id="3" name="Content Placeholder 2"/>
          <p:cNvSpPr>
            <a:spLocks noGrp="1"/>
          </p:cNvSpPr>
          <p:nvPr>
            <p:ph idx="1"/>
          </p:nvPr>
        </p:nvSpPr>
        <p:spPr/>
        <p:txBody>
          <a:bodyPr/>
          <a:lstStyle/>
          <a:p>
            <a:pPr marL="0" indent="0" algn="just">
              <a:buNone/>
            </a:pPr>
            <a:r>
              <a:rPr lang="en-US" dirty="0" smtClean="0">
                <a:latin typeface="Times New Roman" panose="02020603050405020304" pitchFamily="18" charset="0"/>
                <a:cs typeface="Times New Roman" panose="02020603050405020304" pitchFamily="18" charset="0"/>
              </a:rPr>
              <a:t>The Constitution of the Democratic Socialist Republic of Sri Lanka 1978</a:t>
            </a:r>
          </a:p>
          <a:p>
            <a:pPr marL="0" indent="0" algn="just">
              <a:buNone/>
            </a:pPr>
            <a:r>
              <a:rPr lang="en-US" dirty="0" smtClean="0">
                <a:latin typeface="Times New Roman" panose="02020603050405020304" pitchFamily="18" charset="0"/>
                <a:cs typeface="Times New Roman" panose="02020603050405020304" pitchFamily="18" charset="0"/>
              </a:rPr>
              <a:t>Article 3</a:t>
            </a:r>
          </a:p>
          <a:p>
            <a:pPr marL="0" indent="0" algn="just">
              <a:buNone/>
            </a:pPr>
            <a:r>
              <a:rPr lang="en-US" dirty="0" smtClean="0">
                <a:latin typeface="Times New Roman" panose="02020603050405020304" pitchFamily="18" charset="0"/>
                <a:cs typeface="Times New Roman" panose="02020603050405020304" pitchFamily="18" charset="0"/>
              </a:rPr>
              <a:t>Powers of the Government</a:t>
            </a:r>
          </a:p>
          <a:p>
            <a:pPr algn="just"/>
            <a:r>
              <a:rPr lang="en-US" i="1" dirty="0" smtClean="0">
                <a:latin typeface="Times New Roman" panose="02020603050405020304" pitchFamily="18" charset="0"/>
                <a:cs typeface="Times New Roman" panose="02020603050405020304" pitchFamily="18" charset="0"/>
              </a:rPr>
              <a:t>Legislative Power</a:t>
            </a:r>
          </a:p>
          <a:p>
            <a:pPr algn="just"/>
            <a:r>
              <a:rPr lang="en-US" i="1" dirty="0" smtClean="0">
                <a:latin typeface="Times New Roman" panose="02020603050405020304" pitchFamily="18" charset="0"/>
                <a:cs typeface="Times New Roman" panose="02020603050405020304" pitchFamily="18" charset="0"/>
              </a:rPr>
              <a:t>Executive Power</a:t>
            </a:r>
          </a:p>
          <a:p>
            <a:pPr algn="just"/>
            <a:r>
              <a:rPr lang="en-US" i="1" dirty="0" smtClean="0">
                <a:latin typeface="Times New Roman" panose="02020603050405020304" pitchFamily="18" charset="0"/>
                <a:cs typeface="Times New Roman" panose="02020603050405020304" pitchFamily="18" charset="0"/>
              </a:rPr>
              <a:t>Judicial Power</a:t>
            </a: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01715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Supreme Law of Sri Lanka</a:t>
            </a:r>
            <a:endParaRPr lang="en-US" dirty="0"/>
          </a:p>
        </p:txBody>
      </p:sp>
      <p:sp>
        <p:nvSpPr>
          <p:cNvPr id="3" name="Content Placeholder 2"/>
          <p:cNvSpPr>
            <a:spLocks noGrp="1"/>
          </p:cNvSpPr>
          <p:nvPr>
            <p:ph idx="1"/>
          </p:nvPr>
        </p:nvSpPr>
        <p:spPr/>
        <p:txBody>
          <a:bodyPr/>
          <a:lstStyle/>
          <a:p>
            <a:pPr marL="0" indent="0" algn="just">
              <a:buNone/>
            </a:pPr>
            <a:r>
              <a:rPr lang="en-US" dirty="0" smtClean="0">
                <a:latin typeface="Times New Roman" panose="02020603050405020304" pitchFamily="18" charset="0"/>
                <a:cs typeface="Times New Roman" panose="02020603050405020304" pitchFamily="18" charset="0"/>
              </a:rPr>
              <a:t>The Constitution of the Democratic Socialist Republic of Sri Lanka 1978</a:t>
            </a:r>
          </a:p>
          <a:p>
            <a:pPr marL="0" indent="0" algn="just">
              <a:buNone/>
            </a:pPr>
            <a:r>
              <a:rPr lang="en-US" dirty="0" smtClean="0">
                <a:latin typeface="Times New Roman" panose="02020603050405020304" pitchFamily="18" charset="0"/>
                <a:cs typeface="Times New Roman" panose="02020603050405020304" pitchFamily="18" charset="0"/>
              </a:rPr>
              <a:t>Article 4</a:t>
            </a:r>
          </a:p>
          <a:p>
            <a:pPr marL="0" indent="0" algn="just">
              <a:buNone/>
            </a:pPr>
            <a:r>
              <a:rPr lang="en-US" dirty="0">
                <a:latin typeface="Times New Roman" panose="02020603050405020304" pitchFamily="18" charset="0"/>
                <a:cs typeface="Times New Roman" panose="02020603050405020304" pitchFamily="18" charset="0"/>
              </a:rPr>
              <a:t>The Sovereignty of the People shall be exercised and enjoyed in the following </a:t>
            </a:r>
            <a:r>
              <a:rPr lang="en-US" dirty="0" smtClean="0">
                <a:latin typeface="Times New Roman" panose="02020603050405020304" pitchFamily="18" charset="0"/>
                <a:cs typeface="Times New Roman" panose="02020603050405020304" pitchFamily="18" charset="0"/>
              </a:rPr>
              <a:t>manner,</a:t>
            </a: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a) </a:t>
            </a:r>
            <a:r>
              <a:rPr lang="en-US" i="1" dirty="0" smtClean="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legislative power of the People shall be exercised by </a:t>
            </a:r>
            <a:r>
              <a:rPr lang="en-US" i="1" dirty="0" smtClean="0">
                <a:latin typeface="Times New Roman" panose="02020603050405020304" pitchFamily="18" charset="0"/>
                <a:cs typeface="Times New Roman" panose="02020603050405020304" pitchFamily="18" charset="0"/>
              </a:rPr>
              <a:t>Parliament, </a:t>
            </a:r>
            <a:r>
              <a:rPr lang="en-US" i="1" dirty="0">
                <a:latin typeface="Times New Roman" panose="02020603050405020304" pitchFamily="18" charset="0"/>
                <a:cs typeface="Times New Roman" panose="02020603050405020304" pitchFamily="18" charset="0"/>
              </a:rPr>
              <a:t>elected by the people</a:t>
            </a:r>
            <a:endParaRPr lang="en-US" i="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054171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Supreme Law of Sri Lanka</a:t>
            </a:r>
            <a:endParaRPr lang="en-US" dirty="0"/>
          </a:p>
        </p:txBody>
      </p:sp>
      <p:sp>
        <p:nvSpPr>
          <p:cNvPr id="3" name="Content Placeholder 2"/>
          <p:cNvSpPr>
            <a:spLocks noGrp="1"/>
          </p:cNvSpPr>
          <p:nvPr>
            <p:ph idx="1"/>
          </p:nvPr>
        </p:nvSpPr>
        <p:spPr/>
        <p:txBody>
          <a:bodyPr/>
          <a:lstStyle/>
          <a:p>
            <a:pPr marL="0" indent="0" algn="just">
              <a:buNone/>
            </a:pPr>
            <a:r>
              <a:rPr lang="en-US" dirty="0" smtClean="0">
                <a:latin typeface="Times New Roman" panose="02020603050405020304" pitchFamily="18" charset="0"/>
                <a:cs typeface="Times New Roman" panose="02020603050405020304" pitchFamily="18" charset="0"/>
              </a:rPr>
              <a:t>The Constitution of the Democratic Socialist Republic of Sri Lanka 1978</a:t>
            </a:r>
          </a:p>
          <a:p>
            <a:pPr marL="0" indent="0" algn="just">
              <a:buNone/>
            </a:pPr>
            <a:r>
              <a:rPr lang="en-US" dirty="0" smtClean="0">
                <a:latin typeface="Times New Roman" panose="02020603050405020304" pitchFamily="18" charset="0"/>
                <a:cs typeface="Times New Roman" panose="02020603050405020304" pitchFamily="18" charset="0"/>
              </a:rPr>
              <a:t>Article 4</a:t>
            </a:r>
          </a:p>
          <a:p>
            <a:pPr marL="0" indent="0" algn="just">
              <a:buNone/>
            </a:pPr>
            <a:r>
              <a:rPr lang="en-US" dirty="0">
                <a:latin typeface="Times New Roman" panose="02020603050405020304" pitchFamily="18" charset="0"/>
                <a:cs typeface="Times New Roman" panose="02020603050405020304" pitchFamily="18" charset="0"/>
              </a:rPr>
              <a:t>The Sovereignty of the People shall be exercised and enjoyed in the following </a:t>
            </a:r>
            <a:r>
              <a:rPr lang="en-US" dirty="0" smtClean="0">
                <a:latin typeface="Times New Roman" panose="02020603050405020304" pitchFamily="18" charset="0"/>
                <a:cs typeface="Times New Roman" panose="02020603050405020304" pitchFamily="18" charset="0"/>
              </a:rPr>
              <a:t>manner,</a:t>
            </a: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b) </a:t>
            </a:r>
            <a:r>
              <a:rPr lang="en-US" i="1" dirty="0" smtClean="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executive power of the People, including the </a:t>
            </a:r>
            <a:r>
              <a:rPr lang="en-US" i="1" dirty="0" smtClean="0">
                <a:latin typeface="Times New Roman" panose="02020603050405020304" pitchFamily="18" charset="0"/>
                <a:cs typeface="Times New Roman" panose="02020603050405020304" pitchFamily="18" charset="0"/>
              </a:rPr>
              <a:t>defense </a:t>
            </a:r>
            <a:r>
              <a:rPr lang="en-US" i="1" dirty="0">
                <a:latin typeface="Times New Roman" panose="02020603050405020304" pitchFamily="18" charset="0"/>
                <a:cs typeface="Times New Roman" panose="02020603050405020304" pitchFamily="18" charset="0"/>
              </a:rPr>
              <a:t>of Sri Lanka, shall be exercised by the </a:t>
            </a:r>
            <a:r>
              <a:rPr lang="en-US" i="1" dirty="0" smtClean="0">
                <a:latin typeface="Times New Roman" panose="02020603050405020304" pitchFamily="18" charset="0"/>
                <a:cs typeface="Times New Roman" panose="02020603050405020304" pitchFamily="18" charset="0"/>
              </a:rPr>
              <a:t>President, elected by the people.</a:t>
            </a:r>
          </a:p>
        </p:txBody>
      </p:sp>
    </p:spTree>
    <p:extLst>
      <p:ext uri="{BB962C8B-B14F-4D97-AF65-F5344CB8AC3E}">
        <p14:creationId xmlns:p14="http://schemas.microsoft.com/office/powerpoint/2010/main" val="27401784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Supreme Law of Sri Lanka</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smtClean="0">
                <a:latin typeface="Times New Roman" panose="02020603050405020304" pitchFamily="18" charset="0"/>
                <a:cs typeface="Times New Roman" panose="02020603050405020304" pitchFamily="18" charset="0"/>
              </a:rPr>
              <a:t>The Constitution of the Democratic Socialist Republic of Sri Lanka 1978</a:t>
            </a:r>
          </a:p>
          <a:p>
            <a:pPr marL="0" indent="0" algn="just">
              <a:buNone/>
            </a:pPr>
            <a:r>
              <a:rPr lang="en-US" dirty="0" smtClean="0">
                <a:latin typeface="Times New Roman" panose="02020603050405020304" pitchFamily="18" charset="0"/>
                <a:cs typeface="Times New Roman" panose="02020603050405020304" pitchFamily="18" charset="0"/>
              </a:rPr>
              <a:t>Article 4</a:t>
            </a:r>
          </a:p>
          <a:p>
            <a:pPr marL="0" indent="0" algn="just">
              <a:buNone/>
            </a:pPr>
            <a:r>
              <a:rPr lang="en-US" dirty="0">
                <a:latin typeface="Times New Roman" panose="02020603050405020304" pitchFamily="18" charset="0"/>
                <a:cs typeface="Times New Roman" panose="02020603050405020304" pitchFamily="18" charset="0"/>
              </a:rPr>
              <a:t>The Sovereignty of the People shall be exercised and enjoyed in the following </a:t>
            </a:r>
            <a:r>
              <a:rPr lang="en-US" dirty="0" smtClean="0">
                <a:latin typeface="Times New Roman" panose="02020603050405020304" pitchFamily="18" charset="0"/>
                <a:cs typeface="Times New Roman" panose="02020603050405020304" pitchFamily="18" charset="0"/>
              </a:rPr>
              <a:t>manner,</a:t>
            </a: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c) </a:t>
            </a:r>
            <a:r>
              <a:rPr lang="en-US" i="1" dirty="0" smtClean="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judicial power of the People shall be exercised by Parliament through courts, tribunals and institutions ….. wherein the judicial power of the People may be </a:t>
            </a:r>
            <a:r>
              <a:rPr lang="en-US" i="1" dirty="0" smtClean="0">
                <a:latin typeface="Times New Roman" panose="02020603050405020304" pitchFamily="18" charset="0"/>
                <a:cs typeface="Times New Roman" panose="02020603050405020304" pitchFamily="18" charset="0"/>
              </a:rPr>
              <a:t>exercised </a:t>
            </a:r>
            <a:r>
              <a:rPr lang="en-US" i="1" dirty="0">
                <a:latin typeface="Times New Roman" panose="02020603050405020304" pitchFamily="18" charset="0"/>
                <a:cs typeface="Times New Roman" panose="02020603050405020304" pitchFamily="18" charset="0"/>
              </a:rPr>
              <a:t>directly by Parliament according </a:t>
            </a:r>
            <a:r>
              <a:rPr lang="en-US" i="1" dirty="0" smtClean="0">
                <a:latin typeface="Times New Roman" panose="02020603050405020304" pitchFamily="18" charset="0"/>
                <a:cs typeface="Times New Roman" panose="02020603050405020304" pitchFamily="18" charset="0"/>
              </a:rPr>
              <a:t>to law.</a:t>
            </a:r>
          </a:p>
        </p:txBody>
      </p:sp>
    </p:spTree>
    <p:extLst>
      <p:ext uri="{BB962C8B-B14F-4D97-AF65-F5344CB8AC3E}">
        <p14:creationId xmlns:p14="http://schemas.microsoft.com/office/powerpoint/2010/main" val="64913044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Supreme Law of Sri Lanka</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smtClean="0">
                <a:latin typeface="Times New Roman" panose="02020603050405020304" pitchFamily="18" charset="0"/>
                <a:cs typeface="Times New Roman" panose="02020603050405020304" pitchFamily="18" charset="0"/>
              </a:rPr>
              <a:t>The Constitution of the Democratic Socialist Republic of Sri Lanka 1978</a:t>
            </a:r>
          </a:p>
          <a:p>
            <a:pPr marL="0" indent="0" algn="just">
              <a:buNone/>
            </a:pPr>
            <a:r>
              <a:rPr lang="en-US" dirty="0" smtClean="0">
                <a:latin typeface="Times New Roman" panose="02020603050405020304" pitchFamily="18" charset="0"/>
                <a:cs typeface="Times New Roman" panose="02020603050405020304" pitchFamily="18" charset="0"/>
              </a:rPr>
              <a:t>Article 4</a:t>
            </a:r>
          </a:p>
          <a:p>
            <a:pPr marL="0" indent="0" algn="just">
              <a:buNone/>
            </a:pPr>
            <a:r>
              <a:rPr lang="en-US" dirty="0">
                <a:latin typeface="Times New Roman" panose="02020603050405020304" pitchFamily="18" charset="0"/>
                <a:cs typeface="Times New Roman" panose="02020603050405020304" pitchFamily="18" charset="0"/>
              </a:rPr>
              <a:t>The Sovereignty of the People shall be exercised and enjoyed in the following </a:t>
            </a:r>
            <a:r>
              <a:rPr lang="en-US" dirty="0" smtClean="0">
                <a:latin typeface="Times New Roman" panose="02020603050405020304" pitchFamily="18" charset="0"/>
                <a:cs typeface="Times New Roman" panose="02020603050405020304" pitchFamily="18" charset="0"/>
              </a:rPr>
              <a:t>manner,</a:t>
            </a: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d) Fundamental Rights</a:t>
            </a:r>
            <a:endParaRPr lang="en-US" i="1"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e) Franchise </a:t>
            </a:r>
          </a:p>
        </p:txBody>
      </p:sp>
    </p:spTree>
    <p:extLst>
      <p:ext uri="{BB962C8B-B14F-4D97-AF65-F5344CB8AC3E}">
        <p14:creationId xmlns:p14="http://schemas.microsoft.com/office/powerpoint/2010/main" val="6436464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Supreme Law of Sri Lanka</a:t>
            </a:r>
            <a:endParaRPr lang="en-US" dirty="0"/>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Article 4 of the Constitution</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Powers of the People</a:t>
            </a:r>
          </a:p>
          <a:p>
            <a:pPr marL="514350" indent="-514350">
              <a:buFont typeface="+mj-lt"/>
              <a:buAutoNum type="alphaLcParenR"/>
            </a:pPr>
            <a:r>
              <a:rPr lang="en-US" dirty="0" smtClean="0">
                <a:latin typeface="Times New Roman" panose="02020603050405020304" pitchFamily="18" charset="0"/>
                <a:cs typeface="Times New Roman" panose="02020603050405020304" pitchFamily="18" charset="0"/>
              </a:rPr>
              <a:t>Legislative power</a:t>
            </a:r>
          </a:p>
          <a:p>
            <a:pPr marL="514350" indent="-514350">
              <a:buFont typeface="+mj-lt"/>
              <a:buAutoNum type="alphaLcParenR"/>
            </a:pPr>
            <a:r>
              <a:rPr lang="en-US" dirty="0" smtClean="0">
                <a:latin typeface="Times New Roman" panose="02020603050405020304" pitchFamily="18" charset="0"/>
                <a:cs typeface="Times New Roman" panose="02020603050405020304" pitchFamily="18" charset="0"/>
              </a:rPr>
              <a:t>Executive </a:t>
            </a:r>
            <a:r>
              <a:rPr lang="en-US" dirty="0">
                <a:latin typeface="Times New Roman" panose="02020603050405020304" pitchFamily="18" charset="0"/>
                <a:cs typeface="Times New Roman" panose="02020603050405020304" pitchFamily="18" charset="0"/>
              </a:rPr>
              <a:t>Power</a:t>
            </a:r>
          </a:p>
          <a:p>
            <a:pPr marL="514350" indent="-514350">
              <a:buFont typeface="+mj-lt"/>
              <a:buAutoNum type="alphaLcParenR"/>
            </a:pPr>
            <a:r>
              <a:rPr lang="en-US" dirty="0" smtClean="0">
                <a:latin typeface="Times New Roman" panose="02020603050405020304" pitchFamily="18" charset="0"/>
                <a:cs typeface="Times New Roman" panose="02020603050405020304" pitchFamily="18" charset="0"/>
              </a:rPr>
              <a:t>Judicial </a:t>
            </a:r>
            <a:r>
              <a:rPr lang="en-US" dirty="0">
                <a:latin typeface="Times New Roman" panose="02020603050405020304" pitchFamily="18" charset="0"/>
                <a:cs typeface="Times New Roman" panose="02020603050405020304" pitchFamily="18" charset="0"/>
              </a:rPr>
              <a:t>Power</a:t>
            </a:r>
          </a:p>
          <a:p>
            <a:pPr marL="514350" indent="-514350">
              <a:buFont typeface="+mj-lt"/>
              <a:buAutoNum type="alphaLcParenR"/>
            </a:pPr>
            <a:r>
              <a:rPr lang="en-US" dirty="0" smtClean="0">
                <a:latin typeface="Times New Roman" panose="02020603050405020304" pitchFamily="18" charset="0"/>
                <a:cs typeface="Times New Roman" panose="02020603050405020304" pitchFamily="18" charset="0"/>
              </a:rPr>
              <a:t>Fundamental </a:t>
            </a:r>
            <a:r>
              <a:rPr lang="en-US" dirty="0">
                <a:latin typeface="Times New Roman" panose="02020603050405020304" pitchFamily="18" charset="0"/>
                <a:cs typeface="Times New Roman" panose="02020603050405020304" pitchFamily="18" charset="0"/>
              </a:rPr>
              <a:t>Rights</a:t>
            </a:r>
          </a:p>
          <a:p>
            <a:pPr marL="514350" indent="-514350">
              <a:buFont typeface="+mj-lt"/>
              <a:buAutoNum type="alphaLcParenR"/>
            </a:pPr>
            <a:r>
              <a:rPr lang="en-US" dirty="0" smtClean="0">
                <a:latin typeface="Times New Roman" panose="02020603050405020304" pitchFamily="18" charset="0"/>
                <a:cs typeface="Times New Roman" panose="02020603050405020304" pitchFamily="18" charset="0"/>
              </a:rPr>
              <a:t>Franchise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78572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Supreme Law of Sri Lanka</a:t>
            </a:r>
            <a:endParaRPr lang="en-US" dirty="0"/>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Executive Power</a:t>
            </a:r>
          </a:p>
          <a:p>
            <a:pPr marL="0" indent="0">
              <a:buNone/>
            </a:pPr>
            <a:r>
              <a:rPr lang="en-US" dirty="0">
                <a:latin typeface="Times New Roman" panose="02020603050405020304" pitchFamily="18" charset="0"/>
                <a:cs typeface="Times New Roman" panose="02020603050405020304" pitchFamily="18" charset="0"/>
              </a:rPr>
              <a:t>Legislative power</a:t>
            </a:r>
          </a:p>
          <a:p>
            <a:pPr marL="0" indent="0">
              <a:buNone/>
            </a:pPr>
            <a:r>
              <a:rPr lang="en-US" dirty="0">
                <a:latin typeface="Times New Roman" panose="02020603050405020304" pitchFamily="18" charset="0"/>
                <a:cs typeface="Times New Roman" panose="02020603050405020304" pitchFamily="18" charset="0"/>
              </a:rPr>
              <a:t>Judiciary Power</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Fundamental Rights</a:t>
            </a:r>
          </a:p>
          <a:p>
            <a:pPr marL="0" indent="0">
              <a:buNone/>
            </a:pPr>
            <a:r>
              <a:rPr lang="en-US" dirty="0">
                <a:latin typeface="Times New Roman" panose="02020603050405020304" pitchFamily="18" charset="0"/>
                <a:cs typeface="Times New Roman" panose="02020603050405020304" pitchFamily="18" charset="0"/>
              </a:rPr>
              <a:t>Franchise (Casting vote)</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Right Brace 3"/>
          <p:cNvSpPr/>
          <p:nvPr/>
        </p:nvSpPr>
        <p:spPr>
          <a:xfrm>
            <a:off x="5181600" y="1752600"/>
            <a:ext cx="5334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ectangle 4"/>
          <p:cNvSpPr/>
          <p:nvPr/>
        </p:nvSpPr>
        <p:spPr>
          <a:xfrm>
            <a:off x="6096000" y="1981200"/>
            <a:ext cx="2971800" cy="990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Delegated</a:t>
            </a:r>
          </a:p>
        </p:txBody>
      </p:sp>
      <p:sp>
        <p:nvSpPr>
          <p:cNvPr id="6" name="Right Brace 5"/>
          <p:cNvSpPr/>
          <p:nvPr/>
        </p:nvSpPr>
        <p:spPr>
          <a:xfrm>
            <a:off x="6172200" y="4114800"/>
            <a:ext cx="533400" cy="914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Rectangle 6"/>
          <p:cNvSpPr/>
          <p:nvPr/>
        </p:nvSpPr>
        <p:spPr>
          <a:xfrm>
            <a:off x="6858000" y="4038600"/>
            <a:ext cx="2971800" cy="990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Non - delegated</a:t>
            </a:r>
          </a:p>
        </p:txBody>
      </p:sp>
    </p:spTree>
    <p:extLst>
      <p:ext uri="{BB962C8B-B14F-4D97-AF65-F5344CB8AC3E}">
        <p14:creationId xmlns:p14="http://schemas.microsoft.com/office/powerpoint/2010/main" val="112475655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Supreme Law of Sri Lanka</a:t>
            </a:r>
            <a:endParaRPr lang="en-US" dirty="0"/>
          </a:p>
        </p:txBody>
      </p:sp>
      <p:sp>
        <p:nvSpPr>
          <p:cNvPr id="3" name="Content Placeholder 2"/>
          <p:cNvSpPr>
            <a:spLocks noGrp="1"/>
          </p:cNvSpPr>
          <p:nvPr>
            <p:ph idx="1"/>
          </p:nvPr>
        </p:nvSpPr>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Executive </a:t>
            </a:r>
            <a:r>
              <a:rPr lang="en-US" sz="2400" dirty="0">
                <a:latin typeface="Times New Roman" panose="02020603050405020304" pitchFamily="18" charset="0"/>
                <a:cs typeface="Times New Roman" panose="02020603050405020304" pitchFamily="18" charset="0"/>
              </a:rPr>
              <a:t>Power </a:t>
            </a:r>
            <a:r>
              <a:rPr lang="en-US" sz="2400" dirty="0" smtClean="0">
                <a:latin typeface="Times New Roman" panose="02020603050405020304" pitchFamily="18" charset="0"/>
                <a:cs typeface="Times New Roman" panose="02020603050405020304" pitchFamily="18" charset="0"/>
              </a:rPr>
              <a:t>			President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Legislative power			Legislature (Parliament)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Judiciary Power			Courts &amp; Judges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r>
              <a:rPr lang="en-US" sz="2400" b="1" dirty="0">
                <a:solidFill>
                  <a:srgbClr val="FF0000"/>
                </a:solidFill>
                <a:latin typeface="Times New Roman" panose="02020603050405020304" pitchFamily="18" charset="0"/>
                <a:cs typeface="Times New Roman" panose="02020603050405020304" pitchFamily="18" charset="0"/>
              </a:rPr>
              <a:t>Fundamental Rights</a:t>
            </a:r>
          </a:p>
          <a:p>
            <a:pPr marL="0" indent="0">
              <a:buNone/>
            </a:pPr>
            <a:r>
              <a:rPr lang="en-US" sz="2400" b="1" dirty="0">
                <a:solidFill>
                  <a:srgbClr val="FF0000"/>
                </a:solidFill>
                <a:latin typeface="Times New Roman" panose="02020603050405020304" pitchFamily="18" charset="0"/>
                <a:cs typeface="Times New Roman" panose="02020603050405020304" pitchFamily="18" charset="0"/>
              </a:rPr>
              <a:t>	Franchise</a:t>
            </a:r>
          </a:p>
        </p:txBody>
      </p:sp>
      <p:sp>
        <p:nvSpPr>
          <p:cNvPr id="5" name="Rectangle 4"/>
          <p:cNvSpPr/>
          <p:nvPr/>
        </p:nvSpPr>
        <p:spPr>
          <a:xfrm>
            <a:off x="6858000" y="5077693"/>
            <a:ext cx="2971800" cy="990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Non - delegated</a:t>
            </a:r>
          </a:p>
        </p:txBody>
      </p:sp>
      <p:sp>
        <p:nvSpPr>
          <p:cNvPr id="7" name="Right Brace 6"/>
          <p:cNvSpPr/>
          <p:nvPr/>
        </p:nvSpPr>
        <p:spPr>
          <a:xfrm>
            <a:off x="6019800" y="5112334"/>
            <a:ext cx="533400" cy="914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p>
        </p:txBody>
      </p:sp>
      <p:cxnSp>
        <p:nvCxnSpPr>
          <p:cNvPr id="9" name="Straight Arrow Connector 8"/>
          <p:cNvCxnSpPr/>
          <p:nvPr/>
        </p:nvCxnSpPr>
        <p:spPr>
          <a:xfrm>
            <a:off x="3588327" y="2514599"/>
            <a:ext cx="1447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588327" y="3380503"/>
            <a:ext cx="1447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588327" y="4350325"/>
            <a:ext cx="1447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7433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Supreme Law of Sri Lanka</a:t>
            </a: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Therefore these powers have </a:t>
            </a:r>
            <a:r>
              <a:rPr lang="en-US" dirty="0" smtClean="0">
                <a:latin typeface="Times New Roman" panose="02020603050405020304" pitchFamily="18" charset="0"/>
                <a:cs typeface="Times New Roman" panose="02020603050405020304" pitchFamily="18" charset="0"/>
              </a:rPr>
              <a:t>formulated a </a:t>
            </a:r>
            <a:r>
              <a:rPr lang="en-US" dirty="0">
                <a:latin typeface="Times New Roman" panose="02020603050405020304" pitchFamily="18" charset="0"/>
                <a:cs typeface="Times New Roman" panose="02020603050405020304" pitchFamily="18" charset="0"/>
              </a:rPr>
              <a:t>concept……..</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sz="5400" b="1" dirty="0">
                <a:solidFill>
                  <a:srgbClr val="FF0000"/>
                </a:solidFill>
                <a:latin typeface="Times New Roman" panose="02020603050405020304" pitchFamily="18" charset="0"/>
                <a:cs typeface="Times New Roman" panose="02020603050405020304" pitchFamily="18" charset="0"/>
              </a:rPr>
              <a:t>Sovereignty</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375881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61848" y="2438400"/>
            <a:ext cx="1066800" cy="25146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smtClean="0">
                <a:latin typeface="Times New Roman" panose="02020603050405020304" pitchFamily="18" charset="0"/>
                <a:cs typeface="Times New Roman" panose="02020603050405020304" pitchFamily="18" charset="0"/>
              </a:rPr>
              <a:t>Executive</a:t>
            </a:r>
          </a:p>
          <a:p>
            <a:pPr algn="ctr"/>
            <a:r>
              <a:rPr lang="en-US" sz="1600" dirty="0" smtClean="0">
                <a:latin typeface="Times New Roman" panose="02020603050405020304" pitchFamily="18" charset="0"/>
                <a:cs typeface="Times New Roman" panose="02020603050405020304" pitchFamily="18" charset="0"/>
              </a:rPr>
              <a:t>Power</a:t>
            </a:r>
            <a:endParaRPr lang="en-US" sz="1600" dirty="0">
              <a:latin typeface="Times New Roman" panose="02020603050405020304" pitchFamily="18" charset="0"/>
              <a:cs typeface="Times New Roman" panose="02020603050405020304" pitchFamily="18" charset="0"/>
            </a:endParaRPr>
          </a:p>
        </p:txBody>
      </p:sp>
      <p:sp>
        <p:nvSpPr>
          <p:cNvPr id="6" name="Rectangle 5"/>
          <p:cNvSpPr/>
          <p:nvPr/>
        </p:nvSpPr>
        <p:spPr>
          <a:xfrm>
            <a:off x="5583380" y="2417618"/>
            <a:ext cx="990600" cy="25146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Legislative</a:t>
            </a:r>
          </a:p>
          <a:p>
            <a:pPr algn="ctr"/>
            <a:r>
              <a:rPr lang="en-US" sz="1400" dirty="0" smtClean="0">
                <a:latin typeface="Times New Roman" panose="02020603050405020304" pitchFamily="18" charset="0"/>
                <a:cs typeface="Times New Roman" panose="02020603050405020304" pitchFamily="18" charset="0"/>
              </a:rPr>
              <a:t>Power</a:t>
            </a:r>
            <a:endParaRPr lang="en-US" sz="1400" dirty="0">
              <a:latin typeface="Times New Roman" panose="02020603050405020304" pitchFamily="18" charset="0"/>
              <a:cs typeface="Times New Roman" panose="02020603050405020304" pitchFamily="18" charset="0"/>
            </a:endParaRPr>
          </a:p>
        </p:txBody>
      </p:sp>
      <p:sp>
        <p:nvSpPr>
          <p:cNvPr id="7" name="Rectangle 6"/>
          <p:cNvSpPr/>
          <p:nvPr/>
        </p:nvSpPr>
        <p:spPr>
          <a:xfrm>
            <a:off x="8139552" y="2417618"/>
            <a:ext cx="990600" cy="25146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smtClean="0">
                <a:latin typeface="Times New Roman" panose="02020603050405020304" pitchFamily="18" charset="0"/>
                <a:cs typeface="Times New Roman" panose="02020603050405020304" pitchFamily="18" charset="0"/>
              </a:rPr>
              <a:t>Judicial </a:t>
            </a:r>
          </a:p>
          <a:p>
            <a:pPr algn="ctr"/>
            <a:r>
              <a:rPr lang="en-US" sz="1600" dirty="0" smtClean="0">
                <a:latin typeface="Times New Roman" panose="02020603050405020304" pitchFamily="18" charset="0"/>
                <a:cs typeface="Times New Roman" panose="02020603050405020304" pitchFamily="18" charset="0"/>
              </a:rPr>
              <a:t>Power</a:t>
            </a:r>
            <a:endParaRPr lang="en-US" sz="1600" dirty="0">
              <a:latin typeface="Times New Roman" panose="02020603050405020304" pitchFamily="18" charset="0"/>
              <a:cs typeface="Times New Roman" panose="02020603050405020304" pitchFamily="18" charset="0"/>
            </a:endParaRPr>
          </a:p>
        </p:txBody>
      </p:sp>
      <p:sp>
        <p:nvSpPr>
          <p:cNvPr id="8" name="Isosceles Triangle 7"/>
          <p:cNvSpPr/>
          <p:nvPr/>
        </p:nvSpPr>
        <p:spPr>
          <a:xfrm>
            <a:off x="2667000" y="533400"/>
            <a:ext cx="6781800" cy="1676400"/>
          </a:xfrm>
          <a:prstGeom prst="triangl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3200" dirty="0" smtClean="0">
                <a:latin typeface="Times New Roman" panose="02020603050405020304" pitchFamily="18" charset="0"/>
                <a:cs typeface="Times New Roman" panose="02020603050405020304" pitchFamily="18" charset="0"/>
              </a:rPr>
              <a:t>State of Sri Lanka</a:t>
            </a:r>
            <a:endParaRPr lang="en-US" sz="3200" dirty="0">
              <a:latin typeface="Times New Roman" panose="02020603050405020304" pitchFamily="18" charset="0"/>
              <a:cs typeface="Times New Roman" panose="02020603050405020304" pitchFamily="18" charset="0"/>
            </a:endParaRPr>
          </a:p>
        </p:txBody>
      </p:sp>
      <p:grpSp>
        <p:nvGrpSpPr>
          <p:cNvPr id="16" name="Group 15"/>
          <p:cNvGrpSpPr/>
          <p:nvPr/>
        </p:nvGrpSpPr>
        <p:grpSpPr>
          <a:xfrm>
            <a:off x="2971800" y="5029200"/>
            <a:ext cx="6248400" cy="914400"/>
            <a:chOff x="1447800" y="5181600"/>
            <a:chExt cx="6248400" cy="914400"/>
          </a:xfrm>
        </p:grpSpPr>
        <p:sp>
          <p:nvSpPr>
            <p:cNvPr id="4" name="Rectangle 3"/>
            <p:cNvSpPr/>
            <p:nvPr/>
          </p:nvSpPr>
          <p:spPr>
            <a:xfrm>
              <a:off x="1447800" y="5181600"/>
              <a:ext cx="6248400" cy="9144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sz="1600" dirty="0">
                  <a:latin typeface="Times New Roman" panose="02020603050405020304" pitchFamily="18" charset="0"/>
                  <a:cs typeface="Times New Roman" panose="02020603050405020304" pitchFamily="18" charset="0"/>
                </a:rPr>
                <a:t>Executive	             FR              Legislative     </a:t>
              </a:r>
              <a:r>
                <a:rPr lang="en-US" sz="1600" dirty="0" smtClean="0">
                  <a:latin typeface="Times New Roman" panose="02020603050405020304" pitchFamily="18" charset="0"/>
                  <a:cs typeface="Times New Roman" panose="02020603050405020304" pitchFamily="18" charset="0"/>
                </a:rPr>
                <a:t>    Franchise        Judicial</a:t>
              </a:r>
              <a:endParaRPr lang="en-US" sz="1600" dirty="0">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3962400" y="5181600"/>
              <a:ext cx="0" cy="914400"/>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p:cNvCxnSpPr/>
            <p:nvPr/>
          </p:nvCxnSpPr>
          <p:spPr>
            <a:xfrm>
              <a:off x="2667000" y="5181600"/>
              <a:ext cx="0" cy="914400"/>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p:cNvCxnSpPr/>
            <p:nvPr/>
          </p:nvCxnSpPr>
          <p:spPr>
            <a:xfrm>
              <a:off x="5181600" y="5181600"/>
              <a:ext cx="0" cy="91440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p:cNvCxnSpPr/>
            <p:nvPr/>
          </p:nvCxnSpPr>
          <p:spPr>
            <a:xfrm>
              <a:off x="6477000" y="5181600"/>
              <a:ext cx="0" cy="914400"/>
            </a:xfrm>
            <a:prstGeom prst="line">
              <a:avLst/>
            </a:prstGeom>
          </p:spPr>
          <p:style>
            <a:lnRef idx="3">
              <a:schemeClr val="dk1"/>
            </a:lnRef>
            <a:fillRef idx="0">
              <a:schemeClr val="dk1"/>
            </a:fillRef>
            <a:effectRef idx="2">
              <a:schemeClr val="dk1"/>
            </a:effectRef>
            <a:fontRef idx="minor">
              <a:schemeClr val="tx1"/>
            </a:fontRef>
          </p:style>
        </p:cxnSp>
      </p:grpSp>
      <p:sp>
        <p:nvSpPr>
          <p:cNvPr id="17" name="Rectangle 16"/>
          <p:cNvSpPr/>
          <p:nvPr/>
        </p:nvSpPr>
        <p:spPr>
          <a:xfrm>
            <a:off x="2971800" y="5943600"/>
            <a:ext cx="6248400" cy="3810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Sovereignty</a:t>
            </a:r>
          </a:p>
        </p:txBody>
      </p:sp>
    </p:spTree>
    <p:extLst>
      <p:ext uri="{BB962C8B-B14F-4D97-AF65-F5344CB8AC3E}">
        <p14:creationId xmlns:p14="http://schemas.microsoft.com/office/powerpoint/2010/main" val="427620068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525" y="101888"/>
            <a:ext cx="10515600" cy="1325563"/>
          </a:xfrm>
        </p:spPr>
        <p:txBody>
          <a:bodyPr/>
          <a:lstStyle/>
          <a:p>
            <a:r>
              <a:rPr lang="en-US" dirty="0" smtClean="0">
                <a:latin typeface="Times New Roman" panose="02020603050405020304" pitchFamily="18" charset="0"/>
                <a:cs typeface="Times New Roman" panose="02020603050405020304" pitchFamily="18" charset="0"/>
              </a:rPr>
              <a:t>Court Hierarchy of Sri </a:t>
            </a:r>
            <a:r>
              <a:rPr lang="en-US" dirty="0">
                <a:latin typeface="Times New Roman" panose="02020603050405020304" pitchFamily="18" charset="0"/>
                <a:cs typeface="Times New Roman" panose="02020603050405020304" pitchFamily="18" charset="0"/>
              </a:rPr>
              <a:t>L</a:t>
            </a:r>
            <a:r>
              <a:rPr lang="en-US" dirty="0" smtClean="0">
                <a:latin typeface="Times New Roman" panose="02020603050405020304" pitchFamily="18" charset="0"/>
                <a:cs typeface="Times New Roman" panose="02020603050405020304" pitchFamily="18" charset="0"/>
              </a:rPr>
              <a:t>anka</a:t>
            </a:r>
            <a:endParaRPr lang="en-US" dirty="0">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5" name="Rectangle 4"/>
          <p:cNvSpPr/>
          <p:nvPr/>
        </p:nvSpPr>
        <p:spPr>
          <a:xfrm>
            <a:off x="4700085" y="6002477"/>
            <a:ext cx="2667000" cy="6858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Magistrate’s </a:t>
            </a:r>
            <a:r>
              <a:rPr lang="en-US" dirty="0">
                <a:latin typeface="Times New Roman" panose="02020603050405020304" pitchFamily="18" charset="0"/>
                <a:cs typeface="Times New Roman" panose="02020603050405020304" pitchFamily="18" charset="0"/>
              </a:rPr>
              <a:t>Court</a:t>
            </a:r>
          </a:p>
        </p:txBody>
      </p:sp>
      <p:sp>
        <p:nvSpPr>
          <p:cNvPr id="6" name="Rectangle 5"/>
          <p:cNvSpPr/>
          <p:nvPr/>
        </p:nvSpPr>
        <p:spPr>
          <a:xfrm>
            <a:off x="4700085" y="4949536"/>
            <a:ext cx="2667000" cy="685800"/>
          </a:xfrm>
          <a:prstGeom prst="rect">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District Court</a:t>
            </a:r>
          </a:p>
        </p:txBody>
      </p:sp>
      <p:sp>
        <p:nvSpPr>
          <p:cNvPr id="7" name="Rectangle 6"/>
          <p:cNvSpPr/>
          <p:nvPr/>
        </p:nvSpPr>
        <p:spPr>
          <a:xfrm>
            <a:off x="4700085" y="3756457"/>
            <a:ext cx="2667000" cy="685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Provincial High Court (</a:t>
            </a:r>
            <a:r>
              <a:rPr lang="en-US" dirty="0" smtClean="0">
                <a:latin typeface="Times New Roman" panose="02020603050405020304" pitchFamily="18" charset="0"/>
                <a:cs typeface="Times New Roman" panose="02020603050405020304" pitchFamily="18" charset="0"/>
              </a:rPr>
              <a:t>Commercial)</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1482297" y="3748808"/>
            <a:ext cx="26670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Provincial High Court (Criminal)</a:t>
            </a:r>
          </a:p>
        </p:txBody>
      </p:sp>
      <p:sp>
        <p:nvSpPr>
          <p:cNvPr id="9" name="Rectangle 8"/>
          <p:cNvSpPr/>
          <p:nvPr/>
        </p:nvSpPr>
        <p:spPr>
          <a:xfrm>
            <a:off x="7917873" y="3652335"/>
            <a:ext cx="2667000" cy="80536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Provincial High Court (Civil</a:t>
            </a:r>
            <a:r>
              <a:rPr lang="en-US" dirty="0" smtClean="0">
                <a:latin typeface="Times New Roman" panose="02020603050405020304" pitchFamily="18" charset="0"/>
                <a:cs typeface="Times New Roman" panose="02020603050405020304" pitchFamily="18" charset="0"/>
              </a:rPr>
              <a:t>)</a:t>
            </a:r>
          </a:p>
          <a:p>
            <a:pPr algn="ctr"/>
            <a:r>
              <a:rPr lang="en-US" dirty="0" smtClean="0">
                <a:latin typeface="Times New Roman" panose="02020603050405020304" pitchFamily="18" charset="0"/>
                <a:cs typeface="Times New Roman" panose="02020603050405020304" pitchFamily="18" charset="0"/>
              </a:rPr>
              <a:t>(Civil Appellate)</a:t>
            </a:r>
            <a:endParaRPr lang="en-US" dirty="0">
              <a:latin typeface="Times New Roman" panose="02020603050405020304" pitchFamily="18" charset="0"/>
              <a:cs typeface="Times New Roman" panose="02020603050405020304" pitchFamily="18" charset="0"/>
            </a:endParaRPr>
          </a:p>
        </p:txBody>
      </p:sp>
      <p:sp>
        <p:nvSpPr>
          <p:cNvPr id="10" name="Rectangle 9"/>
          <p:cNvSpPr/>
          <p:nvPr/>
        </p:nvSpPr>
        <p:spPr>
          <a:xfrm>
            <a:off x="4693158" y="1309688"/>
            <a:ext cx="2667000" cy="6858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Supreme Court</a:t>
            </a:r>
          </a:p>
        </p:txBody>
      </p:sp>
      <p:sp>
        <p:nvSpPr>
          <p:cNvPr id="11" name="Rectangle 10"/>
          <p:cNvSpPr/>
          <p:nvPr/>
        </p:nvSpPr>
        <p:spPr>
          <a:xfrm>
            <a:off x="4679442" y="2528458"/>
            <a:ext cx="26670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Court of Appeal</a:t>
            </a:r>
          </a:p>
        </p:txBody>
      </p:sp>
      <p:cxnSp>
        <p:nvCxnSpPr>
          <p:cNvPr id="21" name="Straight Arrow Connector 20"/>
          <p:cNvCxnSpPr/>
          <p:nvPr/>
        </p:nvCxnSpPr>
        <p:spPr>
          <a:xfrm flipV="1">
            <a:off x="2815797" y="4457700"/>
            <a:ext cx="0" cy="1812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815797" y="6270337"/>
            <a:ext cx="18636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9" idx="2"/>
          </p:cNvCxnSpPr>
          <p:nvPr/>
        </p:nvCxnSpPr>
        <p:spPr>
          <a:xfrm flipV="1">
            <a:off x="9251373" y="4457701"/>
            <a:ext cx="0" cy="834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endCxn id="6" idx="3"/>
          </p:cNvCxnSpPr>
          <p:nvPr/>
        </p:nvCxnSpPr>
        <p:spPr>
          <a:xfrm flipH="1">
            <a:off x="7367085" y="5292436"/>
            <a:ext cx="1884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9251373" y="1538277"/>
            <a:ext cx="0" cy="2114057"/>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815797" y="2871358"/>
            <a:ext cx="0" cy="819149"/>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2815797" y="2867891"/>
            <a:ext cx="17562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7592292" y="1909474"/>
            <a:ext cx="0" cy="2182234"/>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6012942" y="2050908"/>
            <a:ext cx="0" cy="422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10711543" y="3466283"/>
            <a:ext cx="1161802" cy="11579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Permanent High Court at Bar</a:t>
            </a:r>
            <a:endParaRPr lang="en-US" dirty="0">
              <a:solidFill>
                <a:schemeClr val="tx1"/>
              </a:solidFill>
              <a:latin typeface="Times New Roman" panose="02020603050405020304" pitchFamily="18" charset="0"/>
              <a:cs typeface="Times New Roman" panose="02020603050405020304" pitchFamily="18" charset="0"/>
            </a:endParaRPr>
          </a:p>
        </p:txBody>
      </p:sp>
      <p:cxnSp>
        <p:nvCxnSpPr>
          <p:cNvPr id="63" name="Straight Arrow Connector 62"/>
          <p:cNvCxnSpPr/>
          <p:nvPr/>
        </p:nvCxnSpPr>
        <p:spPr>
          <a:xfrm flipH="1">
            <a:off x="7495309" y="1538277"/>
            <a:ext cx="17560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7" idx="3"/>
          </p:cNvCxnSpPr>
          <p:nvPr/>
        </p:nvCxnSpPr>
        <p:spPr>
          <a:xfrm>
            <a:off x="7367085" y="4099357"/>
            <a:ext cx="2390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H="1">
            <a:off x="7367085" y="1909474"/>
            <a:ext cx="22520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flipV="1">
            <a:off x="11360727" y="1392818"/>
            <a:ext cx="0" cy="219267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flipH="1">
            <a:off x="7495309" y="1392818"/>
            <a:ext cx="38654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2466109" y="1690688"/>
            <a:ext cx="21596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flipH="1" flipV="1">
            <a:off x="2466109" y="1690688"/>
            <a:ext cx="3324" cy="2018213"/>
          </a:xfrm>
          <a:prstGeom prst="line">
            <a:avLst/>
          </a:prstGeom>
        </p:spPr>
        <p:style>
          <a:lnRef idx="1">
            <a:schemeClr val="accent1"/>
          </a:lnRef>
          <a:fillRef idx="0">
            <a:schemeClr val="accent1"/>
          </a:fillRef>
          <a:effectRef idx="0">
            <a:schemeClr val="accent1"/>
          </a:effectRef>
          <a:fontRef idx="minor">
            <a:schemeClr val="tx1"/>
          </a:fontRef>
        </p:style>
      </p:cxnSp>
      <p:sp>
        <p:nvSpPr>
          <p:cNvPr id="85" name="Rectangle 84"/>
          <p:cNvSpPr/>
          <p:nvPr/>
        </p:nvSpPr>
        <p:spPr>
          <a:xfrm>
            <a:off x="1593270" y="2298554"/>
            <a:ext cx="1772532" cy="2460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Trial-at-Bar</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31" name="Rectangle 30"/>
          <p:cNvSpPr/>
          <p:nvPr/>
        </p:nvSpPr>
        <p:spPr>
          <a:xfrm>
            <a:off x="6629610" y="5408377"/>
            <a:ext cx="1953070" cy="341269"/>
          </a:xfrm>
          <a:prstGeom prst="rect">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Small Claims Court</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866414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219200"/>
            <a:ext cx="8763000" cy="5257800"/>
          </a:xfrm>
        </p:spPr>
        <p:txBody>
          <a:bodyPr/>
          <a:lstStyle/>
          <a:p>
            <a:pPr marL="0" indent="0">
              <a:buNone/>
            </a:pPr>
            <a:endParaRPr lang="en-US" dirty="0"/>
          </a:p>
          <a:p>
            <a:pPr marL="0" indent="0">
              <a:buNone/>
            </a:pPr>
            <a:endParaRPr lang="en-US" dirty="0"/>
          </a:p>
        </p:txBody>
      </p:sp>
      <p:grpSp>
        <p:nvGrpSpPr>
          <p:cNvPr id="17" name="Group 16"/>
          <p:cNvGrpSpPr/>
          <p:nvPr/>
        </p:nvGrpSpPr>
        <p:grpSpPr>
          <a:xfrm>
            <a:off x="2895600" y="1219200"/>
            <a:ext cx="6781800" cy="990600"/>
            <a:chOff x="1371600" y="1219200"/>
            <a:chExt cx="6781800" cy="990600"/>
          </a:xfrm>
        </p:grpSpPr>
        <p:sp>
          <p:nvSpPr>
            <p:cNvPr id="11" name="Down Arrow 10"/>
            <p:cNvSpPr/>
            <p:nvPr/>
          </p:nvSpPr>
          <p:spPr>
            <a:xfrm>
              <a:off x="4495800" y="1219200"/>
              <a:ext cx="242316"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p:nvPr/>
          </p:nvCxnSpPr>
          <p:spPr>
            <a:xfrm>
              <a:off x="1447800" y="1752600"/>
              <a:ext cx="6553200" cy="0"/>
            </a:xfrm>
            <a:prstGeom prst="line">
              <a:avLst/>
            </a:prstGeom>
          </p:spPr>
          <p:style>
            <a:lnRef idx="3">
              <a:schemeClr val="accent1"/>
            </a:lnRef>
            <a:fillRef idx="0">
              <a:schemeClr val="accent1"/>
            </a:fillRef>
            <a:effectRef idx="2">
              <a:schemeClr val="accent1"/>
            </a:effectRef>
            <a:fontRef idx="minor">
              <a:schemeClr val="tx1"/>
            </a:fontRef>
          </p:style>
        </p:cxnSp>
        <p:sp>
          <p:nvSpPr>
            <p:cNvPr id="15" name="Down Arrow 14"/>
            <p:cNvSpPr/>
            <p:nvPr/>
          </p:nvSpPr>
          <p:spPr>
            <a:xfrm>
              <a:off x="1371600" y="1720596"/>
              <a:ext cx="242316"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p:cNvSpPr/>
            <p:nvPr/>
          </p:nvSpPr>
          <p:spPr>
            <a:xfrm>
              <a:off x="7911084" y="1720596"/>
              <a:ext cx="242316"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p:cNvSpPr/>
          <p:nvPr/>
        </p:nvSpPr>
        <p:spPr>
          <a:xfrm>
            <a:off x="7696200" y="2286000"/>
            <a:ext cx="2667000" cy="4572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Adjective</a:t>
            </a:r>
          </a:p>
        </p:txBody>
      </p:sp>
      <p:sp>
        <p:nvSpPr>
          <p:cNvPr id="20" name="Rectangle 19"/>
          <p:cNvSpPr/>
          <p:nvPr/>
        </p:nvSpPr>
        <p:spPr>
          <a:xfrm>
            <a:off x="1905000" y="2286000"/>
            <a:ext cx="2667000" cy="4572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Substantive </a:t>
            </a:r>
          </a:p>
        </p:txBody>
      </p:sp>
      <p:sp>
        <p:nvSpPr>
          <p:cNvPr id="21" name="Rectangle 20"/>
          <p:cNvSpPr/>
          <p:nvPr/>
        </p:nvSpPr>
        <p:spPr>
          <a:xfrm>
            <a:off x="2514600" y="2895600"/>
            <a:ext cx="3505200" cy="304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buFont typeface="Arial" pitchFamily="34" charset="0"/>
              <a:buChar char="•"/>
            </a:pPr>
            <a:r>
              <a:rPr lang="en-US" sz="2400" dirty="0"/>
              <a:t>Legislations</a:t>
            </a:r>
          </a:p>
          <a:p>
            <a:pPr marL="342900" indent="-342900">
              <a:buFont typeface="Arial" pitchFamily="34" charset="0"/>
              <a:buChar char="•"/>
            </a:pPr>
            <a:r>
              <a:rPr lang="en-US" sz="2400" dirty="0"/>
              <a:t>Case Law</a:t>
            </a:r>
          </a:p>
          <a:p>
            <a:pPr marL="342900" indent="-342900">
              <a:buFont typeface="Arial" pitchFamily="34" charset="0"/>
              <a:buChar char="•"/>
            </a:pPr>
            <a:r>
              <a:rPr lang="en-US" sz="2400" dirty="0"/>
              <a:t>Personal Laws</a:t>
            </a:r>
          </a:p>
          <a:p>
            <a:pPr marL="342900" indent="-342900">
              <a:buFont typeface="Arial" pitchFamily="34" charset="0"/>
              <a:buChar char="•"/>
            </a:pPr>
            <a:r>
              <a:rPr lang="en-US" sz="2400" dirty="0"/>
              <a:t>Customs and Practices</a:t>
            </a:r>
          </a:p>
          <a:p>
            <a:pPr marL="342900" indent="-342900">
              <a:buFont typeface="Arial" pitchFamily="34" charset="0"/>
              <a:buChar char="•"/>
            </a:pPr>
            <a:r>
              <a:rPr lang="en-US" sz="2400" dirty="0"/>
              <a:t>International Law</a:t>
            </a:r>
          </a:p>
          <a:p>
            <a:pPr marL="342900" indent="-342900">
              <a:buFont typeface="Arial" pitchFamily="34" charset="0"/>
              <a:buChar char="•"/>
            </a:pPr>
            <a:r>
              <a:rPr lang="en-US" sz="2400" dirty="0"/>
              <a:t>Opinion </a:t>
            </a:r>
            <a:r>
              <a:rPr lang="en-US" sz="2400"/>
              <a:t>of Writers</a:t>
            </a:r>
            <a:endParaRPr lang="en-US" sz="2400" dirty="0"/>
          </a:p>
          <a:p>
            <a:pPr marL="342900" indent="-342900">
              <a:buFont typeface="Arial" pitchFamily="34" charset="0"/>
              <a:buChar char="•"/>
            </a:pPr>
            <a:r>
              <a:rPr lang="en-US" sz="2400" dirty="0"/>
              <a:t>Religion</a:t>
            </a:r>
          </a:p>
          <a:p>
            <a:pPr marL="342900" indent="-342900">
              <a:buFont typeface="Arial" pitchFamily="34" charset="0"/>
              <a:buChar char="•"/>
            </a:pPr>
            <a:r>
              <a:rPr lang="en-US" sz="2400" dirty="0"/>
              <a:t>Equity</a:t>
            </a:r>
          </a:p>
        </p:txBody>
      </p:sp>
      <p:sp>
        <p:nvSpPr>
          <p:cNvPr id="22" name="Rectangle 21"/>
          <p:cNvSpPr/>
          <p:nvPr/>
        </p:nvSpPr>
        <p:spPr>
          <a:xfrm>
            <a:off x="6781800" y="3200400"/>
            <a:ext cx="3810000" cy="16002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itchFamily="34" charset="0"/>
              <a:buChar char="•"/>
            </a:pPr>
            <a:r>
              <a:rPr lang="en-US" sz="2000" dirty="0"/>
              <a:t>Code of Criminal Procedure Act</a:t>
            </a:r>
          </a:p>
          <a:p>
            <a:pPr marL="285750" indent="-285750">
              <a:buFont typeface="Arial" pitchFamily="34" charset="0"/>
              <a:buChar char="•"/>
            </a:pPr>
            <a:r>
              <a:rPr lang="en-US" sz="2000" dirty="0"/>
              <a:t>Code of Civil Procedure Act</a:t>
            </a:r>
          </a:p>
          <a:p>
            <a:pPr marL="285750" indent="-285750">
              <a:buFont typeface="Arial" pitchFamily="34" charset="0"/>
              <a:buChar char="•"/>
            </a:pPr>
            <a:r>
              <a:rPr lang="en-US" sz="2000" dirty="0"/>
              <a:t>Penal Code</a:t>
            </a:r>
          </a:p>
        </p:txBody>
      </p:sp>
      <p:cxnSp>
        <p:nvCxnSpPr>
          <p:cNvPr id="5" name="Straight Connector 4">
            <a:extLst>
              <a:ext uri="{FF2B5EF4-FFF2-40B4-BE49-F238E27FC236}">
                <a16:creationId xmlns:a16="http://schemas.microsoft.com/office/drawing/2014/main" xmlns="" id="{B03902F9-7354-9E17-B477-B6A764999245}"/>
              </a:ext>
            </a:extLst>
          </p:cNvPr>
          <p:cNvCxnSpPr>
            <a:cxnSpLocks/>
          </p:cNvCxnSpPr>
          <p:nvPr/>
        </p:nvCxnSpPr>
        <p:spPr>
          <a:xfrm flipH="1">
            <a:off x="7162800" y="990600"/>
            <a:ext cx="2514600" cy="4953000"/>
          </a:xfrm>
          <a:prstGeom prst="line">
            <a:avLst/>
          </a:prstGeom>
          <a:ln>
            <a:prstDash val="dash"/>
          </a:ln>
        </p:spPr>
        <p:style>
          <a:lnRef idx="3">
            <a:schemeClr val="accent2"/>
          </a:lnRef>
          <a:fillRef idx="0">
            <a:schemeClr val="accent2"/>
          </a:fillRef>
          <a:effectRef idx="2">
            <a:schemeClr val="accent2"/>
          </a:effectRef>
          <a:fontRef idx="minor">
            <a:schemeClr val="tx1"/>
          </a:fontRef>
        </p:style>
      </p:cxnSp>
      <p:sp>
        <p:nvSpPr>
          <p:cNvPr id="4" name="Rectangle 3"/>
          <p:cNvSpPr/>
          <p:nvPr/>
        </p:nvSpPr>
        <p:spPr>
          <a:xfrm>
            <a:off x="4724401" y="651167"/>
            <a:ext cx="2840182" cy="45027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Sources of Law</a:t>
            </a:r>
          </a:p>
        </p:txBody>
      </p:sp>
    </p:spTree>
    <p:extLst>
      <p:ext uri="{BB962C8B-B14F-4D97-AF65-F5344CB8AC3E}">
        <p14:creationId xmlns:p14="http://schemas.microsoft.com/office/powerpoint/2010/main" val="2946040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Sources of Law</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b="1" dirty="0" smtClean="0">
                <a:latin typeface="Times New Roman" panose="02020603050405020304" pitchFamily="18" charset="0"/>
                <a:cs typeface="Times New Roman" panose="02020603050405020304" pitchFamily="18" charset="0"/>
              </a:rPr>
              <a:t>Legislations</a:t>
            </a:r>
            <a:endParaRPr lang="en-US" b="1" dirty="0">
              <a:latin typeface="Times New Roman" panose="02020603050405020304" pitchFamily="18" charset="0"/>
              <a:cs typeface="Times New Roman" panose="02020603050405020304" pitchFamily="18" charset="0"/>
            </a:endParaRPr>
          </a:p>
          <a:p>
            <a:pPr marL="0" indent="0" algn="just">
              <a:buNone/>
            </a:pPr>
            <a:endParaRPr lang="en-US" b="1"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In most of the countries the law making authority is vested the Parliament. Therefore, the laws passed by the Parliament are generally known as Legislations/ Statutes.</a:t>
            </a: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Ordinance</a:t>
            </a:r>
          </a:p>
          <a:p>
            <a:pPr marL="0" indent="0" algn="just">
              <a:buNone/>
            </a:pPr>
            <a:r>
              <a:rPr lang="en-US" dirty="0" smtClean="0">
                <a:latin typeface="Times New Roman" panose="02020603050405020304" pitchFamily="18" charset="0"/>
                <a:cs typeface="Times New Roman" panose="02020603050405020304" pitchFamily="18" charset="0"/>
              </a:rPr>
              <a:t>Acts</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***Constitution is also a Legislation</a:t>
            </a:r>
          </a:p>
        </p:txBody>
      </p:sp>
    </p:spTree>
    <p:extLst>
      <p:ext uri="{BB962C8B-B14F-4D97-AF65-F5344CB8AC3E}">
        <p14:creationId xmlns:p14="http://schemas.microsoft.com/office/powerpoint/2010/main" val="38961695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Sources of Law</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b="1" dirty="0" smtClean="0">
                <a:latin typeface="Times New Roman" panose="02020603050405020304" pitchFamily="18" charset="0"/>
                <a:cs typeface="Times New Roman" panose="02020603050405020304" pitchFamily="18" charset="0"/>
              </a:rPr>
              <a:t>Legislations</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Acts</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Shop &amp; Office Employees Act No. 19 of 1954</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Banking Act No. 30 of 1988</a:t>
            </a:r>
          </a:p>
          <a:p>
            <a:pPr marL="0" indent="0" algn="just">
              <a:buNone/>
            </a:pPr>
            <a:r>
              <a:rPr lang="en-US" dirty="0" smtClean="0">
                <a:latin typeface="Times New Roman" panose="02020603050405020304" pitchFamily="18" charset="0"/>
                <a:cs typeface="Times New Roman" panose="02020603050405020304" pitchFamily="18" charset="0"/>
              </a:rPr>
              <a:t>Ordinances</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Factories Ordinance No. 45 of 1942</a:t>
            </a:r>
          </a:p>
          <a:p>
            <a:pPr marL="0" indent="0" algn="just">
              <a:buNone/>
            </a:pPr>
            <a:r>
              <a:rPr lang="en-US" dirty="0" smtClean="0">
                <a:latin typeface="Times New Roman" panose="02020603050405020304" pitchFamily="18" charset="0"/>
                <a:cs typeface="Times New Roman" panose="02020603050405020304" pitchFamily="18" charset="0"/>
              </a:rPr>
              <a:t>	Police Ordinance No. 16 of 1865</a:t>
            </a:r>
          </a:p>
        </p:txBody>
      </p:sp>
    </p:spTree>
    <p:extLst>
      <p:ext uri="{BB962C8B-B14F-4D97-AF65-F5344CB8AC3E}">
        <p14:creationId xmlns:p14="http://schemas.microsoft.com/office/powerpoint/2010/main" val="199787359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Sources of Law</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marL="0" indent="0" algn="just">
              <a:buNone/>
            </a:pPr>
            <a:r>
              <a:rPr lang="en-US" b="1" dirty="0" smtClean="0">
                <a:latin typeface="Times New Roman" panose="02020603050405020304" pitchFamily="18" charset="0"/>
                <a:cs typeface="Times New Roman" panose="02020603050405020304" pitchFamily="18" charset="0"/>
              </a:rPr>
              <a:t>Case Law</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Case law, also known as </a:t>
            </a:r>
            <a:r>
              <a:rPr lang="en-US" dirty="0" smtClean="0">
                <a:latin typeface="Times New Roman" panose="02020603050405020304" pitchFamily="18" charset="0"/>
                <a:cs typeface="Times New Roman" panose="02020603050405020304" pitchFamily="18" charset="0"/>
              </a:rPr>
              <a:t>Judicial Precedent, </a:t>
            </a:r>
            <a:r>
              <a:rPr lang="en-US" dirty="0">
                <a:latin typeface="Times New Roman" panose="02020603050405020304" pitchFamily="18" charset="0"/>
                <a:cs typeface="Times New Roman" panose="02020603050405020304" pitchFamily="18" charset="0"/>
              </a:rPr>
              <a:t>refers to the body of law derived from judicial decisions, rather than from </a:t>
            </a:r>
            <a:r>
              <a:rPr lang="en-US" dirty="0" smtClean="0">
                <a:latin typeface="Times New Roman" panose="02020603050405020304" pitchFamily="18" charset="0"/>
                <a:cs typeface="Times New Roman" panose="02020603050405020304" pitchFamily="18" charset="0"/>
              </a:rPr>
              <a:t>legislations/ statutes </a:t>
            </a:r>
            <a:r>
              <a:rPr lang="en-US" dirty="0">
                <a:latin typeface="Times New Roman" panose="02020603050405020304" pitchFamily="18" charset="0"/>
                <a:cs typeface="Times New Roman" panose="02020603050405020304" pitchFamily="18" charset="0"/>
              </a:rPr>
              <a:t>or constitutions.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It’s </a:t>
            </a:r>
            <a:r>
              <a:rPr lang="en-US" dirty="0">
                <a:latin typeface="Times New Roman" panose="02020603050405020304" pitchFamily="18" charset="0"/>
                <a:cs typeface="Times New Roman" panose="02020603050405020304" pitchFamily="18" charset="0"/>
              </a:rPr>
              <a:t>based on the principle of stare </a:t>
            </a:r>
            <a:r>
              <a:rPr lang="en-US" dirty="0" smtClean="0">
                <a:latin typeface="Times New Roman" panose="02020603050405020304" pitchFamily="18" charset="0"/>
                <a:cs typeface="Times New Roman" panose="02020603050405020304" pitchFamily="18" charset="0"/>
              </a:rPr>
              <a:t>decisis/ Judicial Precedent, </a:t>
            </a:r>
            <a:r>
              <a:rPr lang="en-US" dirty="0">
                <a:latin typeface="Times New Roman" panose="02020603050405020304" pitchFamily="18" charset="0"/>
                <a:cs typeface="Times New Roman" panose="02020603050405020304" pitchFamily="18" charset="0"/>
              </a:rPr>
              <a:t>where courts follow precedents set by prior rulings in similar cases.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creates a system where past legal interpretations guide future decisions, ensuring consistency and predictability in the application of law. </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84578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Sources of Law</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b="1" dirty="0" smtClean="0">
                <a:latin typeface="Times New Roman" panose="02020603050405020304" pitchFamily="18" charset="0"/>
                <a:cs typeface="Times New Roman" panose="02020603050405020304" pitchFamily="18" charset="0"/>
              </a:rPr>
              <a:t>Case Law</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err="1">
                <a:latin typeface="Times New Roman" panose="02020603050405020304" pitchFamily="18" charset="0"/>
                <a:cs typeface="Times New Roman" panose="02020603050405020304" pitchFamily="18" charset="0"/>
              </a:rPr>
              <a:t>Premalal</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vs. </a:t>
            </a:r>
            <a:r>
              <a:rPr lang="en-US" dirty="0">
                <a:latin typeface="Times New Roman" panose="02020603050405020304" pitchFamily="18" charset="0"/>
                <a:cs typeface="Times New Roman" panose="02020603050405020304" pitchFamily="18" charset="0"/>
              </a:rPr>
              <a:t>Attorney General [2000] 2 SLR 403 </a:t>
            </a:r>
            <a:endParaRPr lang="en-US" dirty="0" smtClean="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 Attorney General v. A.E. Reid [67 NLR 025</a:t>
            </a:r>
            <a:r>
              <a:rPr lang="en-US" dirty="0" smtClean="0">
                <a:latin typeface="Times New Roman" panose="02020603050405020304" pitchFamily="18" charset="0"/>
                <a:cs typeface="Times New Roman" panose="02020603050405020304" pitchFamily="18" charset="0"/>
              </a:rPr>
              <a:t>]</a:t>
            </a:r>
          </a:p>
          <a:p>
            <a:pPr marL="0" indent="0" algn="just">
              <a:buNone/>
            </a:pPr>
            <a:r>
              <a:rPr lang="en-US" dirty="0" smtClean="0">
                <a:latin typeface="Times New Roman" panose="02020603050405020304" pitchFamily="18" charset="0"/>
                <a:cs typeface="Times New Roman" panose="02020603050405020304" pitchFamily="18" charset="0"/>
              </a:rPr>
              <a:t>Natalie </a:t>
            </a:r>
            <a:r>
              <a:rPr lang="en-US" dirty="0" err="1" smtClean="0">
                <a:latin typeface="Times New Roman" panose="02020603050405020304" pitchFamily="18" charset="0"/>
                <a:cs typeface="Times New Roman" panose="02020603050405020304" pitchFamily="18" charset="0"/>
              </a:rPr>
              <a:t>Abeysundere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v. Christopher </a:t>
            </a:r>
            <a:r>
              <a:rPr lang="en-US" dirty="0" err="1">
                <a:latin typeface="Times New Roman" panose="02020603050405020304" pitchFamily="18" charset="0"/>
                <a:cs typeface="Times New Roman" panose="02020603050405020304" pitchFamily="18" charset="0"/>
              </a:rPr>
              <a:t>Abeysundere</a:t>
            </a:r>
            <a:r>
              <a:rPr lang="en-US" dirty="0">
                <a:latin typeface="Times New Roman" panose="02020603050405020304" pitchFamily="18" charset="0"/>
                <a:cs typeface="Times New Roman" panose="02020603050405020304" pitchFamily="18" charset="0"/>
              </a:rPr>
              <a:t> and Another </a:t>
            </a:r>
            <a:r>
              <a:rPr lang="en-US" dirty="0" smtClean="0">
                <a:latin typeface="Times New Roman" panose="02020603050405020304" pitchFamily="18" charset="0"/>
                <a:cs typeface="Times New Roman" panose="02020603050405020304" pitchFamily="18" charset="0"/>
              </a:rPr>
              <a:t>1998 </a:t>
            </a:r>
            <a:r>
              <a:rPr lang="en-US" dirty="0">
                <a:latin typeface="Times New Roman" panose="02020603050405020304" pitchFamily="18" charset="0"/>
                <a:cs typeface="Times New Roman" panose="02020603050405020304" pitchFamily="18" charset="0"/>
              </a:rPr>
              <a:t>(1) SLR 185</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01646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Sources of Law</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b="1" dirty="0" smtClean="0">
                <a:latin typeface="Times New Roman" panose="02020603050405020304" pitchFamily="18" charset="0"/>
                <a:cs typeface="Times New Roman" panose="02020603050405020304" pitchFamily="18" charset="0"/>
              </a:rPr>
              <a:t>Customs and Practices</a:t>
            </a:r>
            <a:endParaRPr lang="en-US" b="1" dirty="0">
              <a:latin typeface="Times New Roman" panose="02020603050405020304" pitchFamily="18" charset="0"/>
              <a:cs typeface="Times New Roman" panose="02020603050405020304" pitchFamily="18" charset="0"/>
            </a:endParaRPr>
          </a:p>
          <a:p>
            <a:pPr marL="0" indent="0" algn="just">
              <a:buNone/>
            </a:pPr>
            <a:endParaRPr lang="en-US" b="1" dirty="0" smtClean="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Customs and practices are the things people do regularly, often without needing to be told, and that are widely accepted within a particular group. </a:t>
            </a:r>
            <a:endParaRPr lang="en-US" dirty="0" smtClean="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They are often unwritten rules, but their consistent application and general acceptance give them force. </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126547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Sources of Law</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b="1" dirty="0" smtClean="0">
                <a:latin typeface="Times New Roman" panose="02020603050405020304" pitchFamily="18" charset="0"/>
                <a:cs typeface="Times New Roman" panose="02020603050405020304" pitchFamily="18" charset="0"/>
              </a:rPr>
              <a:t>Customs and Practices</a:t>
            </a:r>
            <a:endParaRPr lang="en-US" b="1" dirty="0">
              <a:latin typeface="Times New Roman" panose="02020603050405020304" pitchFamily="18" charset="0"/>
              <a:cs typeface="Times New Roman" panose="02020603050405020304" pitchFamily="18" charset="0"/>
            </a:endParaRPr>
          </a:p>
          <a:p>
            <a:pPr marL="0" indent="0" algn="just">
              <a:buNone/>
            </a:pPr>
            <a:endParaRPr lang="en-US" b="1"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Cultural Customs</a:t>
            </a:r>
          </a:p>
          <a:p>
            <a:pPr marL="0" indent="0" algn="just">
              <a:buNone/>
            </a:pPr>
            <a:r>
              <a:rPr lang="en-US" dirty="0" smtClean="0">
                <a:latin typeface="Times New Roman" panose="02020603050405020304" pitchFamily="18" charset="0"/>
                <a:cs typeface="Times New Roman" panose="02020603050405020304" pitchFamily="18" charset="0"/>
              </a:rPr>
              <a:t>Religious Customs</a:t>
            </a:r>
          </a:p>
          <a:p>
            <a:pPr marL="0" indent="0" algn="just">
              <a:buNone/>
            </a:pPr>
            <a:r>
              <a:rPr lang="en-US" dirty="0" smtClean="0">
                <a:latin typeface="Times New Roman" panose="02020603050405020304" pitchFamily="18" charset="0"/>
                <a:cs typeface="Times New Roman" panose="02020603050405020304" pitchFamily="18" charset="0"/>
              </a:rPr>
              <a:t>Customs of Specific Groups</a:t>
            </a:r>
          </a:p>
        </p:txBody>
      </p:sp>
    </p:spTree>
    <p:extLst>
      <p:ext uri="{BB962C8B-B14F-4D97-AF65-F5344CB8AC3E}">
        <p14:creationId xmlns:p14="http://schemas.microsoft.com/office/powerpoint/2010/main" val="126601831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Sources of Law</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b="1" dirty="0" smtClean="0">
                <a:latin typeface="Times New Roman" panose="02020603050405020304" pitchFamily="18" charset="0"/>
                <a:cs typeface="Times New Roman" panose="02020603050405020304" pitchFamily="18" charset="0"/>
              </a:rPr>
              <a:t>International Law</a:t>
            </a:r>
          </a:p>
          <a:p>
            <a:pPr marL="0" indent="0" algn="just">
              <a:buNone/>
            </a:pPr>
            <a:endParaRPr lang="en-US" b="1"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International law, also known as public international law or the law of nations, is a set of rules, norms, and standards that govern the relationships between sovereign states and other international actors. </a:t>
            </a:r>
            <a:endParaRPr lang="en-US" dirty="0" smtClean="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encompasses a wide range of issues, including human rights, international peace and security, trade, and environmental protection. </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606268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Sources of Law</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b="1" dirty="0" smtClean="0">
                <a:latin typeface="Times New Roman" panose="02020603050405020304" pitchFamily="18" charset="0"/>
                <a:cs typeface="Times New Roman" panose="02020603050405020304" pitchFamily="18" charset="0"/>
              </a:rPr>
              <a:t>International Law</a:t>
            </a:r>
          </a:p>
          <a:p>
            <a:pPr marL="0" indent="0" algn="just">
              <a:buNone/>
            </a:pPr>
            <a:endParaRPr lang="en-US" b="1"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Monism</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Dualism</a:t>
            </a:r>
          </a:p>
        </p:txBody>
      </p:sp>
    </p:spTree>
    <p:extLst>
      <p:ext uri="{BB962C8B-B14F-4D97-AF65-F5344CB8AC3E}">
        <p14:creationId xmlns:p14="http://schemas.microsoft.com/office/powerpoint/2010/main" val="20793199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Sources of Law</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b="1" dirty="0" smtClean="0">
                <a:latin typeface="Times New Roman" panose="02020603050405020304" pitchFamily="18" charset="0"/>
                <a:cs typeface="Times New Roman" panose="02020603050405020304" pitchFamily="18" charset="0"/>
              </a:rPr>
              <a:t>International Law</a:t>
            </a:r>
          </a:p>
          <a:p>
            <a:pPr marL="0" indent="0" algn="just">
              <a:buNone/>
            </a:pPr>
            <a:endParaRPr lang="en-US" b="1" dirty="0" smtClean="0">
              <a:latin typeface="Times New Roman" panose="02020603050405020304" pitchFamily="18" charset="0"/>
              <a:cs typeface="Times New Roman" panose="02020603050405020304" pitchFamily="18" charset="0"/>
            </a:endParaRPr>
          </a:p>
          <a:p>
            <a:pPr marL="0" indent="0" algn="just">
              <a:buNone/>
            </a:pPr>
            <a:r>
              <a:rPr lang="en-US" dirty="0" err="1" smtClean="0">
                <a:latin typeface="Times New Roman" panose="02020603050405020304" pitchFamily="18" charset="0"/>
                <a:cs typeface="Times New Roman" panose="02020603050405020304" pitchFamily="18" charset="0"/>
              </a:rPr>
              <a:t>Sepala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Ekanayake</a:t>
            </a:r>
            <a:r>
              <a:rPr lang="en-US" dirty="0" smtClean="0">
                <a:latin typeface="Times New Roman" panose="02020603050405020304" pitchFamily="18" charset="0"/>
                <a:cs typeface="Times New Roman" panose="02020603050405020304" pitchFamily="18" charset="0"/>
              </a:rPr>
              <a:t> vs. </a:t>
            </a:r>
            <a:r>
              <a:rPr lang="en-US" dirty="0">
                <a:latin typeface="Times New Roman" panose="02020603050405020304" pitchFamily="18" charset="0"/>
                <a:cs typeface="Times New Roman" panose="02020603050405020304" pitchFamily="18" charset="0"/>
              </a:rPr>
              <a:t>Attorney-General(1988 SLR1 46</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err="1" smtClean="0">
                <a:latin typeface="Times New Roman" panose="02020603050405020304" pitchFamily="18" charset="0"/>
                <a:cs typeface="Times New Roman" panose="02020603050405020304" pitchFamily="18" charset="0"/>
              </a:rPr>
              <a:t>Nallaratnam</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Singarasa</a:t>
            </a:r>
            <a:r>
              <a:rPr lang="en-US" dirty="0">
                <a:latin typeface="Times New Roman" panose="02020603050405020304" pitchFamily="18" charset="0"/>
                <a:cs typeface="Times New Roman" panose="02020603050405020304" pitchFamily="18" charset="0"/>
              </a:rPr>
              <a:t> v. Attorney General, S.C. SPL (LA) No.182/1999 (2006)</a:t>
            </a:r>
          </a:p>
        </p:txBody>
      </p:sp>
    </p:spTree>
    <p:extLst>
      <p:ext uri="{BB962C8B-B14F-4D97-AF65-F5344CB8AC3E}">
        <p14:creationId xmlns:p14="http://schemas.microsoft.com/office/powerpoint/2010/main" val="85148985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Sources of Law</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b="1" smtClean="0">
                <a:latin typeface="Times New Roman" panose="02020603050405020304" pitchFamily="18" charset="0"/>
                <a:cs typeface="Times New Roman" panose="02020603050405020304" pitchFamily="18" charset="0"/>
              </a:rPr>
              <a:t>Religion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7241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Any Questions???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89280177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2057</Words>
  <Application>Microsoft Office PowerPoint</Application>
  <PresentationFormat>Widescreen</PresentationFormat>
  <Paragraphs>380</Paragraphs>
  <Slides>48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Calibri Light</vt:lpstr>
      <vt:lpstr>Times New Roman</vt:lpstr>
      <vt:lpstr>Office Theme</vt:lpstr>
      <vt:lpstr>An Introduction to the Legal Systems of Sri Lanka</vt:lpstr>
      <vt:lpstr>Main Segments</vt:lpstr>
      <vt:lpstr>What is Law ?</vt:lpstr>
      <vt:lpstr>What are Rules?</vt:lpstr>
      <vt:lpstr>Legal System of Sri Lanka</vt:lpstr>
      <vt:lpstr>Legal System of Sri Lanka</vt:lpstr>
      <vt:lpstr>Legal System of Sri Lanka</vt:lpstr>
      <vt:lpstr>Legal System of Sri Lanka</vt:lpstr>
      <vt:lpstr>Legal System of Sri Lanka</vt:lpstr>
      <vt:lpstr>Legal System of Sri Lanka</vt:lpstr>
      <vt:lpstr>Legal System of Sri Lanka</vt:lpstr>
      <vt:lpstr>Legal System of Sri Lanka</vt:lpstr>
      <vt:lpstr>Legal System of Sri Lanka</vt:lpstr>
      <vt:lpstr>Legal System of Sri Lanka</vt:lpstr>
      <vt:lpstr>Legal System of Sri Lanka</vt:lpstr>
      <vt:lpstr>Legal System of Sri Lanka</vt:lpstr>
      <vt:lpstr>Legal System of Sri Lanka</vt:lpstr>
      <vt:lpstr>Legal System of Sri Lanka</vt:lpstr>
      <vt:lpstr>Legal System of Sri Lanka</vt:lpstr>
      <vt:lpstr>Legal System of Sri Lanka</vt:lpstr>
      <vt:lpstr>Legal System of Sri Lanka</vt:lpstr>
      <vt:lpstr>Supreme Law of Sri Lanka</vt:lpstr>
      <vt:lpstr>Supreme Law of Sri Lanka</vt:lpstr>
      <vt:lpstr>Supreme Law of Sri Lanka</vt:lpstr>
      <vt:lpstr>Supreme Law of Sri Lanka</vt:lpstr>
      <vt:lpstr>Supreme Law of Sri Lanka</vt:lpstr>
      <vt:lpstr>Supreme Law of Sri Lanka</vt:lpstr>
      <vt:lpstr>Supreme Law of Sri Lanka</vt:lpstr>
      <vt:lpstr>Supreme Law of Sri Lanka</vt:lpstr>
      <vt:lpstr>Supreme Law of Sri Lanka</vt:lpstr>
      <vt:lpstr>Supreme Law of Sri Lanka</vt:lpstr>
      <vt:lpstr>Supreme Law of Sri Lanka</vt:lpstr>
      <vt:lpstr>Supreme Law of Sri Lanka</vt:lpstr>
      <vt:lpstr>Supreme Law of Sri Lanka</vt:lpstr>
      <vt:lpstr>PowerPoint Presentation</vt:lpstr>
      <vt:lpstr>Court Hierarchy of Sri Lanka</vt:lpstr>
      <vt:lpstr>PowerPoint Presentation</vt:lpstr>
      <vt:lpstr>Sources of Law</vt:lpstr>
      <vt:lpstr>Sources of Law</vt:lpstr>
      <vt:lpstr>Sources of Law</vt:lpstr>
      <vt:lpstr>Sources of Law</vt:lpstr>
      <vt:lpstr>Sources of Law</vt:lpstr>
      <vt:lpstr>Sources of Law</vt:lpstr>
      <vt:lpstr>Sources of Law</vt:lpstr>
      <vt:lpstr>Sources of Law</vt:lpstr>
      <vt:lpstr>Sources of Law</vt:lpstr>
      <vt:lpstr>Sources of Law</vt:lpstr>
      <vt:lpstr>Any Questions???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Piumal Fernando</dc:creator>
  <cp:lastModifiedBy>Piumal Fernando</cp:lastModifiedBy>
  <cp:revision>50</cp:revision>
  <dcterms:created xsi:type="dcterms:W3CDTF">2025-03-13T06:34:42Z</dcterms:created>
  <dcterms:modified xsi:type="dcterms:W3CDTF">2025-07-29T14:41:03Z</dcterms:modified>
</cp:coreProperties>
</file>