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889A9C-96BE-4C3F-B34F-43D602FE4A32}" type="datetimeFigureOut">
              <a:rPr lang="en-US" smtClean="0"/>
              <a:t>7/29/2025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5C2F28C-5F17-41FE-8DB9-608FD165BBD7}" type="slidenum">
              <a:rPr lang="en-US" smtClean="0"/>
              <a:t>‹#›</a:t>
            </a:fld>
            <a:endParaRPr lang="en-US"/>
          </a:p>
        </p:txBody>
      </p:sp>
    </p:spTree>
    <p:extLst>
      <p:ext uri="{BB962C8B-B14F-4D97-AF65-F5344CB8AC3E}">
        <p14:creationId xmlns:p14="http://schemas.microsoft.com/office/powerpoint/2010/main" val="2430466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72D98A2-ECFD-4A51-AAAA-CF79D5668030}" type="slidenum">
              <a:rPr lang="en-US" smtClean="0"/>
              <a:t>42</a:t>
            </a:fld>
            <a:endParaRPr lang="en-US"/>
          </a:p>
        </p:txBody>
      </p:sp>
    </p:spTree>
    <p:extLst>
      <p:ext uri="{BB962C8B-B14F-4D97-AF65-F5344CB8AC3E}">
        <p14:creationId xmlns:p14="http://schemas.microsoft.com/office/powerpoint/2010/main" val="3704726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6235082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1162207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770237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01563F8-EF3B-4F36-ACB0-00E4FCC42EF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4223321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01563F8-EF3B-4F36-ACB0-00E4FCC42EF4}" type="datetimeFigureOut">
              <a:rPr lang="en-US" smtClean="0"/>
              <a:t>7/29/2025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464595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01563F8-EF3B-4F36-ACB0-00E4FCC42EF4}" type="datetimeFigureOut">
              <a:rPr lang="en-US" smtClean="0"/>
              <a:t>7/29/2025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15837267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1563F8-EF3B-4F36-ACB0-00E4FCC42EF4}" type="datetimeFigureOut">
              <a:rPr lang="en-US" smtClean="0"/>
              <a:t>7/29/2025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148080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1563F8-EF3B-4F36-ACB0-00E4FCC42EF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3387707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01563F8-EF3B-4F36-ACB0-00E4FCC42EF4}" type="datetimeFigureOut">
              <a:rPr lang="en-US" smtClean="0"/>
              <a:t>7/29/2025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2512988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1836388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01563F8-EF3B-4F36-ACB0-00E4FCC42EF4}" type="datetimeFigureOut">
              <a:rPr lang="en-US" smtClean="0"/>
              <a:t>7/29/2025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6CC5A40-029A-4E7E-BFFD-F9D1A2A30718}" type="slidenum">
              <a:rPr lang="en-US" smtClean="0"/>
              <a:t>‹#›</a:t>
            </a:fld>
            <a:endParaRPr lang="en-US"/>
          </a:p>
        </p:txBody>
      </p:sp>
    </p:spTree>
    <p:extLst>
      <p:ext uri="{BB962C8B-B14F-4D97-AF65-F5344CB8AC3E}">
        <p14:creationId xmlns:p14="http://schemas.microsoft.com/office/powerpoint/2010/main" val="30624313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1563F8-EF3B-4F36-ACB0-00E4FCC42EF4}" type="datetimeFigureOut">
              <a:rPr lang="en-US" smtClean="0"/>
              <a:t>7/29/2025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CC5A40-029A-4E7E-BFFD-F9D1A2A30718}" type="slidenum">
              <a:rPr lang="en-US" smtClean="0"/>
              <a:t>‹#›</a:t>
            </a:fld>
            <a:endParaRPr lang="en-US"/>
          </a:p>
        </p:txBody>
      </p:sp>
    </p:spTree>
    <p:extLst>
      <p:ext uri="{BB962C8B-B14F-4D97-AF65-F5344CB8AC3E}">
        <p14:creationId xmlns:p14="http://schemas.microsoft.com/office/powerpoint/2010/main" val="2609179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lawteacher.net/cases/storer-v-mcc-1974.php"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lawteacher.net/cases/pharmaceutical-society-v-boots.php"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lawteacher.net/cases/pharmaceutical-society-v-boots.php"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lawteacher.net/cases/fisher-v-bell.php"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www.lawteacher.net/cases/fisher-v-bell.php" TargetMode="External"/><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23.xml.rels><?xml version="1.0" encoding="UTF-8" standalone="yes"?>
<Relationships xmlns="http://schemas.openxmlformats.org/package/2006/relationships"><Relationship Id="rId2" Type="http://schemas.openxmlformats.org/officeDocument/2006/relationships/hyperlink" Target="https://www.lawteacher.net/cases/partridge-v-crittenden.php"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lawteacher.net/cases/partridge-v-crittenden.php"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lawteacher.net/cases/partridge-v-crittenden.php"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5527" y="484905"/>
            <a:ext cx="11790218" cy="1316186"/>
          </a:xfrm>
        </p:spPr>
        <p:txBody>
          <a:bodyPr>
            <a:normAutofit/>
          </a:bodyPr>
          <a:lstStyle/>
          <a:p>
            <a:r>
              <a:rPr lang="en-US" b="1" dirty="0" smtClean="0">
                <a:latin typeface="Times New Roman" panose="02020603050405020304" pitchFamily="18" charset="0"/>
                <a:cs typeface="Times New Roman" panose="02020603050405020304" pitchFamily="18" charset="0"/>
              </a:rPr>
              <a:t>Law of Contract</a:t>
            </a:r>
            <a:endParaRPr lang="en-US" b="1"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172691"/>
            <a:ext cx="9144000" cy="3463639"/>
          </a:xfrm>
        </p:spPr>
        <p:txBody>
          <a:bodyPr>
            <a:normAutofit/>
          </a:bodyPr>
          <a:lstStyle/>
          <a:p>
            <a:r>
              <a:rPr lang="en-US" sz="4000" b="1" dirty="0" smtClean="0">
                <a:latin typeface="Times New Roman" panose="02020603050405020304" pitchFamily="18" charset="0"/>
                <a:cs typeface="Times New Roman" panose="02020603050405020304" pitchFamily="18" charset="0"/>
              </a:rPr>
              <a:t>S. Piumal Fernando </a:t>
            </a:r>
            <a:r>
              <a:rPr lang="en-US" b="1" dirty="0" smtClean="0">
                <a:latin typeface="Times New Roman" panose="02020603050405020304" pitchFamily="18" charset="0"/>
                <a:cs typeface="Times New Roman" panose="02020603050405020304" pitchFamily="18" charset="0"/>
              </a:rPr>
              <a:t>(LL. M, LL. B)</a:t>
            </a:r>
          </a:p>
          <a:p>
            <a:r>
              <a:rPr lang="en-US" sz="2000" b="1" dirty="0" smtClean="0">
                <a:latin typeface="Times New Roman" panose="02020603050405020304" pitchFamily="18" charset="0"/>
                <a:cs typeface="Times New Roman" panose="02020603050405020304" pitchFamily="18" charset="0"/>
              </a:rPr>
              <a:t>Ph. D (Reading) University of Peradeniya</a:t>
            </a:r>
          </a:p>
          <a:p>
            <a:r>
              <a:rPr lang="en-US" b="1" dirty="0" smtClean="0">
                <a:latin typeface="Times New Roman" panose="02020603050405020304" pitchFamily="18" charset="0"/>
                <a:cs typeface="Times New Roman" panose="02020603050405020304" pitchFamily="18" charset="0"/>
              </a:rPr>
              <a:t>Diploma in Forensic Medicine</a:t>
            </a:r>
          </a:p>
          <a:p>
            <a:r>
              <a:rPr lang="en-US" sz="3200" b="1" i="1" dirty="0" smtClean="0">
                <a:latin typeface="Times New Roman" panose="02020603050405020304" pitchFamily="18" charset="0"/>
                <a:cs typeface="Times New Roman" panose="02020603050405020304" pitchFamily="18" charset="0"/>
              </a:rPr>
              <a:t>Attorney-at-Law</a:t>
            </a:r>
          </a:p>
          <a:p>
            <a:r>
              <a:rPr lang="en-US" sz="2800" b="1" dirty="0">
                <a:latin typeface="Times New Roman" panose="02020603050405020304" pitchFamily="18" charset="0"/>
                <a:cs typeface="Times New Roman" panose="02020603050405020304" pitchFamily="18" charset="0"/>
              </a:rPr>
              <a:t>Senior Lecturer &amp; Examiner – Sri Lanka Law </a:t>
            </a:r>
            <a:r>
              <a:rPr lang="en-US" sz="2800" b="1" dirty="0" smtClean="0">
                <a:latin typeface="Times New Roman" panose="02020603050405020304" pitchFamily="18" charset="0"/>
                <a:cs typeface="Times New Roman" panose="02020603050405020304" pitchFamily="18" charset="0"/>
              </a:rPr>
              <a:t>College</a:t>
            </a:r>
          </a:p>
          <a:p>
            <a:r>
              <a:rPr lang="en-US" sz="2000" b="1" dirty="0" smtClean="0">
                <a:latin typeface="Times New Roman" panose="02020603050405020304" pitchFamily="18" charset="0"/>
                <a:cs typeface="Times New Roman" panose="02020603050405020304" pitchFamily="18" charset="0"/>
              </a:rPr>
              <a:t>Notary Public| Company Secretary| Commissioner for Oaths|</a:t>
            </a:r>
          </a:p>
          <a:p>
            <a:r>
              <a:rPr lang="en-US" sz="2000" b="1" dirty="0" smtClean="0">
                <a:latin typeface="Times New Roman" panose="02020603050405020304" pitchFamily="18" charset="0"/>
                <a:cs typeface="Times New Roman" panose="02020603050405020304" pitchFamily="18" charset="0"/>
              </a:rPr>
              <a:t>Former Registered Agent at National Intellectual </a:t>
            </a:r>
            <a:r>
              <a:rPr lang="en-US" sz="2000" b="1" dirty="0">
                <a:latin typeface="Times New Roman" panose="02020603050405020304" pitchFamily="18" charset="0"/>
                <a:cs typeface="Times New Roman" panose="02020603050405020304" pitchFamily="18" charset="0"/>
              </a:rPr>
              <a:t>P</a:t>
            </a:r>
            <a:r>
              <a:rPr lang="en-US" sz="2000" b="1" dirty="0" smtClean="0">
                <a:latin typeface="Times New Roman" panose="02020603050405020304" pitchFamily="18" charset="0"/>
                <a:cs typeface="Times New Roman" panose="02020603050405020304" pitchFamily="18" charset="0"/>
              </a:rPr>
              <a:t>roperty Office</a:t>
            </a:r>
            <a:endParaRPr lang="en-US" sz="1800" b="1" dirty="0" smtClean="0">
              <a:latin typeface="Times New Roman" panose="02020603050405020304" pitchFamily="18" charset="0"/>
              <a:cs typeface="Times New Roman" panose="02020603050405020304" pitchFamily="18" charset="0"/>
            </a:endParaRPr>
          </a:p>
          <a:p>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4183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Definition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A contract is…..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 contract is an agreement between two or more parties that is intended to be legally binding”</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1850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Definition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A contract is…..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 </a:t>
            </a:r>
            <a:r>
              <a:rPr lang="en-US" dirty="0">
                <a:latin typeface="Times New Roman" panose="02020603050405020304" pitchFamily="18" charset="0"/>
                <a:cs typeface="Times New Roman" panose="02020603050405020304" pitchFamily="18" charset="0"/>
              </a:rPr>
              <a:t>contract </a:t>
            </a:r>
            <a:r>
              <a:rPr lang="en-US" dirty="0" smtClean="0">
                <a:latin typeface="Times New Roman" panose="02020603050405020304" pitchFamily="18" charset="0"/>
                <a:cs typeface="Times New Roman" panose="02020603050405020304" pitchFamily="18" charset="0"/>
              </a:rPr>
              <a:t>is a </a:t>
            </a:r>
            <a:r>
              <a:rPr lang="en-US" dirty="0">
                <a:latin typeface="Times New Roman" panose="02020603050405020304" pitchFamily="18" charset="0"/>
                <a:cs typeface="Times New Roman" panose="02020603050405020304" pitchFamily="18" charset="0"/>
              </a:rPr>
              <a:t>legally binding oral or written </a:t>
            </a:r>
            <a:r>
              <a:rPr lang="en-US" dirty="0" smtClean="0">
                <a:latin typeface="Times New Roman" panose="02020603050405020304" pitchFamily="18" charset="0"/>
                <a:cs typeface="Times New Roman" panose="02020603050405020304" pitchFamily="18" charset="0"/>
              </a:rPr>
              <a:t>agreement.</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exchanges any combination of goods, services, money and property.	</a:t>
            </a:r>
            <a:endParaRPr lang="en-US"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1016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Definition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 contract is a</a:t>
            </a:r>
          </a:p>
          <a:p>
            <a:pPr algn="just">
              <a:buFont typeface="Wingdings" pitchFamily="2" charset="2"/>
              <a:buChar char="ü"/>
            </a:pPr>
            <a:r>
              <a:rPr lang="en-US" dirty="0">
                <a:latin typeface="Times New Roman" panose="02020603050405020304" pitchFamily="18" charset="0"/>
                <a:cs typeface="Times New Roman" panose="02020603050405020304" pitchFamily="18" charset="0"/>
              </a:rPr>
              <a:t>Promise or Promises (mutually exchanged)</a:t>
            </a:r>
          </a:p>
          <a:p>
            <a:pPr algn="just">
              <a:buFont typeface="Wingdings" pitchFamily="2" charset="2"/>
              <a:buChar char="ü"/>
            </a:pPr>
            <a:r>
              <a:rPr lang="en-US" dirty="0">
                <a:latin typeface="Times New Roman" panose="02020603050405020304" pitchFamily="18" charset="0"/>
                <a:cs typeface="Times New Roman" panose="02020603050405020304" pitchFamily="18" charset="0"/>
              </a:rPr>
              <a:t>on Duties of performance (mutually agreed)</a:t>
            </a:r>
          </a:p>
          <a:p>
            <a:pPr algn="just">
              <a:buFont typeface="Wingdings" pitchFamily="2" charset="2"/>
              <a:buChar char="ü"/>
            </a:pPr>
            <a:r>
              <a:rPr lang="en-US" dirty="0">
                <a:latin typeface="Times New Roman" panose="02020603050405020304" pitchFamily="18" charset="0"/>
                <a:cs typeface="Times New Roman" panose="02020603050405020304" pitchFamily="18" charset="0"/>
              </a:rPr>
              <a:t>Enforced by Law</a:t>
            </a:r>
          </a:p>
          <a:p>
            <a:pPr algn="just">
              <a:buFont typeface="Wingdings" pitchFamily="2" charset="2"/>
              <a:buChar char="ü"/>
            </a:pPr>
            <a:r>
              <a:rPr lang="en-US" dirty="0">
                <a:latin typeface="Times New Roman" panose="02020603050405020304" pitchFamily="18" charset="0"/>
                <a:cs typeface="Times New Roman" panose="02020603050405020304" pitchFamily="18" charset="0"/>
              </a:rPr>
              <a:t>For the benefit of promisee or promisees or a 3</a:t>
            </a:r>
            <a:r>
              <a:rPr lang="en-US" baseline="30000" dirty="0">
                <a:latin typeface="Times New Roman" panose="02020603050405020304" pitchFamily="18" charset="0"/>
                <a:cs typeface="Times New Roman" panose="02020603050405020304" pitchFamily="18" charset="0"/>
              </a:rPr>
              <a:t>rd</a:t>
            </a:r>
            <a:r>
              <a:rPr lang="en-US" dirty="0">
                <a:latin typeface="Times New Roman" panose="02020603050405020304" pitchFamily="18" charset="0"/>
                <a:cs typeface="Times New Roman" panose="02020603050405020304" pitchFamily="18" charset="0"/>
              </a:rPr>
              <a:t> party</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47853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How a Contract is created</a:t>
            </a:r>
            <a:endParaRPr lang="en-US" dirty="0">
              <a:latin typeface="Times New Roman" panose="02020603050405020304" pitchFamily="18" charset="0"/>
              <a:cs typeface="Times New Roman" panose="02020603050405020304" pitchFamily="18" charset="0"/>
            </a:endParaRPr>
          </a:p>
        </p:txBody>
      </p:sp>
      <p:pic>
        <p:nvPicPr>
          <p:cNvPr id="1026" name="Picture 2" descr="C:\Users\user\Desktop\guy-990359_960_72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66136" y="2209800"/>
            <a:ext cx="901065" cy="25146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user\Desktop\girl.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75132" y="2209801"/>
            <a:ext cx="1411668" cy="2524125"/>
          </a:xfrm>
          <a:prstGeom prst="rect">
            <a:avLst/>
          </a:prstGeom>
          <a:noFill/>
          <a:extLst>
            <a:ext uri="{909E8E84-426E-40DD-AFC4-6F175D3DCCD1}">
              <a14:hiddenFill xmlns:a14="http://schemas.microsoft.com/office/drawing/2010/main">
                <a:solidFill>
                  <a:srgbClr val="FFFFFF"/>
                </a:solidFill>
              </a14:hiddenFill>
            </a:ext>
          </a:extLst>
        </p:spPr>
      </p:pic>
      <p:sp>
        <p:nvSpPr>
          <p:cNvPr id="4" name="Oval Callout 3"/>
          <p:cNvSpPr/>
          <p:nvPr/>
        </p:nvSpPr>
        <p:spPr>
          <a:xfrm>
            <a:off x="3962400" y="1219200"/>
            <a:ext cx="2590800" cy="1447800"/>
          </a:xfrm>
          <a:prstGeom prst="wedgeEllipseCallou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 sell my car for </a:t>
            </a:r>
            <a:r>
              <a:rPr lang="en-US" dirty="0" err="1">
                <a:latin typeface="Times New Roman" panose="02020603050405020304" pitchFamily="18" charset="0"/>
                <a:cs typeface="Times New Roman" panose="02020603050405020304" pitchFamily="18" charset="0"/>
              </a:rPr>
              <a:t>Rs</a:t>
            </a:r>
            <a:r>
              <a:rPr lang="en-US" dirty="0">
                <a:latin typeface="Times New Roman" panose="02020603050405020304" pitchFamily="18" charset="0"/>
                <a:cs typeface="Times New Roman" panose="02020603050405020304" pitchFamily="18" charset="0"/>
              </a:rPr>
              <a:t>. 6,000,000/-</a:t>
            </a:r>
          </a:p>
        </p:txBody>
      </p:sp>
      <p:grpSp>
        <p:nvGrpSpPr>
          <p:cNvPr id="18" name="Group 17"/>
          <p:cNvGrpSpPr/>
          <p:nvPr/>
        </p:nvGrpSpPr>
        <p:grpSpPr>
          <a:xfrm>
            <a:off x="1696110" y="1066800"/>
            <a:ext cx="1981200" cy="1371600"/>
            <a:chOff x="152400" y="1066800"/>
            <a:chExt cx="1981200" cy="1371600"/>
          </a:xfrm>
        </p:grpSpPr>
        <p:sp>
          <p:nvSpPr>
            <p:cNvPr id="5" name="Cloud Callout 4"/>
            <p:cNvSpPr/>
            <p:nvPr/>
          </p:nvSpPr>
          <p:spPr>
            <a:xfrm flipH="1">
              <a:off x="152400" y="1066800"/>
              <a:ext cx="1981200" cy="1371600"/>
            </a:xfrm>
            <a:prstGeom prst="cloudCallout">
              <a:avLst>
                <a:gd name="adj1" fmla="val -40413"/>
                <a:gd name="adj2" fmla="val 61490"/>
              </a:avLst>
            </a:prstGeom>
            <a:no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pic>
          <p:nvPicPr>
            <p:cNvPr id="1028" name="Picture 4" descr="C:\Users\user\Desktop\image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323850" y="1515222"/>
              <a:ext cx="1581150" cy="474756"/>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Oval Callout 5"/>
          <p:cNvSpPr/>
          <p:nvPr/>
        </p:nvSpPr>
        <p:spPr>
          <a:xfrm>
            <a:off x="7980966" y="1447800"/>
            <a:ext cx="2534634" cy="923178"/>
          </a:xfrm>
          <a:prstGeom prst="wedgeEllipse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 pay and buy for </a:t>
            </a:r>
            <a:r>
              <a:rPr lang="en-US" dirty="0" err="1">
                <a:latin typeface="Times New Roman" panose="02020603050405020304" pitchFamily="18" charset="0"/>
                <a:cs typeface="Times New Roman" panose="02020603050405020304" pitchFamily="18" charset="0"/>
              </a:rPr>
              <a:t>Rs</a:t>
            </a:r>
            <a:r>
              <a:rPr lang="en-US" dirty="0">
                <a:latin typeface="Times New Roman" panose="02020603050405020304" pitchFamily="18" charset="0"/>
                <a:cs typeface="Times New Roman" panose="02020603050405020304" pitchFamily="18" charset="0"/>
              </a:rPr>
              <a:t>. 6,000,000/-</a:t>
            </a:r>
          </a:p>
        </p:txBody>
      </p:sp>
      <p:cxnSp>
        <p:nvCxnSpPr>
          <p:cNvPr id="8" name="Straight Arrow Connector 7"/>
          <p:cNvCxnSpPr/>
          <p:nvPr/>
        </p:nvCxnSpPr>
        <p:spPr>
          <a:xfrm>
            <a:off x="4648200" y="3576638"/>
            <a:ext cx="2286000" cy="476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1" name="Rounded Rectangle 10"/>
          <p:cNvSpPr/>
          <p:nvPr/>
        </p:nvSpPr>
        <p:spPr>
          <a:xfrm>
            <a:off x="4953000" y="3124200"/>
            <a:ext cx="1600200" cy="3429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Offer</a:t>
            </a:r>
          </a:p>
        </p:txBody>
      </p:sp>
      <p:sp>
        <p:nvSpPr>
          <p:cNvPr id="16" name="Rounded Rectangle 15"/>
          <p:cNvSpPr/>
          <p:nvPr/>
        </p:nvSpPr>
        <p:spPr>
          <a:xfrm>
            <a:off x="5029200" y="4229100"/>
            <a:ext cx="1600200" cy="3429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Acceptance</a:t>
            </a:r>
          </a:p>
        </p:txBody>
      </p:sp>
      <p:cxnSp>
        <p:nvCxnSpPr>
          <p:cNvPr id="17" name="Straight Arrow Connector 16"/>
          <p:cNvCxnSpPr/>
          <p:nvPr/>
        </p:nvCxnSpPr>
        <p:spPr>
          <a:xfrm flipH="1">
            <a:off x="4648200" y="4038600"/>
            <a:ext cx="2286000" cy="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19" name="Rounded Rectangle 18"/>
          <p:cNvSpPr/>
          <p:nvPr/>
        </p:nvSpPr>
        <p:spPr>
          <a:xfrm>
            <a:off x="1828800" y="3619500"/>
            <a:ext cx="1600200" cy="3429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Offeror</a:t>
            </a:r>
          </a:p>
        </p:txBody>
      </p:sp>
      <p:sp>
        <p:nvSpPr>
          <p:cNvPr id="20" name="Rounded Rectangle 19"/>
          <p:cNvSpPr/>
          <p:nvPr/>
        </p:nvSpPr>
        <p:spPr>
          <a:xfrm>
            <a:off x="8305800" y="3619500"/>
            <a:ext cx="1600200" cy="3429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Offeree</a:t>
            </a:r>
          </a:p>
        </p:txBody>
      </p:sp>
      <p:sp>
        <p:nvSpPr>
          <p:cNvPr id="14" name="Rounded Rectangle 13"/>
          <p:cNvSpPr/>
          <p:nvPr/>
        </p:nvSpPr>
        <p:spPr>
          <a:xfrm>
            <a:off x="4267200" y="5410200"/>
            <a:ext cx="3276600" cy="4572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Consideration</a:t>
            </a:r>
          </a:p>
        </p:txBody>
      </p:sp>
      <p:pic>
        <p:nvPicPr>
          <p:cNvPr id="22" name="Picture 4" descr="C:\Users\user\Desktop\images.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1696110" y="5181600"/>
            <a:ext cx="2342490" cy="838200"/>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0"/>
          <p:cNvGrpSpPr/>
          <p:nvPr/>
        </p:nvGrpSpPr>
        <p:grpSpPr>
          <a:xfrm>
            <a:off x="7780194" y="5347668"/>
            <a:ext cx="2125807" cy="1235191"/>
            <a:chOff x="6256193" y="5347667"/>
            <a:chExt cx="2125807" cy="1235191"/>
          </a:xfrm>
        </p:grpSpPr>
        <p:pic>
          <p:nvPicPr>
            <p:cNvPr id="1029" name="Picture 5" descr="C:\Users\user\Desktop\images (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56193" y="5650859"/>
              <a:ext cx="1135207" cy="51973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5" descr="C:\Users\user\Desktop\images (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7475393" y="5803258"/>
              <a:ext cx="906607" cy="519733"/>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 descr="C:\Users\user\Desktop\images (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70925" y="6063125"/>
              <a:ext cx="1135207" cy="51973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5" descr="C:\Users\user\Desktop\images (1).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55873" y="5347667"/>
              <a:ext cx="1135207" cy="519733"/>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Curved Down Arrow 14"/>
          <p:cNvSpPr/>
          <p:nvPr/>
        </p:nvSpPr>
        <p:spPr>
          <a:xfrm>
            <a:off x="3816668" y="4800601"/>
            <a:ext cx="4164299" cy="547067"/>
          </a:xfrm>
          <a:prstGeom prst="curved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tx1"/>
              </a:solidFill>
            </a:endParaRPr>
          </a:p>
        </p:txBody>
      </p:sp>
      <p:sp>
        <p:nvSpPr>
          <p:cNvPr id="28" name="Curved Down Arrow 27"/>
          <p:cNvSpPr/>
          <p:nvPr/>
        </p:nvSpPr>
        <p:spPr>
          <a:xfrm flipH="1" flipV="1">
            <a:off x="3886200" y="6170592"/>
            <a:ext cx="3893993" cy="458807"/>
          </a:xfrm>
          <a:prstGeom prst="curved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0242327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000"/>
                                        <p:tgtEl>
                                          <p:spTgt spid="1026"/>
                                        </p:tgtEl>
                                      </p:cBhvr>
                                    </p:animEffect>
                                    <p:anim calcmode="lin" valueType="num">
                                      <p:cBhvr>
                                        <p:cTn id="8" dur="1000" fill="hold"/>
                                        <p:tgtEl>
                                          <p:spTgt spid="1026"/>
                                        </p:tgtEl>
                                        <p:attrNameLst>
                                          <p:attrName>ppt_x</p:attrName>
                                        </p:attrNameLst>
                                      </p:cBhvr>
                                      <p:tavLst>
                                        <p:tav tm="0">
                                          <p:val>
                                            <p:strVal val="#ppt_x"/>
                                          </p:val>
                                        </p:tav>
                                        <p:tav tm="100000">
                                          <p:val>
                                            <p:strVal val="#ppt_x"/>
                                          </p:val>
                                        </p:tav>
                                      </p:tavLst>
                                    </p:anim>
                                    <p:anim calcmode="lin" valueType="num">
                                      <p:cBhvr>
                                        <p:cTn id="9"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18"/>
                                        </p:tgtEl>
                                        <p:attrNameLst>
                                          <p:attrName>style.visibility</p:attrName>
                                        </p:attrNameLst>
                                      </p:cBhvr>
                                      <p:to>
                                        <p:strVal val="visible"/>
                                      </p:to>
                                    </p:set>
                                    <p:anim calcmode="lin" valueType="num">
                                      <p:cBhvr>
                                        <p:cTn id="14" dur="1000" fill="hold"/>
                                        <p:tgtEl>
                                          <p:spTgt spid="18"/>
                                        </p:tgtEl>
                                        <p:attrNameLst>
                                          <p:attrName>ppt_w</p:attrName>
                                        </p:attrNameLst>
                                      </p:cBhvr>
                                      <p:tavLst>
                                        <p:tav tm="0">
                                          <p:val>
                                            <p:fltVal val="0"/>
                                          </p:val>
                                        </p:tav>
                                        <p:tav tm="100000">
                                          <p:val>
                                            <p:strVal val="#ppt_w"/>
                                          </p:val>
                                        </p:tav>
                                      </p:tavLst>
                                    </p:anim>
                                    <p:anim calcmode="lin" valueType="num">
                                      <p:cBhvr>
                                        <p:cTn id="15" dur="1000" fill="hold"/>
                                        <p:tgtEl>
                                          <p:spTgt spid="18"/>
                                        </p:tgtEl>
                                        <p:attrNameLst>
                                          <p:attrName>ppt_h</p:attrName>
                                        </p:attrNameLst>
                                      </p:cBhvr>
                                      <p:tavLst>
                                        <p:tav tm="0">
                                          <p:val>
                                            <p:fltVal val="0"/>
                                          </p:val>
                                        </p:tav>
                                        <p:tav tm="100000">
                                          <p:val>
                                            <p:strVal val="#ppt_h"/>
                                          </p:val>
                                        </p:tav>
                                      </p:tavLst>
                                    </p:anim>
                                    <p:anim calcmode="lin" valueType="num">
                                      <p:cBhvr>
                                        <p:cTn id="16" dur="1000" fill="hold"/>
                                        <p:tgtEl>
                                          <p:spTgt spid="18"/>
                                        </p:tgtEl>
                                        <p:attrNameLst>
                                          <p:attrName>style.rotation</p:attrName>
                                        </p:attrNameLst>
                                      </p:cBhvr>
                                      <p:tavLst>
                                        <p:tav tm="0">
                                          <p:val>
                                            <p:fltVal val="90"/>
                                          </p:val>
                                        </p:tav>
                                        <p:tav tm="100000">
                                          <p:val>
                                            <p:fltVal val="0"/>
                                          </p:val>
                                        </p:tav>
                                      </p:tavLst>
                                    </p:anim>
                                    <p:animEffect transition="in" filter="fade">
                                      <p:cBhvr>
                                        <p:cTn id="17" dur="1000"/>
                                        <p:tgtEl>
                                          <p:spTgt spid="18"/>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4"/>
                                        </p:tgtEl>
                                        <p:attrNameLst>
                                          <p:attrName>style.visibility</p:attrName>
                                        </p:attrNameLst>
                                      </p:cBhvr>
                                      <p:to>
                                        <p:strVal val="visible"/>
                                      </p:to>
                                    </p:set>
                                    <p:anim calcmode="lin" valueType="num">
                                      <p:cBhvr>
                                        <p:cTn id="20" dur="1000" fill="hold"/>
                                        <p:tgtEl>
                                          <p:spTgt spid="4"/>
                                        </p:tgtEl>
                                        <p:attrNameLst>
                                          <p:attrName>ppt_w</p:attrName>
                                        </p:attrNameLst>
                                      </p:cBhvr>
                                      <p:tavLst>
                                        <p:tav tm="0">
                                          <p:val>
                                            <p:fltVal val="0"/>
                                          </p:val>
                                        </p:tav>
                                        <p:tav tm="100000">
                                          <p:val>
                                            <p:strVal val="#ppt_w"/>
                                          </p:val>
                                        </p:tav>
                                      </p:tavLst>
                                    </p:anim>
                                    <p:anim calcmode="lin" valueType="num">
                                      <p:cBhvr>
                                        <p:cTn id="21" dur="1000" fill="hold"/>
                                        <p:tgtEl>
                                          <p:spTgt spid="4"/>
                                        </p:tgtEl>
                                        <p:attrNameLst>
                                          <p:attrName>ppt_h</p:attrName>
                                        </p:attrNameLst>
                                      </p:cBhvr>
                                      <p:tavLst>
                                        <p:tav tm="0">
                                          <p:val>
                                            <p:fltVal val="0"/>
                                          </p:val>
                                        </p:tav>
                                        <p:tav tm="100000">
                                          <p:val>
                                            <p:strVal val="#ppt_h"/>
                                          </p:val>
                                        </p:tav>
                                      </p:tavLst>
                                    </p:anim>
                                    <p:anim calcmode="lin" valueType="num">
                                      <p:cBhvr>
                                        <p:cTn id="22" dur="1000" fill="hold"/>
                                        <p:tgtEl>
                                          <p:spTgt spid="4"/>
                                        </p:tgtEl>
                                        <p:attrNameLst>
                                          <p:attrName>style.rotation</p:attrName>
                                        </p:attrNameLst>
                                      </p:cBhvr>
                                      <p:tavLst>
                                        <p:tav tm="0">
                                          <p:val>
                                            <p:fltVal val="90"/>
                                          </p:val>
                                        </p:tav>
                                        <p:tav tm="100000">
                                          <p:val>
                                            <p:fltVal val="0"/>
                                          </p:val>
                                        </p:tav>
                                      </p:tavLst>
                                    </p:anim>
                                    <p:animEffect transition="in" filter="fade">
                                      <p:cBhvr>
                                        <p:cTn id="23" dur="10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circle(in)">
                                      <p:cBhvr>
                                        <p:cTn id="28" dur="2000"/>
                                        <p:tgtEl>
                                          <p:spTgt spid="11"/>
                                        </p:tgtEl>
                                      </p:cBhvr>
                                    </p:animEffect>
                                  </p:childTnLst>
                                </p:cTn>
                              </p:par>
                              <p:par>
                                <p:cTn id="29" presetID="6" presetClass="entr" presetSubtype="16"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circle(in)">
                                      <p:cBhvr>
                                        <p:cTn id="31" dur="2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6"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wipe(down)">
                                      <p:cBhvr>
                                        <p:cTn id="36" dur="580">
                                          <p:stCondLst>
                                            <p:cond delay="0"/>
                                          </p:stCondLst>
                                        </p:cTn>
                                        <p:tgtEl>
                                          <p:spTgt spid="19"/>
                                        </p:tgtEl>
                                      </p:cBhvr>
                                    </p:animEffect>
                                    <p:anim calcmode="lin" valueType="num">
                                      <p:cBhvr>
                                        <p:cTn id="37"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38"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39"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40"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41"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42" dur="26">
                                          <p:stCondLst>
                                            <p:cond delay="650"/>
                                          </p:stCondLst>
                                        </p:cTn>
                                        <p:tgtEl>
                                          <p:spTgt spid="19"/>
                                        </p:tgtEl>
                                      </p:cBhvr>
                                      <p:to x="100000" y="60000"/>
                                    </p:animScale>
                                    <p:animScale>
                                      <p:cBhvr>
                                        <p:cTn id="43" dur="166" decel="50000">
                                          <p:stCondLst>
                                            <p:cond delay="676"/>
                                          </p:stCondLst>
                                        </p:cTn>
                                        <p:tgtEl>
                                          <p:spTgt spid="19"/>
                                        </p:tgtEl>
                                      </p:cBhvr>
                                      <p:to x="100000" y="100000"/>
                                    </p:animScale>
                                    <p:animScale>
                                      <p:cBhvr>
                                        <p:cTn id="44" dur="26">
                                          <p:stCondLst>
                                            <p:cond delay="1312"/>
                                          </p:stCondLst>
                                        </p:cTn>
                                        <p:tgtEl>
                                          <p:spTgt spid="19"/>
                                        </p:tgtEl>
                                      </p:cBhvr>
                                      <p:to x="100000" y="80000"/>
                                    </p:animScale>
                                    <p:animScale>
                                      <p:cBhvr>
                                        <p:cTn id="45" dur="166" decel="50000">
                                          <p:stCondLst>
                                            <p:cond delay="1338"/>
                                          </p:stCondLst>
                                        </p:cTn>
                                        <p:tgtEl>
                                          <p:spTgt spid="19"/>
                                        </p:tgtEl>
                                      </p:cBhvr>
                                      <p:to x="100000" y="100000"/>
                                    </p:animScale>
                                    <p:animScale>
                                      <p:cBhvr>
                                        <p:cTn id="46" dur="26">
                                          <p:stCondLst>
                                            <p:cond delay="1642"/>
                                          </p:stCondLst>
                                        </p:cTn>
                                        <p:tgtEl>
                                          <p:spTgt spid="19"/>
                                        </p:tgtEl>
                                      </p:cBhvr>
                                      <p:to x="100000" y="90000"/>
                                    </p:animScale>
                                    <p:animScale>
                                      <p:cBhvr>
                                        <p:cTn id="47" dur="166" decel="50000">
                                          <p:stCondLst>
                                            <p:cond delay="1668"/>
                                          </p:stCondLst>
                                        </p:cTn>
                                        <p:tgtEl>
                                          <p:spTgt spid="19"/>
                                        </p:tgtEl>
                                      </p:cBhvr>
                                      <p:to x="100000" y="100000"/>
                                    </p:animScale>
                                    <p:animScale>
                                      <p:cBhvr>
                                        <p:cTn id="48" dur="26">
                                          <p:stCondLst>
                                            <p:cond delay="1808"/>
                                          </p:stCondLst>
                                        </p:cTn>
                                        <p:tgtEl>
                                          <p:spTgt spid="19"/>
                                        </p:tgtEl>
                                      </p:cBhvr>
                                      <p:to x="100000" y="95000"/>
                                    </p:animScale>
                                    <p:animScale>
                                      <p:cBhvr>
                                        <p:cTn id="49" dur="166" decel="50000">
                                          <p:stCondLst>
                                            <p:cond delay="1834"/>
                                          </p:stCondLst>
                                        </p:cTn>
                                        <p:tgtEl>
                                          <p:spTgt spid="19"/>
                                        </p:tgtEl>
                                      </p:cBhvr>
                                      <p:to x="100000" y="100000"/>
                                    </p:animScale>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027"/>
                                        </p:tgtEl>
                                        <p:attrNameLst>
                                          <p:attrName>style.visibility</p:attrName>
                                        </p:attrNameLst>
                                      </p:cBhvr>
                                      <p:to>
                                        <p:strVal val="visible"/>
                                      </p:to>
                                    </p:set>
                                    <p:animEffect transition="in" filter="fade">
                                      <p:cBhvr>
                                        <p:cTn id="54" dur="1000"/>
                                        <p:tgtEl>
                                          <p:spTgt spid="1027"/>
                                        </p:tgtEl>
                                      </p:cBhvr>
                                    </p:animEffect>
                                    <p:anim calcmode="lin" valueType="num">
                                      <p:cBhvr>
                                        <p:cTn id="55" dur="1000" fill="hold"/>
                                        <p:tgtEl>
                                          <p:spTgt spid="1027"/>
                                        </p:tgtEl>
                                        <p:attrNameLst>
                                          <p:attrName>ppt_x</p:attrName>
                                        </p:attrNameLst>
                                      </p:cBhvr>
                                      <p:tavLst>
                                        <p:tav tm="0">
                                          <p:val>
                                            <p:strVal val="#ppt_x"/>
                                          </p:val>
                                        </p:tav>
                                        <p:tav tm="100000">
                                          <p:val>
                                            <p:strVal val="#ppt_x"/>
                                          </p:val>
                                        </p:tav>
                                      </p:tavLst>
                                    </p:anim>
                                    <p:anim calcmode="lin" valueType="num">
                                      <p:cBhvr>
                                        <p:cTn id="56" dur="1000" fill="hold"/>
                                        <p:tgtEl>
                                          <p:spTgt spid="102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6" presetClass="entr" presetSubtype="16" fill="hold" grpId="0" nodeType="clickEffect">
                                  <p:stCondLst>
                                    <p:cond delay="0"/>
                                  </p:stCondLst>
                                  <p:childTnLst>
                                    <p:set>
                                      <p:cBhvr>
                                        <p:cTn id="60" dur="1" fill="hold">
                                          <p:stCondLst>
                                            <p:cond delay="0"/>
                                          </p:stCondLst>
                                        </p:cTn>
                                        <p:tgtEl>
                                          <p:spTgt spid="6"/>
                                        </p:tgtEl>
                                        <p:attrNameLst>
                                          <p:attrName>style.visibility</p:attrName>
                                        </p:attrNameLst>
                                      </p:cBhvr>
                                      <p:to>
                                        <p:strVal val="visible"/>
                                      </p:to>
                                    </p:set>
                                    <p:animEffect transition="in" filter="circle(in)">
                                      <p:cBhvr>
                                        <p:cTn id="61" dur="2000"/>
                                        <p:tgtEl>
                                          <p:spTgt spid="6"/>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ipe(down)">
                                      <p:cBhvr>
                                        <p:cTn id="66" dur="500"/>
                                        <p:tgtEl>
                                          <p:spTgt spid="17"/>
                                        </p:tgtEl>
                                      </p:cBhvr>
                                    </p:animEffect>
                                  </p:childTnLst>
                                </p:cTn>
                              </p:par>
                              <p:par>
                                <p:cTn id="67" presetID="22" presetClass="entr" presetSubtype="4" fill="hold" grpId="0"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wipe(down)">
                                      <p:cBhvr>
                                        <p:cTn id="69" dur="500"/>
                                        <p:tgtEl>
                                          <p:spTgt spid="16"/>
                                        </p:tgtEl>
                                      </p:cBhvr>
                                    </p:animEffect>
                                  </p:childTnLst>
                                </p:cTn>
                              </p:par>
                            </p:childTnLst>
                          </p:cTn>
                        </p:par>
                      </p:childTnLst>
                    </p:cTn>
                  </p:par>
                  <p:par>
                    <p:cTn id="70" fill="hold">
                      <p:stCondLst>
                        <p:cond delay="indefinite"/>
                      </p:stCondLst>
                      <p:childTnLst>
                        <p:par>
                          <p:cTn id="71" fill="hold">
                            <p:stCondLst>
                              <p:cond delay="0"/>
                            </p:stCondLst>
                            <p:childTnLst>
                              <p:par>
                                <p:cTn id="72" presetID="45" presetClass="entr" presetSubtype="0" fill="hold" grpId="0" nodeType="click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2000"/>
                                        <p:tgtEl>
                                          <p:spTgt spid="20"/>
                                        </p:tgtEl>
                                      </p:cBhvr>
                                    </p:animEffect>
                                    <p:anim calcmode="lin" valueType="num">
                                      <p:cBhvr>
                                        <p:cTn id="75" dur="2000" fill="hold"/>
                                        <p:tgtEl>
                                          <p:spTgt spid="20"/>
                                        </p:tgtEl>
                                        <p:attrNameLst>
                                          <p:attrName>ppt_w</p:attrName>
                                        </p:attrNameLst>
                                      </p:cBhvr>
                                      <p:tavLst>
                                        <p:tav tm="0" fmla="#ppt_w*sin(2.5*pi*$)">
                                          <p:val>
                                            <p:fltVal val="0"/>
                                          </p:val>
                                        </p:tav>
                                        <p:tav tm="100000">
                                          <p:val>
                                            <p:fltVal val="1"/>
                                          </p:val>
                                        </p:tav>
                                      </p:tavLst>
                                    </p:anim>
                                    <p:anim calcmode="lin" valueType="num">
                                      <p:cBhvr>
                                        <p:cTn id="76" dur="20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14"/>
                                        </p:tgtEl>
                                        <p:attrNameLst>
                                          <p:attrName>style.visibility</p:attrName>
                                        </p:attrNameLst>
                                      </p:cBhvr>
                                      <p:to>
                                        <p:strVal val="visible"/>
                                      </p:to>
                                    </p:set>
                                    <p:animEffect transition="in" filter="fade">
                                      <p:cBhvr>
                                        <p:cTn id="81" dur="1000"/>
                                        <p:tgtEl>
                                          <p:spTgt spid="14"/>
                                        </p:tgtEl>
                                      </p:cBhvr>
                                    </p:animEffect>
                                    <p:anim calcmode="lin" valueType="num">
                                      <p:cBhvr>
                                        <p:cTn id="82" dur="1000" fill="hold"/>
                                        <p:tgtEl>
                                          <p:spTgt spid="14"/>
                                        </p:tgtEl>
                                        <p:attrNameLst>
                                          <p:attrName>ppt_x</p:attrName>
                                        </p:attrNameLst>
                                      </p:cBhvr>
                                      <p:tavLst>
                                        <p:tav tm="0">
                                          <p:val>
                                            <p:strVal val="#ppt_x"/>
                                          </p:val>
                                        </p:tav>
                                        <p:tav tm="100000">
                                          <p:val>
                                            <p:strVal val="#ppt_x"/>
                                          </p:val>
                                        </p:tav>
                                      </p:tavLst>
                                    </p:anim>
                                    <p:anim calcmode="lin" valueType="num">
                                      <p:cBhvr>
                                        <p:cTn id="8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nodeType="click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fade">
                                      <p:cBhvr>
                                        <p:cTn id="88" dur="1000"/>
                                        <p:tgtEl>
                                          <p:spTgt spid="22"/>
                                        </p:tgtEl>
                                      </p:cBhvr>
                                    </p:animEffect>
                                    <p:anim calcmode="lin" valueType="num">
                                      <p:cBhvr>
                                        <p:cTn id="89" dur="1000" fill="hold"/>
                                        <p:tgtEl>
                                          <p:spTgt spid="22"/>
                                        </p:tgtEl>
                                        <p:attrNameLst>
                                          <p:attrName>ppt_x</p:attrName>
                                        </p:attrNameLst>
                                      </p:cBhvr>
                                      <p:tavLst>
                                        <p:tav tm="0">
                                          <p:val>
                                            <p:strVal val="#ppt_x"/>
                                          </p:val>
                                        </p:tav>
                                        <p:tav tm="100000">
                                          <p:val>
                                            <p:strVal val="#ppt_x"/>
                                          </p:val>
                                        </p:tav>
                                      </p:tavLst>
                                    </p:anim>
                                    <p:anim calcmode="lin" valueType="num">
                                      <p:cBhvr>
                                        <p:cTn id="90" dur="1000" fill="hold"/>
                                        <p:tgtEl>
                                          <p:spTgt spid="22"/>
                                        </p:tgtEl>
                                        <p:attrNameLst>
                                          <p:attrName>ppt_y</p:attrName>
                                        </p:attrNameLst>
                                      </p:cBhvr>
                                      <p:tavLst>
                                        <p:tav tm="0">
                                          <p:val>
                                            <p:strVal val="#ppt_y+.1"/>
                                          </p:val>
                                        </p:tav>
                                        <p:tav tm="100000">
                                          <p:val>
                                            <p:strVal val="#ppt_y"/>
                                          </p:val>
                                        </p:tav>
                                      </p:tavLst>
                                    </p:anim>
                                  </p:childTnLst>
                                </p:cTn>
                              </p:par>
                              <p:par>
                                <p:cTn id="91" presetID="42" presetClass="entr" presetSubtype="0" fill="hold" nodeType="with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1000"/>
                                        <p:tgtEl>
                                          <p:spTgt spid="21"/>
                                        </p:tgtEl>
                                      </p:cBhvr>
                                    </p:animEffect>
                                    <p:anim calcmode="lin" valueType="num">
                                      <p:cBhvr>
                                        <p:cTn id="94" dur="1000" fill="hold"/>
                                        <p:tgtEl>
                                          <p:spTgt spid="21"/>
                                        </p:tgtEl>
                                        <p:attrNameLst>
                                          <p:attrName>ppt_x</p:attrName>
                                        </p:attrNameLst>
                                      </p:cBhvr>
                                      <p:tavLst>
                                        <p:tav tm="0">
                                          <p:val>
                                            <p:strVal val="#ppt_x"/>
                                          </p:val>
                                        </p:tav>
                                        <p:tav tm="100000">
                                          <p:val>
                                            <p:strVal val="#ppt_x"/>
                                          </p:val>
                                        </p:tav>
                                      </p:tavLst>
                                    </p:anim>
                                    <p:anim calcmode="lin" valueType="num">
                                      <p:cBhvr>
                                        <p:cTn id="95"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6" presetClass="entr" presetSubtype="0" fill="hold" grpId="0" nodeType="clickEffect">
                                  <p:stCondLst>
                                    <p:cond delay="0"/>
                                  </p:stCondLst>
                                  <p:childTnLst>
                                    <p:set>
                                      <p:cBhvr>
                                        <p:cTn id="99" dur="1" fill="hold">
                                          <p:stCondLst>
                                            <p:cond delay="0"/>
                                          </p:stCondLst>
                                        </p:cTn>
                                        <p:tgtEl>
                                          <p:spTgt spid="15"/>
                                        </p:tgtEl>
                                        <p:attrNameLst>
                                          <p:attrName>style.visibility</p:attrName>
                                        </p:attrNameLst>
                                      </p:cBhvr>
                                      <p:to>
                                        <p:strVal val="visible"/>
                                      </p:to>
                                    </p:set>
                                    <p:animEffect transition="in" filter="wipe(down)">
                                      <p:cBhvr>
                                        <p:cTn id="100" dur="580">
                                          <p:stCondLst>
                                            <p:cond delay="0"/>
                                          </p:stCondLst>
                                        </p:cTn>
                                        <p:tgtEl>
                                          <p:spTgt spid="15"/>
                                        </p:tgtEl>
                                      </p:cBhvr>
                                    </p:animEffect>
                                    <p:anim calcmode="lin" valueType="num">
                                      <p:cBhvr>
                                        <p:cTn id="101"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102"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103"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104"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105"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106" dur="26">
                                          <p:stCondLst>
                                            <p:cond delay="650"/>
                                          </p:stCondLst>
                                        </p:cTn>
                                        <p:tgtEl>
                                          <p:spTgt spid="15"/>
                                        </p:tgtEl>
                                      </p:cBhvr>
                                      <p:to x="100000" y="60000"/>
                                    </p:animScale>
                                    <p:animScale>
                                      <p:cBhvr>
                                        <p:cTn id="107" dur="166" decel="50000">
                                          <p:stCondLst>
                                            <p:cond delay="676"/>
                                          </p:stCondLst>
                                        </p:cTn>
                                        <p:tgtEl>
                                          <p:spTgt spid="15"/>
                                        </p:tgtEl>
                                      </p:cBhvr>
                                      <p:to x="100000" y="100000"/>
                                    </p:animScale>
                                    <p:animScale>
                                      <p:cBhvr>
                                        <p:cTn id="108" dur="26">
                                          <p:stCondLst>
                                            <p:cond delay="1312"/>
                                          </p:stCondLst>
                                        </p:cTn>
                                        <p:tgtEl>
                                          <p:spTgt spid="15"/>
                                        </p:tgtEl>
                                      </p:cBhvr>
                                      <p:to x="100000" y="80000"/>
                                    </p:animScale>
                                    <p:animScale>
                                      <p:cBhvr>
                                        <p:cTn id="109" dur="166" decel="50000">
                                          <p:stCondLst>
                                            <p:cond delay="1338"/>
                                          </p:stCondLst>
                                        </p:cTn>
                                        <p:tgtEl>
                                          <p:spTgt spid="15"/>
                                        </p:tgtEl>
                                      </p:cBhvr>
                                      <p:to x="100000" y="100000"/>
                                    </p:animScale>
                                    <p:animScale>
                                      <p:cBhvr>
                                        <p:cTn id="110" dur="26">
                                          <p:stCondLst>
                                            <p:cond delay="1642"/>
                                          </p:stCondLst>
                                        </p:cTn>
                                        <p:tgtEl>
                                          <p:spTgt spid="15"/>
                                        </p:tgtEl>
                                      </p:cBhvr>
                                      <p:to x="100000" y="90000"/>
                                    </p:animScale>
                                    <p:animScale>
                                      <p:cBhvr>
                                        <p:cTn id="111" dur="166" decel="50000">
                                          <p:stCondLst>
                                            <p:cond delay="1668"/>
                                          </p:stCondLst>
                                        </p:cTn>
                                        <p:tgtEl>
                                          <p:spTgt spid="15"/>
                                        </p:tgtEl>
                                      </p:cBhvr>
                                      <p:to x="100000" y="100000"/>
                                    </p:animScale>
                                    <p:animScale>
                                      <p:cBhvr>
                                        <p:cTn id="112" dur="26">
                                          <p:stCondLst>
                                            <p:cond delay="1808"/>
                                          </p:stCondLst>
                                        </p:cTn>
                                        <p:tgtEl>
                                          <p:spTgt spid="15"/>
                                        </p:tgtEl>
                                      </p:cBhvr>
                                      <p:to x="100000" y="95000"/>
                                    </p:animScale>
                                    <p:animScale>
                                      <p:cBhvr>
                                        <p:cTn id="113" dur="166" decel="50000">
                                          <p:stCondLst>
                                            <p:cond delay="1834"/>
                                          </p:stCondLst>
                                        </p:cTn>
                                        <p:tgtEl>
                                          <p:spTgt spid="15"/>
                                        </p:tgtEl>
                                      </p:cBhvr>
                                      <p:to x="100000" y="100000"/>
                                    </p:animScale>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grpId="0" nodeType="clickEffect">
                                  <p:stCondLst>
                                    <p:cond delay="0"/>
                                  </p:stCondLst>
                                  <p:childTnLst>
                                    <p:set>
                                      <p:cBhvr>
                                        <p:cTn id="117" dur="1" fill="hold">
                                          <p:stCondLst>
                                            <p:cond delay="0"/>
                                          </p:stCondLst>
                                        </p:cTn>
                                        <p:tgtEl>
                                          <p:spTgt spid="28"/>
                                        </p:tgtEl>
                                        <p:attrNameLst>
                                          <p:attrName>style.visibility</p:attrName>
                                        </p:attrNameLst>
                                      </p:cBhvr>
                                      <p:to>
                                        <p:strVal val="visible"/>
                                      </p:to>
                                    </p:set>
                                    <p:anim calcmode="lin" valueType="num">
                                      <p:cBhvr>
                                        <p:cTn id="118" dur="500" fill="hold"/>
                                        <p:tgtEl>
                                          <p:spTgt spid="28"/>
                                        </p:tgtEl>
                                        <p:attrNameLst>
                                          <p:attrName>ppt_w</p:attrName>
                                        </p:attrNameLst>
                                      </p:cBhvr>
                                      <p:tavLst>
                                        <p:tav tm="0">
                                          <p:val>
                                            <p:fltVal val="0"/>
                                          </p:val>
                                        </p:tav>
                                        <p:tav tm="100000">
                                          <p:val>
                                            <p:strVal val="#ppt_w"/>
                                          </p:val>
                                        </p:tav>
                                      </p:tavLst>
                                    </p:anim>
                                    <p:anim calcmode="lin" valueType="num">
                                      <p:cBhvr>
                                        <p:cTn id="119" dur="500" fill="hold"/>
                                        <p:tgtEl>
                                          <p:spTgt spid="28"/>
                                        </p:tgtEl>
                                        <p:attrNameLst>
                                          <p:attrName>ppt_h</p:attrName>
                                        </p:attrNameLst>
                                      </p:cBhvr>
                                      <p:tavLst>
                                        <p:tav tm="0">
                                          <p:val>
                                            <p:fltVal val="0"/>
                                          </p:val>
                                        </p:tav>
                                        <p:tav tm="100000">
                                          <p:val>
                                            <p:strVal val="#ppt_h"/>
                                          </p:val>
                                        </p:tav>
                                      </p:tavLst>
                                    </p:anim>
                                    <p:animEffect transition="in" filter="fade">
                                      <p:cBhvr>
                                        <p:cTn id="12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11" grpId="0" animBg="1"/>
      <p:bldP spid="16" grpId="0" animBg="1"/>
      <p:bldP spid="19" grpId="0" animBg="1"/>
      <p:bldP spid="20" grpId="0" animBg="1"/>
      <p:bldP spid="14" grpId="0" animBg="1"/>
      <p:bldP spid="15" grpId="0" animBg="1"/>
      <p:bldP spid="2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Formation of a Contract</a:t>
            </a:r>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a:off x="2590800" y="2362200"/>
            <a:ext cx="7239000" cy="76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Offer + Acceptance = Promise</a:t>
            </a:r>
          </a:p>
        </p:txBody>
      </p:sp>
      <p:sp>
        <p:nvSpPr>
          <p:cNvPr id="5" name="Rectangle 4"/>
          <p:cNvSpPr/>
          <p:nvPr/>
        </p:nvSpPr>
        <p:spPr>
          <a:xfrm>
            <a:off x="2590800" y="3810000"/>
            <a:ext cx="7239000" cy="7620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Promise + Consideration = Agreement</a:t>
            </a:r>
          </a:p>
        </p:txBody>
      </p:sp>
      <p:sp>
        <p:nvSpPr>
          <p:cNvPr id="6" name="Rectangle 5"/>
          <p:cNvSpPr/>
          <p:nvPr/>
        </p:nvSpPr>
        <p:spPr>
          <a:xfrm>
            <a:off x="2590800" y="5181600"/>
            <a:ext cx="7239000" cy="762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Agreement + Existing Law = Contract</a:t>
            </a:r>
          </a:p>
        </p:txBody>
      </p:sp>
      <p:cxnSp>
        <p:nvCxnSpPr>
          <p:cNvPr id="8" name="Straight Connector 7"/>
          <p:cNvCxnSpPr/>
          <p:nvPr/>
        </p:nvCxnSpPr>
        <p:spPr>
          <a:xfrm flipH="1">
            <a:off x="7703128" y="2057400"/>
            <a:ext cx="907473" cy="1336964"/>
          </a:xfrm>
          <a:prstGeom prst="line">
            <a:avLst/>
          </a:prstGeom>
          <a:ln w="50800">
            <a:prstDash val="sysDash"/>
          </a:ln>
        </p:spPr>
        <p:style>
          <a:lnRef idx="3">
            <a:schemeClr val="dk1"/>
          </a:lnRef>
          <a:fillRef idx="0">
            <a:schemeClr val="dk1"/>
          </a:fillRef>
          <a:effectRef idx="2">
            <a:schemeClr val="dk1"/>
          </a:effectRef>
          <a:fontRef idx="minor">
            <a:schemeClr val="tx1"/>
          </a:fontRef>
        </p:style>
      </p:cxnSp>
      <p:cxnSp>
        <p:nvCxnSpPr>
          <p:cNvPr id="13" name="Straight Connector 12"/>
          <p:cNvCxnSpPr/>
          <p:nvPr/>
        </p:nvCxnSpPr>
        <p:spPr>
          <a:xfrm flipH="1">
            <a:off x="3048001" y="3429000"/>
            <a:ext cx="907473" cy="1336964"/>
          </a:xfrm>
          <a:prstGeom prst="line">
            <a:avLst/>
          </a:prstGeom>
          <a:ln w="50800">
            <a:prstDash val="sysDash"/>
          </a:ln>
        </p:spPr>
        <p:style>
          <a:lnRef idx="3">
            <a:schemeClr val="dk1"/>
          </a:lnRef>
          <a:fillRef idx="0">
            <a:schemeClr val="dk1"/>
          </a:fillRef>
          <a:effectRef idx="2">
            <a:schemeClr val="dk1"/>
          </a:effectRef>
          <a:fontRef idx="minor">
            <a:schemeClr val="tx1"/>
          </a:fontRef>
        </p:style>
      </p:cxnSp>
      <p:cxnSp>
        <p:nvCxnSpPr>
          <p:cNvPr id="14" name="Straight Connector 13"/>
          <p:cNvCxnSpPr/>
          <p:nvPr/>
        </p:nvCxnSpPr>
        <p:spPr>
          <a:xfrm flipH="1">
            <a:off x="3276601" y="5029200"/>
            <a:ext cx="907473" cy="1336964"/>
          </a:xfrm>
          <a:prstGeom prst="line">
            <a:avLst/>
          </a:prstGeom>
          <a:ln w="50800">
            <a:prstDash val="sysDash"/>
          </a:ln>
        </p:spPr>
        <p:style>
          <a:lnRef idx="3">
            <a:schemeClr val="dk1"/>
          </a:lnRef>
          <a:fillRef idx="0">
            <a:schemeClr val="dk1"/>
          </a:fillRef>
          <a:effectRef idx="2">
            <a:schemeClr val="dk1"/>
          </a:effectRef>
          <a:fontRef idx="minor">
            <a:schemeClr val="tx1"/>
          </a:fontRef>
        </p:style>
      </p:cxnSp>
      <p:cxnSp>
        <p:nvCxnSpPr>
          <p:cNvPr id="15" name="Straight Connector 14"/>
          <p:cNvCxnSpPr/>
          <p:nvPr/>
        </p:nvCxnSpPr>
        <p:spPr>
          <a:xfrm flipH="1">
            <a:off x="8222672" y="3429000"/>
            <a:ext cx="907473" cy="1336964"/>
          </a:xfrm>
          <a:prstGeom prst="line">
            <a:avLst/>
          </a:prstGeom>
          <a:ln w="50800">
            <a:prstDash val="sysDash"/>
          </a:ln>
        </p:spPr>
        <p:style>
          <a:lnRef idx="3">
            <a:schemeClr val="dk1"/>
          </a:lnRef>
          <a:fillRef idx="0">
            <a:schemeClr val="dk1"/>
          </a:fillRef>
          <a:effectRef idx="2">
            <a:schemeClr val="dk1"/>
          </a:effectRef>
          <a:fontRef idx="minor">
            <a:schemeClr val="tx1"/>
          </a:fontRef>
        </p:style>
      </p:cxnSp>
      <p:grpSp>
        <p:nvGrpSpPr>
          <p:cNvPr id="23" name="Group 22"/>
          <p:cNvGrpSpPr/>
          <p:nvPr/>
        </p:nvGrpSpPr>
        <p:grpSpPr>
          <a:xfrm>
            <a:off x="5334001" y="4765964"/>
            <a:ext cx="2292927" cy="1787236"/>
            <a:chOff x="3810000" y="4765964"/>
            <a:chExt cx="2292927" cy="1787236"/>
          </a:xfrm>
        </p:grpSpPr>
        <p:sp>
          <p:nvSpPr>
            <p:cNvPr id="16" name="Oval 15"/>
            <p:cNvSpPr/>
            <p:nvPr/>
          </p:nvSpPr>
          <p:spPr>
            <a:xfrm>
              <a:off x="3810000" y="4765964"/>
              <a:ext cx="2292927" cy="1787236"/>
            </a:xfrm>
            <a:prstGeom prst="ellipse">
              <a:avLst/>
            </a:prstGeom>
            <a:noFill/>
            <a:ln w="63500"/>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cxnSp>
          <p:nvCxnSpPr>
            <p:cNvPr id="18" name="Straight Connector 17"/>
            <p:cNvCxnSpPr>
              <a:stCxn id="16" idx="1"/>
              <a:endCxn id="16" idx="5"/>
            </p:cNvCxnSpPr>
            <p:nvPr/>
          </p:nvCxnSpPr>
          <p:spPr>
            <a:xfrm>
              <a:off x="4145791" y="5027699"/>
              <a:ext cx="1621345" cy="1263766"/>
            </a:xfrm>
            <a:prstGeom prst="line">
              <a:avLst/>
            </a:prstGeom>
            <a:ln w="63500"/>
          </p:spPr>
          <p:style>
            <a:lnRef idx="3">
              <a:schemeClr val="accent2"/>
            </a:lnRef>
            <a:fillRef idx="0">
              <a:schemeClr val="accent2"/>
            </a:fillRef>
            <a:effectRef idx="2">
              <a:schemeClr val="accent2"/>
            </a:effectRef>
            <a:fontRef idx="minor">
              <a:schemeClr val="tx1"/>
            </a:fontRef>
          </p:style>
        </p:cxnSp>
        <p:cxnSp>
          <p:nvCxnSpPr>
            <p:cNvPr id="19" name="Straight Connector 18"/>
            <p:cNvCxnSpPr/>
            <p:nvPr/>
          </p:nvCxnSpPr>
          <p:spPr>
            <a:xfrm flipH="1">
              <a:off x="4267201" y="5027699"/>
              <a:ext cx="1447800" cy="1338465"/>
            </a:xfrm>
            <a:prstGeom prst="line">
              <a:avLst/>
            </a:prstGeom>
            <a:ln w="63500"/>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259628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down)">
                                      <p:cBhvr>
                                        <p:cTn id="23" dur="580">
                                          <p:stCondLst>
                                            <p:cond delay="0"/>
                                          </p:stCondLst>
                                        </p:cTn>
                                        <p:tgtEl>
                                          <p:spTgt spid="8"/>
                                        </p:tgtEl>
                                      </p:cBhvr>
                                    </p:animEffect>
                                    <p:anim calcmode="lin" valueType="num">
                                      <p:cBhvr>
                                        <p:cTn id="24"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9" dur="26">
                                          <p:stCondLst>
                                            <p:cond delay="650"/>
                                          </p:stCondLst>
                                        </p:cTn>
                                        <p:tgtEl>
                                          <p:spTgt spid="8"/>
                                        </p:tgtEl>
                                      </p:cBhvr>
                                      <p:to x="100000" y="60000"/>
                                    </p:animScale>
                                    <p:animScale>
                                      <p:cBhvr>
                                        <p:cTn id="30" dur="166" decel="50000">
                                          <p:stCondLst>
                                            <p:cond delay="676"/>
                                          </p:stCondLst>
                                        </p:cTn>
                                        <p:tgtEl>
                                          <p:spTgt spid="8"/>
                                        </p:tgtEl>
                                      </p:cBhvr>
                                      <p:to x="100000" y="100000"/>
                                    </p:animScale>
                                    <p:animScale>
                                      <p:cBhvr>
                                        <p:cTn id="31" dur="26">
                                          <p:stCondLst>
                                            <p:cond delay="1312"/>
                                          </p:stCondLst>
                                        </p:cTn>
                                        <p:tgtEl>
                                          <p:spTgt spid="8"/>
                                        </p:tgtEl>
                                      </p:cBhvr>
                                      <p:to x="100000" y="80000"/>
                                    </p:animScale>
                                    <p:animScale>
                                      <p:cBhvr>
                                        <p:cTn id="32" dur="166" decel="50000">
                                          <p:stCondLst>
                                            <p:cond delay="1338"/>
                                          </p:stCondLst>
                                        </p:cTn>
                                        <p:tgtEl>
                                          <p:spTgt spid="8"/>
                                        </p:tgtEl>
                                      </p:cBhvr>
                                      <p:to x="100000" y="100000"/>
                                    </p:animScale>
                                    <p:animScale>
                                      <p:cBhvr>
                                        <p:cTn id="33" dur="26">
                                          <p:stCondLst>
                                            <p:cond delay="1642"/>
                                          </p:stCondLst>
                                        </p:cTn>
                                        <p:tgtEl>
                                          <p:spTgt spid="8"/>
                                        </p:tgtEl>
                                      </p:cBhvr>
                                      <p:to x="100000" y="90000"/>
                                    </p:animScale>
                                    <p:animScale>
                                      <p:cBhvr>
                                        <p:cTn id="34" dur="166" decel="50000">
                                          <p:stCondLst>
                                            <p:cond delay="1668"/>
                                          </p:stCondLst>
                                        </p:cTn>
                                        <p:tgtEl>
                                          <p:spTgt spid="8"/>
                                        </p:tgtEl>
                                      </p:cBhvr>
                                      <p:to x="100000" y="100000"/>
                                    </p:animScale>
                                    <p:animScale>
                                      <p:cBhvr>
                                        <p:cTn id="35" dur="26">
                                          <p:stCondLst>
                                            <p:cond delay="1808"/>
                                          </p:stCondLst>
                                        </p:cTn>
                                        <p:tgtEl>
                                          <p:spTgt spid="8"/>
                                        </p:tgtEl>
                                      </p:cBhvr>
                                      <p:to x="100000" y="95000"/>
                                    </p:animScale>
                                    <p:animScale>
                                      <p:cBhvr>
                                        <p:cTn id="36" dur="166" decel="50000">
                                          <p:stCondLst>
                                            <p:cond delay="1834"/>
                                          </p:stCondLst>
                                        </p:cTn>
                                        <p:tgtEl>
                                          <p:spTgt spid="8"/>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down)">
                                      <p:cBhvr>
                                        <p:cTn id="41" dur="580">
                                          <p:stCondLst>
                                            <p:cond delay="0"/>
                                          </p:stCondLst>
                                        </p:cTn>
                                        <p:tgtEl>
                                          <p:spTgt spid="13"/>
                                        </p:tgtEl>
                                      </p:cBhvr>
                                    </p:animEffect>
                                    <p:anim calcmode="lin" valueType="num">
                                      <p:cBhvr>
                                        <p:cTn id="42" dur="1822"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13"/>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13"/>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13"/>
                                        </p:tgtEl>
                                        <p:attrNameLst>
                                          <p:attrName>ppt_y</p:attrName>
                                        </p:attrNameLst>
                                      </p:cBhvr>
                                      <p:tavLst>
                                        <p:tav tm="0" fmla="#ppt_y-sin(pi*$)/81">
                                          <p:val>
                                            <p:fltVal val="0"/>
                                          </p:val>
                                        </p:tav>
                                        <p:tav tm="100000">
                                          <p:val>
                                            <p:fltVal val="1"/>
                                          </p:val>
                                        </p:tav>
                                      </p:tavLst>
                                    </p:anim>
                                    <p:animScale>
                                      <p:cBhvr>
                                        <p:cTn id="47" dur="26">
                                          <p:stCondLst>
                                            <p:cond delay="650"/>
                                          </p:stCondLst>
                                        </p:cTn>
                                        <p:tgtEl>
                                          <p:spTgt spid="13"/>
                                        </p:tgtEl>
                                      </p:cBhvr>
                                      <p:to x="100000" y="60000"/>
                                    </p:animScale>
                                    <p:animScale>
                                      <p:cBhvr>
                                        <p:cTn id="48" dur="166" decel="50000">
                                          <p:stCondLst>
                                            <p:cond delay="676"/>
                                          </p:stCondLst>
                                        </p:cTn>
                                        <p:tgtEl>
                                          <p:spTgt spid="13"/>
                                        </p:tgtEl>
                                      </p:cBhvr>
                                      <p:to x="100000" y="100000"/>
                                    </p:animScale>
                                    <p:animScale>
                                      <p:cBhvr>
                                        <p:cTn id="49" dur="26">
                                          <p:stCondLst>
                                            <p:cond delay="1312"/>
                                          </p:stCondLst>
                                        </p:cTn>
                                        <p:tgtEl>
                                          <p:spTgt spid="13"/>
                                        </p:tgtEl>
                                      </p:cBhvr>
                                      <p:to x="100000" y="80000"/>
                                    </p:animScale>
                                    <p:animScale>
                                      <p:cBhvr>
                                        <p:cTn id="50" dur="166" decel="50000">
                                          <p:stCondLst>
                                            <p:cond delay="1338"/>
                                          </p:stCondLst>
                                        </p:cTn>
                                        <p:tgtEl>
                                          <p:spTgt spid="13"/>
                                        </p:tgtEl>
                                      </p:cBhvr>
                                      <p:to x="100000" y="100000"/>
                                    </p:animScale>
                                    <p:animScale>
                                      <p:cBhvr>
                                        <p:cTn id="51" dur="26">
                                          <p:stCondLst>
                                            <p:cond delay="1642"/>
                                          </p:stCondLst>
                                        </p:cTn>
                                        <p:tgtEl>
                                          <p:spTgt spid="13"/>
                                        </p:tgtEl>
                                      </p:cBhvr>
                                      <p:to x="100000" y="90000"/>
                                    </p:animScale>
                                    <p:animScale>
                                      <p:cBhvr>
                                        <p:cTn id="52" dur="166" decel="50000">
                                          <p:stCondLst>
                                            <p:cond delay="1668"/>
                                          </p:stCondLst>
                                        </p:cTn>
                                        <p:tgtEl>
                                          <p:spTgt spid="13"/>
                                        </p:tgtEl>
                                      </p:cBhvr>
                                      <p:to x="100000" y="100000"/>
                                    </p:animScale>
                                    <p:animScale>
                                      <p:cBhvr>
                                        <p:cTn id="53" dur="26">
                                          <p:stCondLst>
                                            <p:cond delay="1808"/>
                                          </p:stCondLst>
                                        </p:cTn>
                                        <p:tgtEl>
                                          <p:spTgt spid="13"/>
                                        </p:tgtEl>
                                      </p:cBhvr>
                                      <p:to x="100000" y="95000"/>
                                    </p:animScale>
                                    <p:animScale>
                                      <p:cBhvr>
                                        <p:cTn id="54" dur="166" decel="50000">
                                          <p:stCondLst>
                                            <p:cond delay="1834"/>
                                          </p:stCondLst>
                                        </p:cTn>
                                        <p:tgtEl>
                                          <p:spTgt spid="13"/>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26" presetClass="entr" presetSubtype="0" fill="hold" nodeType="clickEffect">
                                  <p:stCondLst>
                                    <p:cond delay="0"/>
                                  </p:stCondLst>
                                  <p:childTnLst>
                                    <p:set>
                                      <p:cBhvr>
                                        <p:cTn id="58" dur="1" fill="hold">
                                          <p:stCondLst>
                                            <p:cond delay="0"/>
                                          </p:stCondLst>
                                        </p:cTn>
                                        <p:tgtEl>
                                          <p:spTgt spid="15"/>
                                        </p:tgtEl>
                                        <p:attrNameLst>
                                          <p:attrName>style.visibility</p:attrName>
                                        </p:attrNameLst>
                                      </p:cBhvr>
                                      <p:to>
                                        <p:strVal val="visible"/>
                                      </p:to>
                                    </p:set>
                                    <p:animEffect transition="in" filter="wipe(down)">
                                      <p:cBhvr>
                                        <p:cTn id="59" dur="580">
                                          <p:stCondLst>
                                            <p:cond delay="0"/>
                                          </p:stCondLst>
                                        </p:cTn>
                                        <p:tgtEl>
                                          <p:spTgt spid="15"/>
                                        </p:tgtEl>
                                      </p:cBhvr>
                                    </p:animEffect>
                                    <p:anim calcmode="lin" valueType="num">
                                      <p:cBhvr>
                                        <p:cTn id="60" dur="1822"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15"/>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15"/>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15"/>
                                        </p:tgtEl>
                                        <p:attrNameLst>
                                          <p:attrName>ppt_y</p:attrName>
                                        </p:attrNameLst>
                                      </p:cBhvr>
                                      <p:tavLst>
                                        <p:tav tm="0" fmla="#ppt_y-sin(pi*$)/81">
                                          <p:val>
                                            <p:fltVal val="0"/>
                                          </p:val>
                                        </p:tav>
                                        <p:tav tm="100000">
                                          <p:val>
                                            <p:fltVal val="1"/>
                                          </p:val>
                                        </p:tav>
                                      </p:tavLst>
                                    </p:anim>
                                    <p:animScale>
                                      <p:cBhvr>
                                        <p:cTn id="65" dur="26">
                                          <p:stCondLst>
                                            <p:cond delay="650"/>
                                          </p:stCondLst>
                                        </p:cTn>
                                        <p:tgtEl>
                                          <p:spTgt spid="15"/>
                                        </p:tgtEl>
                                      </p:cBhvr>
                                      <p:to x="100000" y="60000"/>
                                    </p:animScale>
                                    <p:animScale>
                                      <p:cBhvr>
                                        <p:cTn id="66" dur="166" decel="50000">
                                          <p:stCondLst>
                                            <p:cond delay="676"/>
                                          </p:stCondLst>
                                        </p:cTn>
                                        <p:tgtEl>
                                          <p:spTgt spid="15"/>
                                        </p:tgtEl>
                                      </p:cBhvr>
                                      <p:to x="100000" y="100000"/>
                                    </p:animScale>
                                    <p:animScale>
                                      <p:cBhvr>
                                        <p:cTn id="67" dur="26">
                                          <p:stCondLst>
                                            <p:cond delay="1312"/>
                                          </p:stCondLst>
                                        </p:cTn>
                                        <p:tgtEl>
                                          <p:spTgt spid="15"/>
                                        </p:tgtEl>
                                      </p:cBhvr>
                                      <p:to x="100000" y="80000"/>
                                    </p:animScale>
                                    <p:animScale>
                                      <p:cBhvr>
                                        <p:cTn id="68" dur="166" decel="50000">
                                          <p:stCondLst>
                                            <p:cond delay="1338"/>
                                          </p:stCondLst>
                                        </p:cTn>
                                        <p:tgtEl>
                                          <p:spTgt spid="15"/>
                                        </p:tgtEl>
                                      </p:cBhvr>
                                      <p:to x="100000" y="100000"/>
                                    </p:animScale>
                                    <p:animScale>
                                      <p:cBhvr>
                                        <p:cTn id="69" dur="26">
                                          <p:stCondLst>
                                            <p:cond delay="1642"/>
                                          </p:stCondLst>
                                        </p:cTn>
                                        <p:tgtEl>
                                          <p:spTgt spid="15"/>
                                        </p:tgtEl>
                                      </p:cBhvr>
                                      <p:to x="100000" y="90000"/>
                                    </p:animScale>
                                    <p:animScale>
                                      <p:cBhvr>
                                        <p:cTn id="70" dur="166" decel="50000">
                                          <p:stCondLst>
                                            <p:cond delay="1668"/>
                                          </p:stCondLst>
                                        </p:cTn>
                                        <p:tgtEl>
                                          <p:spTgt spid="15"/>
                                        </p:tgtEl>
                                      </p:cBhvr>
                                      <p:to x="100000" y="100000"/>
                                    </p:animScale>
                                    <p:animScale>
                                      <p:cBhvr>
                                        <p:cTn id="71" dur="26">
                                          <p:stCondLst>
                                            <p:cond delay="1808"/>
                                          </p:stCondLst>
                                        </p:cTn>
                                        <p:tgtEl>
                                          <p:spTgt spid="15"/>
                                        </p:tgtEl>
                                      </p:cBhvr>
                                      <p:to x="100000" y="95000"/>
                                    </p:animScale>
                                    <p:animScale>
                                      <p:cBhvr>
                                        <p:cTn id="72" dur="166" decel="50000">
                                          <p:stCondLst>
                                            <p:cond delay="1834"/>
                                          </p:stCondLst>
                                        </p:cTn>
                                        <p:tgtEl>
                                          <p:spTgt spid="15"/>
                                        </p:tgtEl>
                                      </p:cBhvr>
                                      <p:to x="100000" y="100000"/>
                                    </p:animScale>
                                  </p:childTnLst>
                                </p:cTn>
                              </p:par>
                            </p:childTnLst>
                          </p:cTn>
                        </p:par>
                      </p:childTnLst>
                    </p:cTn>
                  </p:par>
                  <p:par>
                    <p:cTn id="73" fill="hold">
                      <p:stCondLst>
                        <p:cond delay="indefinite"/>
                      </p:stCondLst>
                      <p:childTnLst>
                        <p:par>
                          <p:cTn id="74" fill="hold">
                            <p:stCondLst>
                              <p:cond delay="0"/>
                            </p:stCondLst>
                            <p:childTnLst>
                              <p:par>
                                <p:cTn id="75" presetID="26" presetClass="entr" presetSubtype="0" fill="hold"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wipe(down)">
                                      <p:cBhvr>
                                        <p:cTn id="77" dur="580">
                                          <p:stCondLst>
                                            <p:cond delay="0"/>
                                          </p:stCondLst>
                                        </p:cTn>
                                        <p:tgtEl>
                                          <p:spTgt spid="14"/>
                                        </p:tgtEl>
                                      </p:cBhvr>
                                    </p:animEffect>
                                    <p:anim calcmode="lin" valueType="num">
                                      <p:cBhvr>
                                        <p:cTn id="78"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79"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80"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81"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82"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83" dur="26">
                                          <p:stCondLst>
                                            <p:cond delay="650"/>
                                          </p:stCondLst>
                                        </p:cTn>
                                        <p:tgtEl>
                                          <p:spTgt spid="14"/>
                                        </p:tgtEl>
                                      </p:cBhvr>
                                      <p:to x="100000" y="60000"/>
                                    </p:animScale>
                                    <p:animScale>
                                      <p:cBhvr>
                                        <p:cTn id="84" dur="166" decel="50000">
                                          <p:stCondLst>
                                            <p:cond delay="676"/>
                                          </p:stCondLst>
                                        </p:cTn>
                                        <p:tgtEl>
                                          <p:spTgt spid="14"/>
                                        </p:tgtEl>
                                      </p:cBhvr>
                                      <p:to x="100000" y="100000"/>
                                    </p:animScale>
                                    <p:animScale>
                                      <p:cBhvr>
                                        <p:cTn id="85" dur="26">
                                          <p:stCondLst>
                                            <p:cond delay="1312"/>
                                          </p:stCondLst>
                                        </p:cTn>
                                        <p:tgtEl>
                                          <p:spTgt spid="14"/>
                                        </p:tgtEl>
                                      </p:cBhvr>
                                      <p:to x="100000" y="80000"/>
                                    </p:animScale>
                                    <p:animScale>
                                      <p:cBhvr>
                                        <p:cTn id="86" dur="166" decel="50000">
                                          <p:stCondLst>
                                            <p:cond delay="1338"/>
                                          </p:stCondLst>
                                        </p:cTn>
                                        <p:tgtEl>
                                          <p:spTgt spid="14"/>
                                        </p:tgtEl>
                                      </p:cBhvr>
                                      <p:to x="100000" y="100000"/>
                                    </p:animScale>
                                    <p:animScale>
                                      <p:cBhvr>
                                        <p:cTn id="87" dur="26">
                                          <p:stCondLst>
                                            <p:cond delay="1642"/>
                                          </p:stCondLst>
                                        </p:cTn>
                                        <p:tgtEl>
                                          <p:spTgt spid="14"/>
                                        </p:tgtEl>
                                      </p:cBhvr>
                                      <p:to x="100000" y="90000"/>
                                    </p:animScale>
                                    <p:animScale>
                                      <p:cBhvr>
                                        <p:cTn id="88" dur="166" decel="50000">
                                          <p:stCondLst>
                                            <p:cond delay="1668"/>
                                          </p:stCondLst>
                                        </p:cTn>
                                        <p:tgtEl>
                                          <p:spTgt spid="14"/>
                                        </p:tgtEl>
                                      </p:cBhvr>
                                      <p:to x="100000" y="100000"/>
                                    </p:animScale>
                                    <p:animScale>
                                      <p:cBhvr>
                                        <p:cTn id="89" dur="26">
                                          <p:stCondLst>
                                            <p:cond delay="1808"/>
                                          </p:stCondLst>
                                        </p:cTn>
                                        <p:tgtEl>
                                          <p:spTgt spid="14"/>
                                        </p:tgtEl>
                                      </p:cBhvr>
                                      <p:to x="100000" y="95000"/>
                                    </p:animScale>
                                    <p:animScale>
                                      <p:cBhvr>
                                        <p:cTn id="90" dur="166" decel="50000">
                                          <p:stCondLst>
                                            <p:cond delay="1834"/>
                                          </p:stCondLst>
                                        </p:cTn>
                                        <p:tgtEl>
                                          <p:spTgt spid="14"/>
                                        </p:tgtEl>
                                      </p:cBhvr>
                                      <p:to x="100000" y="100000"/>
                                    </p:animScale>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nodeType="click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1000"/>
                                        <p:tgtEl>
                                          <p:spTgt spid="23"/>
                                        </p:tgtEl>
                                      </p:cBhvr>
                                    </p:animEffect>
                                    <p:anim calcmode="lin" valueType="num">
                                      <p:cBhvr>
                                        <p:cTn id="96" dur="1000" fill="hold"/>
                                        <p:tgtEl>
                                          <p:spTgt spid="23"/>
                                        </p:tgtEl>
                                        <p:attrNameLst>
                                          <p:attrName>ppt_x</p:attrName>
                                        </p:attrNameLst>
                                      </p:cBhvr>
                                      <p:tavLst>
                                        <p:tav tm="0">
                                          <p:val>
                                            <p:strVal val="#ppt_x"/>
                                          </p:val>
                                        </p:tav>
                                        <p:tav tm="100000">
                                          <p:val>
                                            <p:strVal val="#ppt_x"/>
                                          </p:val>
                                        </p:tav>
                                      </p:tavLst>
                                    </p:anim>
                                    <p:anim calcmode="lin" valueType="num">
                                      <p:cBhvr>
                                        <p:cTn id="97"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Formation of a Contract</a:t>
            </a:r>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a:off x="1752600" y="2064327"/>
            <a:ext cx="2057400" cy="914400"/>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800" dirty="0">
                <a:latin typeface="Times New Roman" panose="02020603050405020304" pitchFamily="18" charset="0"/>
                <a:cs typeface="Times New Roman" panose="02020603050405020304" pitchFamily="18" charset="0"/>
              </a:rPr>
              <a:t>OFFER</a:t>
            </a:r>
          </a:p>
        </p:txBody>
      </p:sp>
      <p:sp>
        <p:nvSpPr>
          <p:cNvPr id="5" name="Rectangle 4"/>
          <p:cNvSpPr/>
          <p:nvPr/>
        </p:nvSpPr>
        <p:spPr>
          <a:xfrm>
            <a:off x="4495800" y="2064327"/>
            <a:ext cx="2590800" cy="914400"/>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ACCEPTANCE</a:t>
            </a:r>
          </a:p>
        </p:txBody>
      </p:sp>
      <p:sp>
        <p:nvSpPr>
          <p:cNvPr id="6" name="Rectangle 5"/>
          <p:cNvSpPr/>
          <p:nvPr/>
        </p:nvSpPr>
        <p:spPr>
          <a:xfrm>
            <a:off x="8001000" y="2064327"/>
            <a:ext cx="2133600" cy="914400"/>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800" dirty="0">
                <a:latin typeface="Times New Roman" panose="02020603050405020304" pitchFamily="18" charset="0"/>
                <a:cs typeface="Times New Roman" panose="02020603050405020304" pitchFamily="18" charset="0"/>
              </a:rPr>
              <a:t>CONTRACT</a:t>
            </a:r>
          </a:p>
        </p:txBody>
      </p:sp>
      <p:sp>
        <p:nvSpPr>
          <p:cNvPr id="7" name="Rectangle 6"/>
          <p:cNvSpPr/>
          <p:nvPr/>
        </p:nvSpPr>
        <p:spPr>
          <a:xfrm>
            <a:off x="2895600" y="3886200"/>
            <a:ext cx="2590800" cy="914400"/>
          </a:xfrm>
          <a:prstGeom prst="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2800" dirty="0">
                <a:latin typeface="Times New Roman" panose="02020603050405020304" pitchFamily="18" charset="0"/>
                <a:cs typeface="Times New Roman" panose="02020603050405020304" pitchFamily="18" charset="0"/>
              </a:rPr>
              <a:t>CONSIDERATION</a:t>
            </a:r>
          </a:p>
        </p:txBody>
      </p:sp>
      <p:sp>
        <p:nvSpPr>
          <p:cNvPr id="8" name="Oval 7"/>
          <p:cNvSpPr/>
          <p:nvPr/>
        </p:nvSpPr>
        <p:spPr>
          <a:xfrm>
            <a:off x="4038600" y="2313709"/>
            <a:ext cx="457200" cy="457200"/>
          </a:xfrm>
          <a:prstGeom prst="ellipse">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5400" dirty="0"/>
              <a:t>+</a:t>
            </a:r>
          </a:p>
        </p:txBody>
      </p:sp>
      <p:sp>
        <p:nvSpPr>
          <p:cNvPr id="9" name="Oval 8"/>
          <p:cNvSpPr/>
          <p:nvPr/>
        </p:nvSpPr>
        <p:spPr>
          <a:xfrm>
            <a:off x="7315200" y="2292927"/>
            <a:ext cx="457200" cy="457200"/>
          </a:xfrm>
          <a:prstGeom prst="ellipse">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sz="6600" dirty="0"/>
              <a:t>=</a:t>
            </a:r>
          </a:p>
        </p:txBody>
      </p:sp>
      <p:sp>
        <p:nvSpPr>
          <p:cNvPr id="10" name="Right Brace 9"/>
          <p:cNvSpPr/>
          <p:nvPr/>
        </p:nvSpPr>
        <p:spPr>
          <a:xfrm rot="5400000">
            <a:off x="3695700" y="1714500"/>
            <a:ext cx="990600" cy="3048000"/>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77627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circle(in)">
                                      <p:cBhvr>
                                        <p:cTn id="15" dur="20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1000"/>
                                        <p:tgtEl>
                                          <p:spTgt spid="5"/>
                                        </p:tgtEl>
                                      </p:cBhvr>
                                    </p:animEffect>
                                    <p:anim calcmode="lin" valueType="num">
                                      <p:cBhvr>
                                        <p:cTn id="21" dur="1000" fill="hold"/>
                                        <p:tgtEl>
                                          <p:spTgt spid="5"/>
                                        </p:tgtEl>
                                        <p:attrNameLst>
                                          <p:attrName>ppt_x</p:attrName>
                                        </p:attrNameLst>
                                      </p:cBhvr>
                                      <p:tavLst>
                                        <p:tav tm="0">
                                          <p:val>
                                            <p:strVal val="#ppt_x"/>
                                          </p:val>
                                        </p:tav>
                                        <p:tav tm="100000">
                                          <p:val>
                                            <p:strVal val="#ppt_x"/>
                                          </p:val>
                                        </p:tav>
                                      </p:tavLst>
                                    </p:anim>
                                    <p:anim calcmode="lin" valueType="num">
                                      <p:cBhvr>
                                        <p:cTn id="22"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6"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80">
                                          <p:stCondLst>
                                            <p:cond delay="0"/>
                                          </p:stCondLst>
                                        </p:cTn>
                                        <p:tgtEl>
                                          <p:spTgt spid="10"/>
                                        </p:tgtEl>
                                      </p:cBhvr>
                                    </p:animEffect>
                                    <p:anim calcmode="lin" valueType="num">
                                      <p:cBhvr>
                                        <p:cTn id="28"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29"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0"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31"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32"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33" dur="26">
                                          <p:stCondLst>
                                            <p:cond delay="650"/>
                                          </p:stCondLst>
                                        </p:cTn>
                                        <p:tgtEl>
                                          <p:spTgt spid="10"/>
                                        </p:tgtEl>
                                      </p:cBhvr>
                                      <p:to x="100000" y="60000"/>
                                    </p:animScale>
                                    <p:animScale>
                                      <p:cBhvr>
                                        <p:cTn id="34" dur="166" decel="50000">
                                          <p:stCondLst>
                                            <p:cond delay="676"/>
                                          </p:stCondLst>
                                        </p:cTn>
                                        <p:tgtEl>
                                          <p:spTgt spid="10"/>
                                        </p:tgtEl>
                                      </p:cBhvr>
                                      <p:to x="100000" y="100000"/>
                                    </p:animScale>
                                    <p:animScale>
                                      <p:cBhvr>
                                        <p:cTn id="35" dur="26">
                                          <p:stCondLst>
                                            <p:cond delay="1312"/>
                                          </p:stCondLst>
                                        </p:cTn>
                                        <p:tgtEl>
                                          <p:spTgt spid="10"/>
                                        </p:tgtEl>
                                      </p:cBhvr>
                                      <p:to x="100000" y="80000"/>
                                    </p:animScale>
                                    <p:animScale>
                                      <p:cBhvr>
                                        <p:cTn id="36" dur="166" decel="50000">
                                          <p:stCondLst>
                                            <p:cond delay="1338"/>
                                          </p:stCondLst>
                                        </p:cTn>
                                        <p:tgtEl>
                                          <p:spTgt spid="10"/>
                                        </p:tgtEl>
                                      </p:cBhvr>
                                      <p:to x="100000" y="100000"/>
                                    </p:animScale>
                                    <p:animScale>
                                      <p:cBhvr>
                                        <p:cTn id="37" dur="26">
                                          <p:stCondLst>
                                            <p:cond delay="1642"/>
                                          </p:stCondLst>
                                        </p:cTn>
                                        <p:tgtEl>
                                          <p:spTgt spid="10"/>
                                        </p:tgtEl>
                                      </p:cBhvr>
                                      <p:to x="100000" y="90000"/>
                                    </p:animScale>
                                    <p:animScale>
                                      <p:cBhvr>
                                        <p:cTn id="38" dur="166" decel="50000">
                                          <p:stCondLst>
                                            <p:cond delay="1668"/>
                                          </p:stCondLst>
                                        </p:cTn>
                                        <p:tgtEl>
                                          <p:spTgt spid="10"/>
                                        </p:tgtEl>
                                      </p:cBhvr>
                                      <p:to x="100000" y="100000"/>
                                    </p:animScale>
                                    <p:animScale>
                                      <p:cBhvr>
                                        <p:cTn id="39" dur="26">
                                          <p:stCondLst>
                                            <p:cond delay="1808"/>
                                          </p:stCondLst>
                                        </p:cTn>
                                        <p:tgtEl>
                                          <p:spTgt spid="10"/>
                                        </p:tgtEl>
                                      </p:cBhvr>
                                      <p:to x="100000" y="95000"/>
                                    </p:animScale>
                                    <p:animScale>
                                      <p:cBhvr>
                                        <p:cTn id="40" dur="166" decel="50000">
                                          <p:stCondLst>
                                            <p:cond delay="1834"/>
                                          </p:stCondLst>
                                        </p:cTn>
                                        <p:tgtEl>
                                          <p:spTgt spid="10"/>
                                        </p:tgtEl>
                                      </p:cBhvr>
                                      <p:to x="100000" y="100000"/>
                                    </p:animScale>
                                  </p:childTnLst>
                                </p:cTn>
                              </p:par>
                              <p:par>
                                <p:cTn id="41" presetID="26"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wipe(down)">
                                      <p:cBhvr>
                                        <p:cTn id="43" dur="580">
                                          <p:stCondLst>
                                            <p:cond delay="0"/>
                                          </p:stCondLst>
                                        </p:cTn>
                                        <p:tgtEl>
                                          <p:spTgt spid="7"/>
                                        </p:tgtEl>
                                      </p:cBhvr>
                                    </p:animEffect>
                                    <p:anim calcmode="lin" valueType="num">
                                      <p:cBhvr>
                                        <p:cTn id="44"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49" dur="26">
                                          <p:stCondLst>
                                            <p:cond delay="650"/>
                                          </p:stCondLst>
                                        </p:cTn>
                                        <p:tgtEl>
                                          <p:spTgt spid="7"/>
                                        </p:tgtEl>
                                      </p:cBhvr>
                                      <p:to x="100000" y="60000"/>
                                    </p:animScale>
                                    <p:animScale>
                                      <p:cBhvr>
                                        <p:cTn id="50" dur="166" decel="50000">
                                          <p:stCondLst>
                                            <p:cond delay="676"/>
                                          </p:stCondLst>
                                        </p:cTn>
                                        <p:tgtEl>
                                          <p:spTgt spid="7"/>
                                        </p:tgtEl>
                                      </p:cBhvr>
                                      <p:to x="100000" y="100000"/>
                                    </p:animScale>
                                    <p:animScale>
                                      <p:cBhvr>
                                        <p:cTn id="51" dur="26">
                                          <p:stCondLst>
                                            <p:cond delay="1312"/>
                                          </p:stCondLst>
                                        </p:cTn>
                                        <p:tgtEl>
                                          <p:spTgt spid="7"/>
                                        </p:tgtEl>
                                      </p:cBhvr>
                                      <p:to x="100000" y="80000"/>
                                    </p:animScale>
                                    <p:animScale>
                                      <p:cBhvr>
                                        <p:cTn id="52" dur="166" decel="50000">
                                          <p:stCondLst>
                                            <p:cond delay="1338"/>
                                          </p:stCondLst>
                                        </p:cTn>
                                        <p:tgtEl>
                                          <p:spTgt spid="7"/>
                                        </p:tgtEl>
                                      </p:cBhvr>
                                      <p:to x="100000" y="100000"/>
                                    </p:animScale>
                                    <p:animScale>
                                      <p:cBhvr>
                                        <p:cTn id="53" dur="26">
                                          <p:stCondLst>
                                            <p:cond delay="1642"/>
                                          </p:stCondLst>
                                        </p:cTn>
                                        <p:tgtEl>
                                          <p:spTgt spid="7"/>
                                        </p:tgtEl>
                                      </p:cBhvr>
                                      <p:to x="100000" y="90000"/>
                                    </p:animScale>
                                    <p:animScale>
                                      <p:cBhvr>
                                        <p:cTn id="54" dur="166" decel="50000">
                                          <p:stCondLst>
                                            <p:cond delay="1668"/>
                                          </p:stCondLst>
                                        </p:cTn>
                                        <p:tgtEl>
                                          <p:spTgt spid="7"/>
                                        </p:tgtEl>
                                      </p:cBhvr>
                                      <p:to x="100000" y="100000"/>
                                    </p:animScale>
                                    <p:animScale>
                                      <p:cBhvr>
                                        <p:cTn id="55" dur="26">
                                          <p:stCondLst>
                                            <p:cond delay="1808"/>
                                          </p:stCondLst>
                                        </p:cTn>
                                        <p:tgtEl>
                                          <p:spTgt spid="7"/>
                                        </p:tgtEl>
                                      </p:cBhvr>
                                      <p:to x="100000" y="95000"/>
                                    </p:animScale>
                                    <p:animScale>
                                      <p:cBhvr>
                                        <p:cTn id="56" dur="166" decel="50000">
                                          <p:stCondLst>
                                            <p:cond delay="1834"/>
                                          </p:stCondLst>
                                        </p:cTn>
                                        <p:tgtEl>
                                          <p:spTgt spid="7"/>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1000"/>
                                        <p:tgtEl>
                                          <p:spTgt spid="9"/>
                                        </p:tgtEl>
                                      </p:cBhvr>
                                    </p:animEffect>
                                    <p:anim calcmode="lin" valueType="num">
                                      <p:cBhvr>
                                        <p:cTn id="62" dur="1000" fill="hold"/>
                                        <p:tgtEl>
                                          <p:spTgt spid="9"/>
                                        </p:tgtEl>
                                        <p:attrNameLst>
                                          <p:attrName>ppt_x</p:attrName>
                                        </p:attrNameLst>
                                      </p:cBhvr>
                                      <p:tavLst>
                                        <p:tav tm="0">
                                          <p:val>
                                            <p:strVal val="#ppt_x"/>
                                          </p:val>
                                        </p:tav>
                                        <p:tav tm="100000">
                                          <p:val>
                                            <p:strVal val="#ppt_x"/>
                                          </p:val>
                                        </p:tav>
                                      </p:tavLst>
                                    </p:anim>
                                    <p:anim calcmode="lin" valueType="num">
                                      <p:cBhvr>
                                        <p:cTn id="6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 presetClass="entr" presetSubtype="4" fill="hold" grpId="0" nodeType="clickEffect">
                                  <p:stCondLst>
                                    <p:cond delay="0"/>
                                  </p:stCondLst>
                                  <p:childTnLst>
                                    <p:set>
                                      <p:cBhvr>
                                        <p:cTn id="67" dur="1" fill="hold">
                                          <p:stCondLst>
                                            <p:cond delay="0"/>
                                          </p:stCondLst>
                                        </p:cTn>
                                        <p:tgtEl>
                                          <p:spTgt spid="6"/>
                                        </p:tgtEl>
                                        <p:attrNameLst>
                                          <p:attrName>style.visibility</p:attrName>
                                        </p:attrNameLst>
                                      </p:cBhvr>
                                      <p:to>
                                        <p:strVal val="visible"/>
                                      </p:to>
                                    </p:set>
                                    <p:anim calcmode="lin" valueType="num">
                                      <p:cBhvr additive="base">
                                        <p:cTn id="68" dur="500" fill="hold"/>
                                        <p:tgtEl>
                                          <p:spTgt spid="6"/>
                                        </p:tgtEl>
                                        <p:attrNameLst>
                                          <p:attrName>ppt_x</p:attrName>
                                        </p:attrNameLst>
                                      </p:cBhvr>
                                      <p:tavLst>
                                        <p:tav tm="0">
                                          <p:val>
                                            <p:strVal val="#ppt_x"/>
                                          </p:val>
                                        </p:tav>
                                        <p:tav tm="100000">
                                          <p:val>
                                            <p:strVal val="#ppt_x"/>
                                          </p:val>
                                        </p:tav>
                                      </p:tavLst>
                                    </p:anim>
                                    <p:anim calcmode="lin" valueType="num">
                                      <p:cBhvr additive="base">
                                        <p:cTn id="6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Elements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Agreement between the parties </a:t>
            </a:r>
          </a:p>
          <a:p>
            <a:pPr marL="0" indent="0">
              <a:buNone/>
            </a:pPr>
            <a:r>
              <a:rPr lang="en-US" dirty="0" smtClean="0">
                <a:latin typeface="Times New Roman" panose="02020603050405020304" pitchFamily="18" charset="0"/>
                <a:cs typeface="Times New Roman" panose="02020603050405020304" pitchFamily="18" charset="0"/>
              </a:rPr>
              <a:t>(Verbal or Written or half verbal-half written)</a:t>
            </a:r>
          </a:p>
          <a:p>
            <a:r>
              <a:rPr lang="en-US" dirty="0" smtClean="0">
                <a:latin typeface="Times New Roman" panose="02020603050405020304" pitchFamily="18" charset="0"/>
                <a:cs typeface="Times New Roman" panose="02020603050405020304" pitchFamily="18" charset="0"/>
              </a:rPr>
              <a:t>Intention of the parties</a:t>
            </a:r>
          </a:p>
          <a:p>
            <a:r>
              <a:rPr lang="en-US" dirty="0" smtClean="0">
                <a:latin typeface="Times New Roman" panose="02020603050405020304" pitchFamily="18" charset="0"/>
                <a:cs typeface="Times New Roman" panose="02020603050405020304" pitchFamily="18" charset="0"/>
              </a:rPr>
              <a:t>Forms or modes of agreement</a:t>
            </a:r>
          </a:p>
          <a:p>
            <a:r>
              <a:rPr lang="en-US" dirty="0" smtClean="0">
                <a:latin typeface="Times New Roman" panose="02020603050405020304" pitchFamily="18" charset="0"/>
                <a:cs typeface="Times New Roman" panose="02020603050405020304" pitchFamily="18" charset="0"/>
              </a:rPr>
              <a:t>Legality and possibility of the object</a:t>
            </a:r>
          </a:p>
          <a:p>
            <a:r>
              <a:rPr lang="en-US" dirty="0" smtClean="0">
                <a:latin typeface="Times New Roman" panose="02020603050405020304" pitchFamily="18" charset="0"/>
                <a:cs typeface="Times New Roman" panose="02020603050405020304" pitchFamily="18" charset="0"/>
              </a:rPr>
              <a:t>Capacity of the parties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94859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Capacity of </a:t>
            </a:r>
            <a:r>
              <a:rPr lang="en-US" dirty="0">
                <a:latin typeface="Times New Roman" panose="02020603050405020304" pitchFamily="18" charset="0"/>
                <a:cs typeface="Times New Roman" panose="02020603050405020304" pitchFamily="18" charset="0"/>
              </a:rPr>
              <a:t>P</a:t>
            </a:r>
            <a:r>
              <a:rPr lang="en-US" dirty="0" smtClean="0">
                <a:latin typeface="Times New Roman" panose="02020603050405020304" pitchFamily="18" charset="0"/>
                <a:cs typeface="Times New Roman" panose="02020603050405020304" pitchFamily="18" charset="0"/>
              </a:rPr>
              <a:t>arties to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dirty="0" smtClean="0">
                <a:latin typeface="Times New Roman" panose="02020603050405020304" pitchFamily="18" charset="0"/>
                <a:cs typeface="Times New Roman" panose="02020603050405020304" pitchFamily="18" charset="0"/>
              </a:rPr>
              <a:t>The chief categories of contractual disabilities are…</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Minors</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Lunacy</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Drunkenness</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Insolvency</a:t>
            </a:r>
          </a:p>
          <a:p>
            <a:pPr marL="0" indent="0">
              <a:buNone/>
            </a:pPr>
            <a:r>
              <a:rPr lang="en-US" dirty="0">
                <a:latin typeface="Times New Roman" panose="02020603050405020304" pitchFamily="18" charset="0"/>
                <a:cs typeface="Times New Roman" panose="02020603050405020304" pitchFamily="18" charset="0"/>
              </a:rPr>
              <a:t>	</a:t>
            </a:r>
            <a:r>
              <a:rPr lang="en-US" b="1" dirty="0" smtClean="0">
                <a:solidFill>
                  <a:srgbClr val="FF0000"/>
                </a:solidFill>
                <a:latin typeface="Times New Roman" panose="02020603050405020304" pitchFamily="18" charset="0"/>
                <a:cs typeface="Times New Roman" panose="02020603050405020304" pitchFamily="18" charset="0"/>
              </a:rPr>
              <a:t>Marriage</a:t>
            </a:r>
          </a:p>
          <a:p>
            <a:pPr marL="0" indent="0">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5931477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Capacity of Parties to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Exceptions….</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With the assistance of a guardian</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the lunatic interval</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At the sober</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65220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a:t>
            </a:r>
            <a:r>
              <a:rPr lang="en-US" dirty="0" smtClean="0">
                <a:latin typeface="Times New Roman" panose="02020603050405020304" pitchFamily="18" charset="0"/>
                <a:cs typeface="Times New Roman" panose="02020603050405020304" pitchFamily="18" charset="0"/>
              </a:rPr>
              <a:t>ffer</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An offer is an expression of willingness to contract with the intention of the offeror.</a:t>
            </a:r>
            <a:endParaRPr lang="en-US" dirty="0">
              <a:latin typeface="Times New Roman" panose="02020603050405020304" pitchFamily="18" charset="0"/>
              <a:cs typeface="Times New Roman" panose="02020603050405020304" pitchFamily="18" charset="0"/>
            </a:endParaRPr>
          </a:p>
        </p:txBody>
      </p:sp>
      <p:pic>
        <p:nvPicPr>
          <p:cNvPr id="4" name="Picture 2" descr="C:\Users\user\Desktop\guy-990359_960_720.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99736" y="3962400"/>
            <a:ext cx="901065" cy="2514600"/>
          </a:xfrm>
          <a:prstGeom prst="rect">
            <a:avLst/>
          </a:prstGeom>
          <a:noFill/>
          <a:extLst>
            <a:ext uri="{909E8E84-426E-40DD-AFC4-6F175D3DCCD1}">
              <a14:hiddenFill xmlns:a14="http://schemas.microsoft.com/office/drawing/2010/main">
                <a:solidFill>
                  <a:srgbClr val="FFFFFF"/>
                </a:solidFill>
              </a14:hiddenFill>
            </a:ext>
          </a:extLst>
        </p:spPr>
      </p:pic>
      <p:sp>
        <p:nvSpPr>
          <p:cNvPr id="5" name="Oval Callout 4"/>
          <p:cNvSpPr/>
          <p:nvPr/>
        </p:nvSpPr>
        <p:spPr>
          <a:xfrm>
            <a:off x="6096000" y="2971800"/>
            <a:ext cx="2590800" cy="1447800"/>
          </a:xfrm>
          <a:prstGeom prst="wedgeEllipseCallou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I sell my car for </a:t>
            </a:r>
            <a:r>
              <a:rPr lang="en-US" dirty="0" err="1"/>
              <a:t>Rs</a:t>
            </a:r>
            <a:r>
              <a:rPr lang="en-US" dirty="0"/>
              <a:t>. 6,000,000/-</a:t>
            </a:r>
          </a:p>
        </p:txBody>
      </p:sp>
      <p:grpSp>
        <p:nvGrpSpPr>
          <p:cNvPr id="6" name="Group 5"/>
          <p:cNvGrpSpPr/>
          <p:nvPr/>
        </p:nvGrpSpPr>
        <p:grpSpPr>
          <a:xfrm>
            <a:off x="3829710" y="2819400"/>
            <a:ext cx="1981200" cy="1371600"/>
            <a:chOff x="152400" y="1066800"/>
            <a:chExt cx="1981200" cy="1371600"/>
          </a:xfrm>
        </p:grpSpPr>
        <p:sp>
          <p:nvSpPr>
            <p:cNvPr id="7" name="Cloud Callout 6"/>
            <p:cNvSpPr/>
            <p:nvPr/>
          </p:nvSpPr>
          <p:spPr>
            <a:xfrm flipH="1">
              <a:off x="152400" y="1066800"/>
              <a:ext cx="1981200" cy="1371600"/>
            </a:xfrm>
            <a:prstGeom prst="cloudCallout">
              <a:avLst>
                <a:gd name="adj1" fmla="val -40413"/>
                <a:gd name="adj2" fmla="val 61490"/>
              </a:avLst>
            </a:prstGeom>
            <a:noFill/>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a:p>
          </p:txBody>
        </p:sp>
        <p:pic>
          <p:nvPicPr>
            <p:cNvPr id="8" name="Picture 4" descr="C:\Users\user\Desktop\image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23850" y="1515222"/>
              <a:ext cx="1581150" cy="474756"/>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ounded Rectangle 8"/>
          <p:cNvSpPr/>
          <p:nvPr/>
        </p:nvSpPr>
        <p:spPr>
          <a:xfrm>
            <a:off x="3962400" y="5372100"/>
            <a:ext cx="1600200" cy="3429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dirty="0"/>
              <a:t>Offeror</a:t>
            </a:r>
          </a:p>
        </p:txBody>
      </p:sp>
    </p:spTree>
    <p:extLst>
      <p:ext uri="{BB962C8B-B14F-4D97-AF65-F5344CB8AC3E}">
        <p14:creationId xmlns:p14="http://schemas.microsoft.com/office/powerpoint/2010/main" val="882454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 calcmode="lin" valueType="num">
                                      <p:cBhvr>
                                        <p:cTn id="16" dur="1000" fill="hold"/>
                                        <p:tgtEl>
                                          <p:spTgt spid="6"/>
                                        </p:tgtEl>
                                        <p:attrNameLst>
                                          <p:attrName>style.rotation</p:attrName>
                                        </p:attrNameLst>
                                      </p:cBhvr>
                                      <p:tavLst>
                                        <p:tav tm="0">
                                          <p:val>
                                            <p:fltVal val="90"/>
                                          </p:val>
                                        </p:tav>
                                        <p:tav tm="100000">
                                          <p:val>
                                            <p:fltVal val="0"/>
                                          </p:val>
                                        </p:tav>
                                      </p:tavLst>
                                    </p:anim>
                                    <p:animEffect transition="in" filter="fade">
                                      <p:cBhvr>
                                        <p:cTn id="17" dur="1000"/>
                                        <p:tgtEl>
                                          <p:spTgt spid="6"/>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 calcmode="lin" valueType="num">
                                      <p:cBhvr>
                                        <p:cTn id="20" dur="1000" fill="hold"/>
                                        <p:tgtEl>
                                          <p:spTgt spid="5"/>
                                        </p:tgtEl>
                                        <p:attrNameLst>
                                          <p:attrName>ppt_w</p:attrName>
                                        </p:attrNameLst>
                                      </p:cBhvr>
                                      <p:tavLst>
                                        <p:tav tm="0">
                                          <p:val>
                                            <p:fltVal val="0"/>
                                          </p:val>
                                        </p:tav>
                                        <p:tav tm="100000">
                                          <p:val>
                                            <p:strVal val="#ppt_w"/>
                                          </p:val>
                                        </p:tav>
                                      </p:tavLst>
                                    </p:anim>
                                    <p:anim calcmode="lin" valueType="num">
                                      <p:cBhvr>
                                        <p:cTn id="21" dur="1000" fill="hold"/>
                                        <p:tgtEl>
                                          <p:spTgt spid="5"/>
                                        </p:tgtEl>
                                        <p:attrNameLst>
                                          <p:attrName>ppt_h</p:attrName>
                                        </p:attrNameLst>
                                      </p:cBhvr>
                                      <p:tavLst>
                                        <p:tav tm="0">
                                          <p:val>
                                            <p:fltVal val="0"/>
                                          </p:val>
                                        </p:tav>
                                        <p:tav tm="100000">
                                          <p:val>
                                            <p:strVal val="#ppt_h"/>
                                          </p:val>
                                        </p:tav>
                                      </p:tavLst>
                                    </p:anim>
                                    <p:anim calcmode="lin" valueType="num">
                                      <p:cBhvr>
                                        <p:cTn id="22" dur="1000" fill="hold"/>
                                        <p:tgtEl>
                                          <p:spTgt spid="5"/>
                                        </p:tgtEl>
                                        <p:attrNameLst>
                                          <p:attrName>style.rotation</p:attrName>
                                        </p:attrNameLst>
                                      </p:cBhvr>
                                      <p:tavLst>
                                        <p:tav tm="0">
                                          <p:val>
                                            <p:fltVal val="90"/>
                                          </p:val>
                                        </p:tav>
                                        <p:tav tm="100000">
                                          <p:val>
                                            <p:fltVal val="0"/>
                                          </p:val>
                                        </p:tav>
                                      </p:tavLst>
                                    </p:anim>
                                    <p:animEffect transition="in" filter="fade">
                                      <p:cBhvr>
                                        <p:cTn id="23" dur="10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26" presetClass="entr" presetSubtype="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80">
                                          <p:stCondLst>
                                            <p:cond delay="0"/>
                                          </p:stCondLst>
                                        </p:cTn>
                                        <p:tgtEl>
                                          <p:spTgt spid="9"/>
                                        </p:tgtEl>
                                      </p:cBhvr>
                                    </p:animEffect>
                                    <p:anim calcmode="lin" valueType="num">
                                      <p:cBhvr>
                                        <p:cTn id="29"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34" dur="26">
                                          <p:stCondLst>
                                            <p:cond delay="650"/>
                                          </p:stCondLst>
                                        </p:cTn>
                                        <p:tgtEl>
                                          <p:spTgt spid="9"/>
                                        </p:tgtEl>
                                      </p:cBhvr>
                                      <p:to x="100000" y="60000"/>
                                    </p:animScale>
                                    <p:animScale>
                                      <p:cBhvr>
                                        <p:cTn id="35" dur="166" decel="50000">
                                          <p:stCondLst>
                                            <p:cond delay="676"/>
                                          </p:stCondLst>
                                        </p:cTn>
                                        <p:tgtEl>
                                          <p:spTgt spid="9"/>
                                        </p:tgtEl>
                                      </p:cBhvr>
                                      <p:to x="100000" y="100000"/>
                                    </p:animScale>
                                    <p:animScale>
                                      <p:cBhvr>
                                        <p:cTn id="36" dur="26">
                                          <p:stCondLst>
                                            <p:cond delay="1312"/>
                                          </p:stCondLst>
                                        </p:cTn>
                                        <p:tgtEl>
                                          <p:spTgt spid="9"/>
                                        </p:tgtEl>
                                      </p:cBhvr>
                                      <p:to x="100000" y="80000"/>
                                    </p:animScale>
                                    <p:animScale>
                                      <p:cBhvr>
                                        <p:cTn id="37" dur="166" decel="50000">
                                          <p:stCondLst>
                                            <p:cond delay="1338"/>
                                          </p:stCondLst>
                                        </p:cTn>
                                        <p:tgtEl>
                                          <p:spTgt spid="9"/>
                                        </p:tgtEl>
                                      </p:cBhvr>
                                      <p:to x="100000" y="100000"/>
                                    </p:animScale>
                                    <p:animScale>
                                      <p:cBhvr>
                                        <p:cTn id="38" dur="26">
                                          <p:stCondLst>
                                            <p:cond delay="1642"/>
                                          </p:stCondLst>
                                        </p:cTn>
                                        <p:tgtEl>
                                          <p:spTgt spid="9"/>
                                        </p:tgtEl>
                                      </p:cBhvr>
                                      <p:to x="100000" y="90000"/>
                                    </p:animScale>
                                    <p:animScale>
                                      <p:cBhvr>
                                        <p:cTn id="39" dur="166" decel="50000">
                                          <p:stCondLst>
                                            <p:cond delay="1668"/>
                                          </p:stCondLst>
                                        </p:cTn>
                                        <p:tgtEl>
                                          <p:spTgt spid="9"/>
                                        </p:tgtEl>
                                      </p:cBhvr>
                                      <p:to x="100000" y="100000"/>
                                    </p:animScale>
                                    <p:animScale>
                                      <p:cBhvr>
                                        <p:cTn id="40" dur="26">
                                          <p:stCondLst>
                                            <p:cond delay="1808"/>
                                          </p:stCondLst>
                                        </p:cTn>
                                        <p:tgtEl>
                                          <p:spTgt spid="9"/>
                                        </p:tgtEl>
                                      </p:cBhvr>
                                      <p:to x="100000" y="95000"/>
                                    </p:animScale>
                                    <p:animScale>
                                      <p:cBhvr>
                                        <p:cTn id="41" dur="166" decel="50000">
                                          <p:stCondLst>
                                            <p:cond delay="1834"/>
                                          </p:stCondLst>
                                        </p:cTn>
                                        <p:tgtEl>
                                          <p:spTgt spid="9"/>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first requirement of a legally binding agreement is that there is an offer. One party is the </a:t>
            </a:r>
            <a:r>
              <a:rPr lang="en-US" i="1" dirty="0" err="1">
                <a:latin typeface="Times New Roman" panose="02020603050405020304" pitchFamily="18" charset="0"/>
                <a:cs typeface="Times New Roman" panose="02020603050405020304" pitchFamily="18" charset="0"/>
              </a:rPr>
              <a:t>offeror</a:t>
            </a:r>
            <a:r>
              <a:rPr lang="en-US" dirty="0">
                <a:latin typeface="Times New Roman" panose="02020603050405020304" pitchFamily="18" charset="0"/>
                <a:cs typeface="Times New Roman" panose="02020603050405020304" pitchFamily="18" charset="0"/>
              </a:rPr>
              <a:t>, who presents the offer, and one party is the </a:t>
            </a:r>
            <a:r>
              <a:rPr lang="en-US" i="1" dirty="0" err="1">
                <a:latin typeface="Times New Roman" panose="02020603050405020304" pitchFamily="18" charset="0"/>
                <a:cs typeface="Times New Roman" panose="02020603050405020304" pitchFamily="18" charset="0"/>
              </a:rPr>
              <a:t>offeree</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who is the potential acceptor of the offer.</a:t>
            </a:r>
          </a:p>
          <a:p>
            <a:pPr algn="just"/>
            <a:r>
              <a:rPr lang="en-US" dirty="0">
                <a:latin typeface="Times New Roman" panose="02020603050405020304" pitchFamily="18" charset="0"/>
                <a:cs typeface="Times New Roman" panose="02020603050405020304" pitchFamily="18" charset="0"/>
              </a:rPr>
              <a:t>The case of </a:t>
            </a:r>
            <a:r>
              <a:rPr lang="en-US" i="1" u="sng" dirty="0" err="1">
                <a:latin typeface="Times New Roman" panose="02020603050405020304" pitchFamily="18" charset="0"/>
                <a:cs typeface="Times New Roman" panose="02020603050405020304" pitchFamily="18" charset="0"/>
                <a:hlinkClick r:id="rId2"/>
              </a:rPr>
              <a:t>Storer</a:t>
            </a:r>
            <a:r>
              <a:rPr lang="en-US" i="1" u="sng" dirty="0">
                <a:latin typeface="Times New Roman" panose="02020603050405020304" pitchFamily="18" charset="0"/>
                <a:cs typeface="Times New Roman" panose="02020603050405020304" pitchFamily="18" charset="0"/>
                <a:hlinkClick r:id="rId2"/>
              </a:rPr>
              <a:t> v Manchester City Council</a:t>
            </a:r>
            <a:r>
              <a:rPr lang="en-US" dirty="0">
                <a:latin typeface="Times New Roman" panose="02020603050405020304" pitchFamily="18" charset="0"/>
                <a:cs typeface="Times New Roman" panose="02020603050405020304" pitchFamily="18" charset="0"/>
              </a:rPr>
              <a:t> [1974] </a:t>
            </a:r>
            <a:r>
              <a:rPr lang="en-US" dirty="0" smtClean="0">
                <a:latin typeface="Times New Roman" panose="02020603050405020304" pitchFamily="18" charset="0"/>
                <a:cs typeface="Times New Roman" panose="02020603050405020304" pitchFamily="18" charset="0"/>
              </a:rPr>
              <a:t>provides </a:t>
            </a:r>
            <a:r>
              <a:rPr lang="en-US" dirty="0">
                <a:latin typeface="Times New Roman" panose="02020603050405020304" pitchFamily="18" charset="0"/>
                <a:cs typeface="Times New Roman" panose="02020603050405020304" pitchFamily="18" charset="0"/>
              </a:rPr>
              <a:t>that an offer is:</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An expression of willingness to contract on specified terms</a:t>
            </a:r>
          </a:p>
          <a:p>
            <a:pPr marL="514350" indent="-514350" algn="just">
              <a:buFont typeface="+mj-lt"/>
              <a:buAutoNum type="arabicPeriod"/>
            </a:pPr>
            <a:r>
              <a:rPr lang="en-US" dirty="0">
                <a:latin typeface="Times New Roman" panose="02020603050405020304" pitchFamily="18" charset="0"/>
                <a:cs typeface="Times New Roman" panose="02020603050405020304" pitchFamily="18" charset="0"/>
              </a:rPr>
              <a:t>With the intention that it is to be binding once accepted</a:t>
            </a:r>
          </a:p>
          <a:p>
            <a:pPr algn="just"/>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7535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Invitation to Treat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Advertisement</a:t>
            </a:r>
          </a:p>
          <a:p>
            <a:r>
              <a:rPr lang="en-US" dirty="0" smtClean="0">
                <a:latin typeface="Times New Roman" panose="02020603050405020304" pitchFamily="18" charset="0"/>
                <a:cs typeface="Times New Roman" panose="02020603050405020304" pitchFamily="18" charset="0"/>
              </a:rPr>
              <a:t>Display of Goods</a:t>
            </a:r>
          </a:p>
          <a:p>
            <a:r>
              <a:rPr lang="en-US" dirty="0" smtClean="0">
                <a:latin typeface="Times New Roman" panose="02020603050405020304" pitchFamily="18" charset="0"/>
                <a:cs typeface="Times New Roman" panose="02020603050405020304" pitchFamily="18" charset="0"/>
              </a:rPr>
              <a:t>Price tag (statement of price)</a:t>
            </a:r>
          </a:p>
          <a:p>
            <a:r>
              <a:rPr lang="en-US" dirty="0" smtClean="0">
                <a:latin typeface="Times New Roman" panose="02020603050405020304" pitchFamily="18" charset="0"/>
                <a:cs typeface="Times New Roman" panose="02020603050405020304" pitchFamily="18" charset="0"/>
              </a:rPr>
              <a:t>Auction</a:t>
            </a:r>
          </a:p>
          <a:p>
            <a:r>
              <a:rPr lang="en-US" dirty="0" smtClean="0">
                <a:latin typeface="Times New Roman" panose="02020603050405020304" pitchFamily="18" charset="0"/>
                <a:cs typeface="Times New Roman" panose="02020603050405020304" pitchFamily="18" charset="0"/>
              </a:rPr>
              <a:t>Tender</a:t>
            </a:r>
          </a:p>
          <a:p>
            <a:r>
              <a:rPr lang="en-US" dirty="0" smtClean="0">
                <a:latin typeface="Times New Roman" panose="02020603050405020304" pitchFamily="18" charset="0"/>
                <a:cs typeface="Times New Roman" panose="02020603050405020304" pitchFamily="18" charset="0"/>
              </a:rPr>
              <a:t>Vending machine</a:t>
            </a:r>
          </a:p>
          <a:p>
            <a:endParaRPr lang="en-US" dirty="0">
              <a:latin typeface="Times New Roman" panose="02020603050405020304" pitchFamily="18" charset="0"/>
              <a:cs typeface="Times New Roman" panose="02020603050405020304" pitchFamily="18" charset="0"/>
            </a:endParaRPr>
          </a:p>
        </p:txBody>
      </p:sp>
      <p:pic>
        <p:nvPicPr>
          <p:cNvPr id="2050" name="Picture 2" descr="C:\Users\user\Desktop\downloa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1838326"/>
            <a:ext cx="2514600" cy="1819275"/>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user\Desktop\download (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7187" y="3495676"/>
            <a:ext cx="1647826" cy="176212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user\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43801" y="5091113"/>
            <a:ext cx="2752725" cy="166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724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Case study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err="1" smtClean="0">
                <a:latin typeface="Times New Roman" panose="02020603050405020304" pitchFamily="18" charset="0"/>
                <a:cs typeface="Times New Roman" panose="02020603050405020304" pitchFamily="18" charset="0"/>
              </a:rPr>
              <a:t>Gunthing</a:t>
            </a:r>
            <a:r>
              <a:rPr lang="en-US" dirty="0" smtClean="0">
                <a:latin typeface="Times New Roman" panose="02020603050405020304" pitchFamily="18" charset="0"/>
                <a:cs typeface="Times New Roman" panose="02020603050405020304" pitchFamily="18" charset="0"/>
              </a:rPr>
              <a:t> vs. Lynn</a:t>
            </a:r>
          </a:p>
          <a:p>
            <a:r>
              <a:rPr lang="en-US" dirty="0" err="1" smtClean="0">
                <a:latin typeface="Times New Roman" panose="02020603050405020304" pitchFamily="18" charset="0"/>
                <a:cs typeface="Times New Roman" panose="02020603050405020304" pitchFamily="18" charset="0"/>
              </a:rPr>
              <a:t>Carlill</a:t>
            </a:r>
            <a:r>
              <a:rPr lang="en-US" dirty="0" smtClean="0">
                <a:latin typeface="Times New Roman" panose="02020603050405020304" pitchFamily="18" charset="0"/>
                <a:cs typeface="Times New Roman" panose="02020603050405020304" pitchFamily="18" charset="0"/>
              </a:rPr>
              <a:t> vs. Carbolic Smoke Ball Company</a:t>
            </a:r>
          </a:p>
          <a:p>
            <a:r>
              <a:rPr lang="en-US" dirty="0" smtClean="0">
                <a:latin typeface="Times New Roman" panose="02020603050405020304" pitchFamily="18" charset="0"/>
                <a:cs typeface="Times New Roman" panose="02020603050405020304" pitchFamily="18" charset="0"/>
              </a:rPr>
              <a:t>Fisher vs. Bell</a:t>
            </a:r>
          </a:p>
          <a:p>
            <a:r>
              <a:rPr lang="en-US" dirty="0" smtClean="0">
                <a:latin typeface="Times New Roman" panose="02020603050405020304" pitchFamily="18" charset="0"/>
                <a:cs typeface="Times New Roman" panose="02020603050405020304" pitchFamily="18" charset="0"/>
              </a:rPr>
              <a:t>Pharmaceutical Society of Great Britain vs. Boots Cash Chemists Ltd</a:t>
            </a:r>
          </a:p>
          <a:p>
            <a:r>
              <a:rPr lang="en-US" dirty="0" smtClean="0">
                <a:latin typeface="Times New Roman" panose="02020603050405020304" pitchFamily="18" charset="0"/>
                <a:cs typeface="Times New Roman" panose="02020603050405020304" pitchFamily="18" charset="0"/>
              </a:rPr>
              <a:t>Harvey vs. </a:t>
            </a:r>
            <a:r>
              <a:rPr lang="en-US" dirty="0" err="1" smtClean="0">
                <a:latin typeface="Times New Roman" panose="02020603050405020304" pitchFamily="18" charset="0"/>
                <a:cs typeface="Times New Roman" panose="02020603050405020304" pitchFamily="18" charset="0"/>
              </a:rPr>
              <a:t>Facey</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18622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3600" b="1" u="sng" dirty="0" err="1">
                <a:latin typeface="Times New Roman" panose="02020603050405020304" pitchFamily="18" charset="0"/>
                <a:cs typeface="Times New Roman" panose="02020603050405020304" pitchFamily="18" charset="0"/>
              </a:rPr>
              <a:t>Carlill</a:t>
            </a:r>
            <a:r>
              <a:rPr lang="en-US" sz="3600" b="1" u="sng" dirty="0">
                <a:latin typeface="Times New Roman" panose="02020603050405020304" pitchFamily="18" charset="0"/>
                <a:cs typeface="Times New Roman" panose="02020603050405020304" pitchFamily="18" charset="0"/>
              </a:rPr>
              <a:t> vs. Carbolic Smoke Ball </a:t>
            </a:r>
            <a:r>
              <a:rPr lang="en-US" sz="3600" b="1" u="sng" dirty="0" smtClean="0">
                <a:latin typeface="Times New Roman" panose="02020603050405020304" pitchFamily="18" charset="0"/>
                <a:cs typeface="Times New Roman" panose="02020603050405020304" pitchFamily="18" charset="0"/>
              </a:rPr>
              <a:t>Company (1892</a:t>
            </a:r>
            <a:r>
              <a:rPr lang="en-US" sz="3600" b="1" u="sng" dirty="0">
                <a:latin typeface="Times New Roman" panose="02020603050405020304" pitchFamily="18" charset="0"/>
                <a:cs typeface="Times New Roman" panose="02020603050405020304" pitchFamily="18" charset="0"/>
              </a:rPr>
              <a:t>)</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a:t>
            </a:r>
            <a:r>
              <a:rPr lang="en-US" dirty="0">
                <a:latin typeface="Times New Roman" panose="02020603050405020304" pitchFamily="18" charset="0"/>
                <a:cs typeface="Times New Roman" panose="02020603050405020304" pitchFamily="18" charset="0"/>
              </a:rPr>
              <a:t>Carbolic Smoke Ball Company of London (Defendant), placed an advertisement in several </a:t>
            </a:r>
            <a:r>
              <a:rPr lang="en-US" dirty="0" smtClean="0">
                <a:latin typeface="Times New Roman" panose="02020603050405020304" pitchFamily="18" charset="0"/>
                <a:cs typeface="Times New Roman" panose="02020603050405020304" pitchFamily="18" charset="0"/>
              </a:rPr>
              <a:t>newspapers stating </a:t>
            </a:r>
            <a:r>
              <a:rPr lang="en-US" dirty="0">
                <a:latin typeface="Times New Roman" panose="02020603050405020304" pitchFamily="18" charset="0"/>
                <a:cs typeface="Times New Roman" panose="02020603050405020304" pitchFamily="18" charset="0"/>
              </a:rPr>
              <a:t>that its product, “The Carbolic Smoke Ball”, when used three times daily, for two weeks, would prevent colds and influenza. </a:t>
            </a:r>
          </a:p>
        </p:txBody>
      </p:sp>
    </p:spTree>
    <p:extLst>
      <p:ext uri="{BB962C8B-B14F-4D97-AF65-F5344CB8AC3E}">
        <p14:creationId xmlns:p14="http://schemas.microsoft.com/office/powerpoint/2010/main" val="1990527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u="sng" dirty="0" err="1">
                <a:latin typeface="Times New Roman" panose="02020603050405020304" pitchFamily="18" charset="0"/>
                <a:cs typeface="Times New Roman" panose="02020603050405020304" pitchFamily="18" charset="0"/>
              </a:rPr>
              <a:t>Carlill</a:t>
            </a:r>
            <a:r>
              <a:rPr lang="en-US" sz="3600" b="1" u="sng" dirty="0">
                <a:latin typeface="Times New Roman" panose="02020603050405020304" pitchFamily="18" charset="0"/>
                <a:cs typeface="Times New Roman" panose="02020603050405020304" pitchFamily="18" charset="0"/>
              </a:rPr>
              <a:t> vs. Carbolic Smoke Ball Company (1892)</a:t>
            </a:r>
            <a:endParaRPr lang="en-US" sz="36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447801"/>
            <a:ext cx="3433762" cy="4800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2489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u="sng" dirty="0" err="1">
                <a:latin typeface="Times New Roman" panose="02020603050405020304" pitchFamily="18" charset="0"/>
                <a:cs typeface="Times New Roman" panose="02020603050405020304" pitchFamily="18" charset="0"/>
              </a:rPr>
              <a:t>Carlill</a:t>
            </a:r>
            <a:r>
              <a:rPr lang="en-US" sz="3600" b="1" u="sng" dirty="0">
                <a:latin typeface="Times New Roman" panose="02020603050405020304" pitchFamily="18" charset="0"/>
                <a:cs typeface="Times New Roman" panose="02020603050405020304" pitchFamily="18" charset="0"/>
              </a:rPr>
              <a:t> vs. Carbolic Smoke Ball Company (1892)</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makers of the smoke ball additionally offered a 100£ reward to anyone who caught influenza using their product, guaranteeing this reward by stating in their advertisement that they had deposited 1000£ in the bank as a show of their sincerity. </a:t>
            </a:r>
          </a:p>
        </p:txBody>
      </p:sp>
    </p:spTree>
    <p:extLst>
      <p:ext uri="{BB962C8B-B14F-4D97-AF65-F5344CB8AC3E}">
        <p14:creationId xmlns:p14="http://schemas.microsoft.com/office/powerpoint/2010/main" val="25690328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u="sng" dirty="0" err="1">
                <a:latin typeface="Times New Roman" panose="02020603050405020304" pitchFamily="18" charset="0"/>
                <a:cs typeface="Times New Roman" panose="02020603050405020304" pitchFamily="18" charset="0"/>
              </a:rPr>
              <a:t>Carlill</a:t>
            </a:r>
            <a:r>
              <a:rPr lang="en-US" sz="3600" b="1" u="sng" dirty="0">
                <a:latin typeface="Times New Roman" panose="02020603050405020304" pitchFamily="18" charset="0"/>
                <a:cs typeface="Times New Roman" panose="02020603050405020304" pitchFamily="18" charset="0"/>
              </a:rPr>
              <a:t> vs. Carbolic Smoke Ball Company (1892)</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Mrs. Lilli </a:t>
            </a:r>
            <a:r>
              <a:rPr lang="en-US" dirty="0" err="1">
                <a:latin typeface="Times New Roman" panose="02020603050405020304" pitchFamily="18" charset="0"/>
                <a:cs typeface="Times New Roman" panose="02020603050405020304" pitchFamily="18" charset="0"/>
              </a:rPr>
              <a:t>Carlill</a:t>
            </a:r>
            <a:r>
              <a:rPr lang="en-US" dirty="0">
                <a:latin typeface="Times New Roman" panose="02020603050405020304" pitchFamily="18" charset="0"/>
                <a:cs typeface="Times New Roman" panose="02020603050405020304" pitchFamily="18" charset="0"/>
              </a:rPr>
              <a:t> (Plaintiff), bought a smoke ball and used it as directed.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Several </a:t>
            </a:r>
            <a:r>
              <a:rPr lang="en-US" dirty="0">
                <a:latin typeface="Times New Roman" panose="02020603050405020304" pitchFamily="18" charset="0"/>
                <a:cs typeface="Times New Roman" panose="02020603050405020304" pitchFamily="18" charset="0"/>
              </a:rPr>
              <a:t>weeks after she began using the smoke ball, Plaintiff caught the flu.</a:t>
            </a:r>
          </a:p>
        </p:txBody>
      </p:sp>
    </p:spTree>
    <p:extLst>
      <p:ext uri="{BB962C8B-B14F-4D97-AF65-F5344CB8AC3E}">
        <p14:creationId xmlns:p14="http://schemas.microsoft.com/office/powerpoint/2010/main" val="1885664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u="sng" dirty="0">
                <a:latin typeface="Times New Roman" panose="02020603050405020304" pitchFamily="18" charset="0"/>
                <a:cs typeface="Times New Roman" panose="02020603050405020304" pitchFamily="18" charset="0"/>
                <a:hlinkClick r:id="rId2"/>
              </a:rPr>
              <a:t>Pharmaceutical Society of Great Britain v Boots Cash Chemists</a:t>
            </a:r>
            <a:r>
              <a:rPr lang="en-US" dirty="0">
                <a:latin typeface="Times New Roman" panose="02020603050405020304" pitchFamily="18" charset="0"/>
                <a:cs typeface="Times New Roman" panose="02020603050405020304" pitchFamily="18" charset="0"/>
              </a:rPr>
              <a:t> [1953] </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Boots operated a self-service store which included a pharmacy department.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Customers </a:t>
            </a:r>
            <a:r>
              <a:rPr lang="en-US" dirty="0">
                <a:latin typeface="Times New Roman" panose="02020603050405020304" pitchFamily="18" charset="0"/>
                <a:cs typeface="Times New Roman" panose="02020603050405020304" pitchFamily="18" charset="0"/>
              </a:rPr>
              <a:t>would select items from the shelves and take them to a cashier's desk at one of the exits where they were paid for.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When </a:t>
            </a:r>
            <a:r>
              <a:rPr lang="en-US" dirty="0">
                <a:latin typeface="Times New Roman" panose="02020603050405020304" pitchFamily="18" charset="0"/>
                <a:cs typeface="Times New Roman" panose="02020603050405020304" pitchFamily="18" charset="0"/>
              </a:rPr>
              <a:t>a drug was involved, a pharmacist supervised the sale.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Pharmaceutical Society alleged that Boots infringed the </a:t>
            </a:r>
            <a:r>
              <a:rPr lang="en-US" i="1" dirty="0">
                <a:latin typeface="Times New Roman" panose="02020603050405020304" pitchFamily="18" charset="0"/>
                <a:cs typeface="Times New Roman" panose="02020603050405020304" pitchFamily="18" charset="0"/>
              </a:rPr>
              <a:t>Pharmacy and Poisons Act</a:t>
            </a:r>
            <a:r>
              <a:rPr lang="en-US" dirty="0">
                <a:latin typeface="Times New Roman" panose="02020603050405020304" pitchFamily="18" charset="0"/>
                <a:cs typeface="Times New Roman" panose="02020603050405020304" pitchFamily="18" charset="0"/>
              </a:rPr>
              <a:t> 1933 requiring the sale of certain drugs to be supervised by a registered pharmacist. </a:t>
            </a:r>
          </a:p>
        </p:txBody>
      </p:sp>
    </p:spTree>
    <p:extLst>
      <p:ext uri="{BB962C8B-B14F-4D97-AF65-F5344CB8AC3E}">
        <p14:creationId xmlns:p14="http://schemas.microsoft.com/office/powerpoint/2010/main" val="15049286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i="1" u="sng" dirty="0">
                <a:latin typeface="Times New Roman" panose="02020603050405020304" pitchFamily="18" charset="0"/>
                <a:cs typeface="Times New Roman" panose="02020603050405020304" pitchFamily="18" charset="0"/>
                <a:hlinkClick r:id="rId2"/>
              </a:rPr>
              <a:t>Pharmaceutical Society of Great Britain v Boots Cash Chemists</a:t>
            </a:r>
            <a:r>
              <a:rPr lang="en-US" dirty="0">
                <a:latin typeface="Times New Roman" panose="02020603050405020304" pitchFamily="18" charset="0"/>
                <a:cs typeface="Times New Roman" panose="02020603050405020304" pitchFamily="18" charset="0"/>
              </a:rPr>
              <a:t> [1953] </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1981200"/>
            <a:ext cx="6096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2024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i="1" u="sng" dirty="0">
                <a:latin typeface="Times New Roman" panose="02020603050405020304" pitchFamily="18" charset="0"/>
                <a:cs typeface="Times New Roman" panose="02020603050405020304" pitchFamily="18" charset="0"/>
                <a:hlinkClick r:id="rId2"/>
              </a:rPr>
              <a:t>Fisher v Bell</a:t>
            </a:r>
            <a:r>
              <a:rPr lang="en-US" dirty="0">
                <a:latin typeface="Times New Roman" panose="02020603050405020304" pitchFamily="18" charset="0"/>
                <a:cs typeface="Times New Roman" panose="02020603050405020304" pitchFamily="18" charset="0"/>
              </a:rPr>
              <a:t> [1961]</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defendant shopkeeper displayed in his shop window a flick knife accompanied by a price ticket displayed just behind it.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He </a:t>
            </a:r>
            <a:r>
              <a:rPr lang="en-US" dirty="0">
                <a:latin typeface="Times New Roman" panose="02020603050405020304" pitchFamily="18" charset="0"/>
                <a:cs typeface="Times New Roman" panose="02020603050405020304" pitchFamily="18" charset="0"/>
              </a:rPr>
              <a:t>was charged with offering for sale a flick knife, contrary to s. 1 (1) of the </a:t>
            </a:r>
            <a:r>
              <a:rPr lang="en-US" b="1" dirty="0">
                <a:latin typeface="Times New Roman" panose="02020603050405020304" pitchFamily="18" charset="0"/>
                <a:cs typeface="Times New Roman" panose="02020603050405020304" pitchFamily="18" charset="0"/>
              </a:rPr>
              <a:t>Restriction of Offensive Weapons Act 1959.</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8671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i="1" u="sng" dirty="0">
                <a:latin typeface="Times New Roman" panose="02020603050405020304" pitchFamily="18" charset="0"/>
                <a:cs typeface="Times New Roman" panose="02020603050405020304" pitchFamily="18" charset="0"/>
                <a:hlinkClick r:id="rId2"/>
              </a:rPr>
              <a:t>Fisher v Bell</a:t>
            </a:r>
            <a:r>
              <a:rPr lang="en-US" dirty="0">
                <a:latin typeface="Times New Roman" panose="02020603050405020304" pitchFamily="18" charset="0"/>
                <a:cs typeface="Times New Roman" panose="02020603050405020304" pitchFamily="18" charset="0"/>
              </a:rPr>
              <a:t> [1961]</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209800"/>
            <a:ext cx="26670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descr="Knafs Co Lander EDC Folding Knife - 2.75&quot; D2 Steel Black Blade, Black G10  Handl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77000" y="3048000"/>
            <a:ext cx="2209800"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6644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i="1" u="sng" dirty="0">
                <a:latin typeface="Times New Roman" panose="02020603050405020304" pitchFamily="18" charset="0"/>
                <a:cs typeface="Times New Roman" panose="02020603050405020304" pitchFamily="18" charset="0"/>
                <a:hlinkClick r:id="rId2"/>
              </a:rPr>
              <a:t>Partridge v Crittenden</a:t>
            </a:r>
            <a:r>
              <a:rPr lang="en-US" dirty="0">
                <a:latin typeface="Times New Roman" panose="02020603050405020304" pitchFamily="18" charset="0"/>
                <a:cs typeface="Times New Roman" panose="02020603050405020304" pitchFamily="18" charset="0"/>
              </a:rPr>
              <a:t> [1968] </a:t>
            </a:r>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defendant advertised for sale a number of </a:t>
            </a:r>
            <a:r>
              <a:rPr lang="en-US" dirty="0" err="1">
                <a:latin typeface="Times New Roman" panose="02020603050405020304" pitchFamily="18" charset="0"/>
                <a:cs typeface="Times New Roman" panose="02020603050405020304" pitchFamily="18" charset="0"/>
              </a:rPr>
              <a:t>Bramblefinch</a:t>
            </a:r>
            <a:r>
              <a:rPr lang="en-US" dirty="0">
                <a:latin typeface="Times New Roman" panose="02020603050405020304" pitchFamily="18" charset="0"/>
                <a:cs typeface="Times New Roman" panose="02020603050405020304" pitchFamily="18" charset="0"/>
              </a:rPr>
              <a:t> cocks and hens, stating that the price was to be 25 shillings for each. Under the Protection of Birds Act 1954, it was unlawful to offer for sale any wild live bird. </a:t>
            </a:r>
          </a:p>
        </p:txBody>
      </p:sp>
    </p:spTree>
    <p:extLst>
      <p:ext uri="{BB962C8B-B14F-4D97-AF65-F5344CB8AC3E}">
        <p14:creationId xmlns:p14="http://schemas.microsoft.com/office/powerpoint/2010/main" val="1861799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i="1" u="sng" dirty="0">
                <a:latin typeface="Times New Roman" panose="02020603050405020304" pitchFamily="18" charset="0"/>
                <a:cs typeface="Times New Roman" panose="02020603050405020304" pitchFamily="18" charset="0"/>
                <a:hlinkClick r:id="rId2"/>
              </a:rPr>
              <a:t>Partridge v Crittenden</a:t>
            </a:r>
            <a:r>
              <a:rPr lang="en-US" dirty="0">
                <a:latin typeface="Times New Roman" panose="02020603050405020304" pitchFamily="18" charset="0"/>
                <a:cs typeface="Times New Roman" panose="02020603050405020304" pitchFamily="18" charset="0"/>
              </a:rPr>
              <a:t> [1968] </a:t>
            </a:r>
          </a:p>
        </p:txBody>
      </p:sp>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21122"/>
          <a:stretch/>
        </p:blipFill>
        <p:spPr bwMode="auto">
          <a:xfrm>
            <a:off x="3886200" y="1676401"/>
            <a:ext cx="4432738" cy="3556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9430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i="1" u="sng" dirty="0">
                <a:latin typeface="Times New Roman" panose="02020603050405020304" pitchFamily="18" charset="0"/>
                <a:cs typeface="Times New Roman" panose="02020603050405020304" pitchFamily="18" charset="0"/>
                <a:hlinkClick r:id="rId2"/>
              </a:rPr>
              <a:t>Partridge v Crittenden</a:t>
            </a:r>
            <a:r>
              <a:rPr lang="en-US" dirty="0">
                <a:latin typeface="Times New Roman" panose="02020603050405020304" pitchFamily="18" charset="0"/>
                <a:cs typeface="Times New Roman" panose="02020603050405020304" pitchFamily="18" charset="0"/>
              </a:rPr>
              <a:t> [1968] </a:t>
            </a:r>
          </a:p>
        </p:txBody>
      </p:sp>
      <p:sp>
        <p:nvSpPr>
          <p:cNvPr id="3" name="Content Placeholder 2"/>
          <p:cNvSpPr>
            <a:spLocks noGrp="1"/>
          </p:cNvSpPr>
          <p:nvPr>
            <p:ph idx="1"/>
          </p:nvPr>
        </p:nvSpPr>
        <p:spPr/>
        <p:txBody>
          <a:bodyPr>
            <a:normAutofit/>
          </a:bodyPr>
          <a:lstStyle/>
          <a:p>
            <a:pPr algn="just"/>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Royal Society for the Prevention of Cruelty to Animals (RSPCA) brought a prosecution against the defendant under the Act. At his trial, the defendant was found guilty of the offence by the magistrates; he appealed this conviction.</a:t>
            </a:r>
          </a:p>
        </p:txBody>
      </p:sp>
    </p:spTree>
    <p:extLst>
      <p:ext uri="{BB962C8B-B14F-4D97-AF65-F5344CB8AC3E}">
        <p14:creationId xmlns:p14="http://schemas.microsoft.com/office/powerpoint/2010/main" val="2138785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Acceptance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Final consent/ acceptance for the terms of the offer.</a:t>
            </a:r>
            <a:endParaRPr lang="en-US" dirty="0">
              <a:latin typeface="Times New Roman" panose="02020603050405020304" pitchFamily="18" charset="0"/>
              <a:cs typeface="Times New Roman" panose="02020603050405020304" pitchFamily="18" charset="0"/>
            </a:endParaRPr>
          </a:p>
        </p:txBody>
      </p:sp>
      <p:pic>
        <p:nvPicPr>
          <p:cNvPr id="4" name="Picture 3" descr="C:\Users\user\Desktop\girl.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25303" y="2739590"/>
            <a:ext cx="1411668" cy="2802878"/>
          </a:xfrm>
          <a:prstGeom prst="rect">
            <a:avLst/>
          </a:prstGeom>
          <a:noFill/>
          <a:extLst>
            <a:ext uri="{909E8E84-426E-40DD-AFC4-6F175D3DCCD1}">
              <a14:hiddenFill xmlns:a14="http://schemas.microsoft.com/office/drawing/2010/main">
                <a:solidFill>
                  <a:srgbClr val="FFFFFF"/>
                </a:solidFill>
              </a14:hiddenFill>
            </a:ext>
          </a:extLst>
        </p:spPr>
      </p:pic>
      <p:sp>
        <p:nvSpPr>
          <p:cNvPr id="5" name="Oval Callout 4"/>
          <p:cNvSpPr/>
          <p:nvPr/>
        </p:nvSpPr>
        <p:spPr>
          <a:xfrm>
            <a:off x="5731137" y="2154390"/>
            <a:ext cx="2534634" cy="1025130"/>
          </a:xfrm>
          <a:prstGeom prst="wedgeEllipseCallou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 pay and buy for </a:t>
            </a:r>
            <a:r>
              <a:rPr lang="en-US" dirty="0" err="1">
                <a:latin typeface="Times New Roman" panose="02020603050405020304" pitchFamily="18" charset="0"/>
                <a:cs typeface="Times New Roman" panose="02020603050405020304" pitchFamily="18" charset="0"/>
              </a:rPr>
              <a:t>Rs</a:t>
            </a:r>
            <a:r>
              <a:rPr lang="en-US" dirty="0">
                <a:latin typeface="Times New Roman" panose="02020603050405020304" pitchFamily="18" charset="0"/>
                <a:cs typeface="Times New Roman" panose="02020603050405020304" pitchFamily="18" charset="0"/>
              </a:rPr>
              <a:t>. 6,000,000/-</a:t>
            </a:r>
          </a:p>
        </p:txBody>
      </p:sp>
      <p:grpSp>
        <p:nvGrpSpPr>
          <p:cNvPr id="6" name="Group 5"/>
          <p:cNvGrpSpPr/>
          <p:nvPr/>
        </p:nvGrpSpPr>
        <p:grpSpPr>
          <a:xfrm>
            <a:off x="6477000" y="3886201"/>
            <a:ext cx="1925034" cy="1066799"/>
            <a:chOff x="6256193" y="5347667"/>
            <a:chExt cx="2125807" cy="1235191"/>
          </a:xfrm>
        </p:grpSpPr>
        <p:pic>
          <p:nvPicPr>
            <p:cNvPr id="7" name="Picture 5" descr="C:\Users\user\Desktop\images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6193" y="5650859"/>
              <a:ext cx="1135207" cy="51973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5" descr="C:\Users\user\Desktop\images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475393" y="5803258"/>
              <a:ext cx="906607" cy="51973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C:\Users\user\Desktop\images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0925" y="6063125"/>
              <a:ext cx="1135207" cy="51973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5" descr="C:\Users\user\Desktop\images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55873" y="5347667"/>
              <a:ext cx="1135207" cy="51973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189462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circle(in)">
                                      <p:cBhvr>
                                        <p:cTn id="14" dur="2000"/>
                                        <p:tgtEl>
                                          <p:spTgt spid="5"/>
                                        </p:tgtEl>
                                      </p:cBhvr>
                                    </p:animEffect>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Acceptance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dirty="0" smtClean="0">
                <a:latin typeface="Times New Roman" panose="02020603050405020304" pitchFamily="18" charset="0"/>
                <a:cs typeface="Times New Roman" panose="02020603050405020304" pitchFamily="18" charset="0"/>
              </a:rPr>
              <a:t>According to the general rule…</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acceptance should be communicated to the offeror properly, by the offeree.</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Ex: 	Telephone call</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Fax</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Email</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Letter</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By post</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Mouth to mouth</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546228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Consideration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The binding fact of a contract.</a:t>
            </a:r>
          </a:p>
          <a:p>
            <a:r>
              <a:rPr lang="en-US" dirty="0" smtClean="0">
                <a:latin typeface="Times New Roman" panose="02020603050405020304" pitchFamily="18" charset="0"/>
                <a:cs typeface="Times New Roman" panose="02020603050405020304" pitchFamily="18" charset="0"/>
              </a:rPr>
              <a:t>What is exchanged between the parties?</a:t>
            </a:r>
            <a:endParaRPr lang="en-US" dirty="0">
              <a:latin typeface="Times New Roman" panose="02020603050405020304" pitchFamily="18" charset="0"/>
              <a:cs typeface="Times New Roman" panose="02020603050405020304" pitchFamily="18" charset="0"/>
            </a:endParaRPr>
          </a:p>
        </p:txBody>
      </p:sp>
      <p:sp>
        <p:nvSpPr>
          <p:cNvPr id="4" name="Rounded Rectangle 3"/>
          <p:cNvSpPr/>
          <p:nvPr/>
        </p:nvSpPr>
        <p:spPr>
          <a:xfrm>
            <a:off x="4495800" y="3962400"/>
            <a:ext cx="3276600" cy="4572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Consideration</a:t>
            </a:r>
          </a:p>
        </p:txBody>
      </p:sp>
      <p:pic>
        <p:nvPicPr>
          <p:cNvPr id="5" name="Picture 4" descr="C:\Users\user\Desktop\imag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924710" y="3733800"/>
            <a:ext cx="2342490" cy="838200"/>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p:cNvGrpSpPr/>
          <p:nvPr/>
        </p:nvGrpSpPr>
        <p:grpSpPr>
          <a:xfrm>
            <a:off x="8008794" y="3899868"/>
            <a:ext cx="2125807" cy="1235191"/>
            <a:chOff x="6256193" y="5347667"/>
            <a:chExt cx="2125807" cy="1235191"/>
          </a:xfrm>
        </p:grpSpPr>
        <p:pic>
          <p:nvPicPr>
            <p:cNvPr id="7" name="Picture 5" descr="C:\Users\user\Desktop\images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56193" y="5650859"/>
              <a:ext cx="1135207" cy="51973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5" descr="C:\Users\user\Desktop\images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7475393" y="5803258"/>
              <a:ext cx="906607" cy="51973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 descr="C:\Users\user\Desktop\images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70925" y="6063125"/>
              <a:ext cx="1135207" cy="51973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5" descr="C:\Users\user\Desktop\images (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55873" y="5347667"/>
              <a:ext cx="1135207" cy="519733"/>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Curved Down Arrow 10"/>
          <p:cNvSpPr/>
          <p:nvPr/>
        </p:nvSpPr>
        <p:spPr>
          <a:xfrm>
            <a:off x="4045268" y="3352801"/>
            <a:ext cx="4164299" cy="547067"/>
          </a:xfrm>
          <a:prstGeom prst="curvedDownArrow">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solidFill>
                <a:schemeClr val="tx1"/>
              </a:solidFill>
            </a:endParaRPr>
          </a:p>
        </p:txBody>
      </p:sp>
      <p:sp>
        <p:nvSpPr>
          <p:cNvPr id="12" name="Curved Down Arrow 11"/>
          <p:cNvSpPr/>
          <p:nvPr/>
        </p:nvSpPr>
        <p:spPr>
          <a:xfrm flipH="1" flipV="1">
            <a:off x="4114800" y="4722792"/>
            <a:ext cx="3893993" cy="458807"/>
          </a:xfrm>
          <a:prstGeom prst="curvedDown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280382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down)">
                                      <p:cBhvr>
                                        <p:cTn id="26" dur="580">
                                          <p:stCondLst>
                                            <p:cond delay="0"/>
                                          </p:stCondLst>
                                        </p:cTn>
                                        <p:tgtEl>
                                          <p:spTgt spid="11"/>
                                        </p:tgtEl>
                                      </p:cBhvr>
                                    </p:animEffect>
                                    <p:anim calcmode="lin" valueType="num">
                                      <p:cBhvr>
                                        <p:cTn id="27" dur="1822"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11"/>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11"/>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11"/>
                                        </p:tgtEl>
                                        <p:attrNameLst>
                                          <p:attrName>ppt_y</p:attrName>
                                        </p:attrNameLst>
                                      </p:cBhvr>
                                      <p:tavLst>
                                        <p:tav tm="0" fmla="#ppt_y-sin(pi*$)/81">
                                          <p:val>
                                            <p:fltVal val="0"/>
                                          </p:val>
                                        </p:tav>
                                        <p:tav tm="100000">
                                          <p:val>
                                            <p:fltVal val="1"/>
                                          </p:val>
                                        </p:tav>
                                      </p:tavLst>
                                    </p:anim>
                                    <p:animScale>
                                      <p:cBhvr>
                                        <p:cTn id="32" dur="26">
                                          <p:stCondLst>
                                            <p:cond delay="650"/>
                                          </p:stCondLst>
                                        </p:cTn>
                                        <p:tgtEl>
                                          <p:spTgt spid="11"/>
                                        </p:tgtEl>
                                      </p:cBhvr>
                                      <p:to x="100000" y="60000"/>
                                    </p:animScale>
                                    <p:animScale>
                                      <p:cBhvr>
                                        <p:cTn id="33" dur="166" decel="50000">
                                          <p:stCondLst>
                                            <p:cond delay="676"/>
                                          </p:stCondLst>
                                        </p:cTn>
                                        <p:tgtEl>
                                          <p:spTgt spid="11"/>
                                        </p:tgtEl>
                                      </p:cBhvr>
                                      <p:to x="100000" y="100000"/>
                                    </p:animScale>
                                    <p:animScale>
                                      <p:cBhvr>
                                        <p:cTn id="34" dur="26">
                                          <p:stCondLst>
                                            <p:cond delay="1312"/>
                                          </p:stCondLst>
                                        </p:cTn>
                                        <p:tgtEl>
                                          <p:spTgt spid="11"/>
                                        </p:tgtEl>
                                      </p:cBhvr>
                                      <p:to x="100000" y="80000"/>
                                    </p:animScale>
                                    <p:animScale>
                                      <p:cBhvr>
                                        <p:cTn id="35" dur="166" decel="50000">
                                          <p:stCondLst>
                                            <p:cond delay="1338"/>
                                          </p:stCondLst>
                                        </p:cTn>
                                        <p:tgtEl>
                                          <p:spTgt spid="11"/>
                                        </p:tgtEl>
                                      </p:cBhvr>
                                      <p:to x="100000" y="100000"/>
                                    </p:animScale>
                                    <p:animScale>
                                      <p:cBhvr>
                                        <p:cTn id="36" dur="26">
                                          <p:stCondLst>
                                            <p:cond delay="1642"/>
                                          </p:stCondLst>
                                        </p:cTn>
                                        <p:tgtEl>
                                          <p:spTgt spid="11"/>
                                        </p:tgtEl>
                                      </p:cBhvr>
                                      <p:to x="100000" y="90000"/>
                                    </p:animScale>
                                    <p:animScale>
                                      <p:cBhvr>
                                        <p:cTn id="37" dur="166" decel="50000">
                                          <p:stCondLst>
                                            <p:cond delay="1668"/>
                                          </p:stCondLst>
                                        </p:cTn>
                                        <p:tgtEl>
                                          <p:spTgt spid="11"/>
                                        </p:tgtEl>
                                      </p:cBhvr>
                                      <p:to x="100000" y="100000"/>
                                    </p:animScale>
                                    <p:animScale>
                                      <p:cBhvr>
                                        <p:cTn id="38" dur="26">
                                          <p:stCondLst>
                                            <p:cond delay="1808"/>
                                          </p:stCondLst>
                                        </p:cTn>
                                        <p:tgtEl>
                                          <p:spTgt spid="11"/>
                                        </p:tgtEl>
                                      </p:cBhvr>
                                      <p:to x="100000" y="95000"/>
                                    </p:animScale>
                                    <p:animScale>
                                      <p:cBhvr>
                                        <p:cTn id="39" dur="166" decel="50000">
                                          <p:stCondLst>
                                            <p:cond delay="1834"/>
                                          </p:stCondLst>
                                        </p:cTn>
                                        <p:tgtEl>
                                          <p:spTgt spid="11"/>
                                        </p:tgtEl>
                                      </p:cBhvr>
                                      <p:to x="100000" y="100000"/>
                                    </p:animScale>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 calcmode="lin" valueType="num">
                                      <p:cBhvr>
                                        <p:cTn id="44" dur="500" fill="hold"/>
                                        <p:tgtEl>
                                          <p:spTgt spid="12"/>
                                        </p:tgtEl>
                                        <p:attrNameLst>
                                          <p:attrName>ppt_w</p:attrName>
                                        </p:attrNameLst>
                                      </p:cBhvr>
                                      <p:tavLst>
                                        <p:tav tm="0">
                                          <p:val>
                                            <p:fltVal val="0"/>
                                          </p:val>
                                        </p:tav>
                                        <p:tav tm="100000">
                                          <p:val>
                                            <p:strVal val="#ppt_w"/>
                                          </p:val>
                                        </p:tav>
                                      </p:tavLst>
                                    </p:anim>
                                    <p:anim calcmode="lin" valueType="num">
                                      <p:cBhvr>
                                        <p:cTn id="45" dur="500" fill="hold"/>
                                        <p:tgtEl>
                                          <p:spTgt spid="12"/>
                                        </p:tgtEl>
                                        <p:attrNameLst>
                                          <p:attrName>ppt_h</p:attrName>
                                        </p:attrNameLst>
                                      </p:cBhvr>
                                      <p:tavLst>
                                        <p:tav tm="0">
                                          <p:val>
                                            <p:fltVal val="0"/>
                                          </p:val>
                                        </p:tav>
                                        <p:tav tm="100000">
                                          <p:val>
                                            <p:strVal val="#ppt_h"/>
                                          </p:val>
                                        </p:tav>
                                      </p:tavLst>
                                    </p:anim>
                                    <p:animEffect transition="in" filter="fade">
                                      <p:cBhvr>
                                        <p:cTn id="4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P spid="1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Termination of an Offer</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Acceptance</a:t>
            </a:r>
          </a:p>
          <a:p>
            <a:r>
              <a:rPr lang="en-US" dirty="0" smtClean="0">
                <a:latin typeface="Times New Roman" panose="02020603050405020304" pitchFamily="18" charset="0"/>
                <a:cs typeface="Times New Roman" panose="02020603050405020304" pitchFamily="18" charset="0"/>
              </a:rPr>
              <a:t>Rejection </a:t>
            </a:r>
          </a:p>
          <a:p>
            <a:r>
              <a:rPr lang="en-US" dirty="0" smtClean="0">
                <a:latin typeface="Times New Roman" panose="02020603050405020304" pitchFamily="18" charset="0"/>
                <a:cs typeface="Times New Roman" panose="02020603050405020304" pitchFamily="18" charset="0"/>
              </a:rPr>
              <a:t>Counter offer</a:t>
            </a:r>
          </a:p>
          <a:p>
            <a:r>
              <a:rPr lang="en-US" dirty="0" smtClean="0">
                <a:latin typeface="Times New Roman" panose="02020603050405020304" pitchFamily="18" charset="0"/>
                <a:cs typeface="Times New Roman" panose="02020603050405020304" pitchFamily="18" charset="0"/>
              </a:rPr>
              <a:t>Revocation</a:t>
            </a:r>
          </a:p>
          <a:p>
            <a:r>
              <a:rPr lang="en-US" dirty="0" smtClean="0">
                <a:latin typeface="Times New Roman" panose="02020603050405020304" pitchFamily="18" charset="0"/>
                <a:cs typeface="Times New Roman" panose="02020603050405020304" pitchFamily="18" charset="0"/>
              </a:rPr>
              <a:t>Lapse of Time</a:t>
            </a:r>
          </a:p>
          <a:p>
            <a:r>
              <a:rPr lang="en-US" dirty="0" smtClean="0">
                <a:latin typeface="Times New Roman" panose="02020603050405020304" pitchFamily="18" charset="0"/>
                <a:cs typeface="Times New Roman" panose="02020603050405020304" pitchFamily="18" charset="0"/>
              </a:rPr>
              <a:t>Death</a:t>
            </a:r>
          </a:p>
          <a:p>
            <a:r>
              <a:rPr lang="en-US" dirty="0" smtClean="0">
                <a:latin typeface="Times New Roman" panose="02020603050405020304" pitchFamily="18" charset="0"/>
                <a:cs typeface="Times New Roman" panose="02020603050405020304" pitchFamily="18" charset="0"/>
              </a:rPr>
              <a:t>Failure of a Condition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72308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Terms and Conditions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Conditions</a:t>
            </a:r>
          </a:p>
          <a:p>
            <a:r>
              <a:rPr lang="en-US" dirty="0" smtClean="0">
                <a:latin typeface="Times New Roman" panose="02020603050405020304" pitchFamily="18" charset="0"/>
                <a:cs typeface="Times New Roman" panose="02020603050405020304" pitchFamily="18" charset="0"/>
              </a:rPr>
              <a:t>Warranties</a:t>
            </a:r>
          </a:p>
          <a:p>
            <a:r>
              <a:rPr lang="en-US" dirty="0" smtClean="0">
                <a:latin typeface="Times New Roman" panose="02020603050405020304" pitchFamily="18" charset="0"/>
                <a:cs typeface="Times New Roman" panose="02020603050405020304" pitchFamily="18" charset="0"/>
              </a:rPr>
              <a:t>Exemption Clauses</a:t>
            </a:r>
          </a:p>
          <a:p>
            <a:r>
              <a:rPr lang="en-US" dirty="0" smtClean="0">
                <a:latin typeface="Times New Roman" panose="02020603050405020304" pitchFamily="18" charset="0"/>
                <a:cs typeface="Times New Roman" panose="02020603050405020304" pitchFamily="18" charset="0"/>
              </a:rPr>
              <a:t>Mere Representations</a:t>
            </a:r>
          </a:p>
          <a:p>
            <a:pPr marL="0" indent="0">
              <a:buNone/>
            </a:pPr>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05204611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Terms and Conditions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smtClean="0">
                <a:latin typeface="Times New Roman" panose="02020603050405020304" pitchFamily="18" charset="0"/>
                <a:cs typeface="Times New Roman" panose="02020603050405020304" pitchFamily="18" charset="0"/>
              </a:rPr>
              <a:t>Condition</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A condition is a major term which is vital to the main purpose of the contract.</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If I breach a condition of a contract what would be happened?</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Injured party can claim damages</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Injured party has Discretion to repudiate the contract or to go on with the contract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5777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Terms and Conditions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Warranties</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This is a less important term comparatively</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If I breach a warranty what would be happened?</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Injured party can claim damages but cannot repudiate the contract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209990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Terms and Conditions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Exemption Clauses</a:t>
            </a:r>
          </a:p>
          <a:p>
            <a:pPr marL="0" indent="0">
              <a:buNone/>
            </a:pPr>
            <a:r>
              <a:rPr lang="en-US" dirty="0" smtClean="0">
                <a:latin typeface="Times New Roman" panose="02020603050405020304" pitchFamily="18" charset="0"/>
                <a:cs typeface="Times New Roman" panose="02020603050405020304" pitchFamily="18" charset="0"/>
              </a:rPr>
              <a:t>(Limiting/Exclusion clauses)</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The aim of this clause is to limit or exclude the liability of one party of the contract where the contract is breached.</a:t>
            </a:r>
          </a:p>
          <a:p>
            <a:pPr marL="0" indent="0">
              <a:buNone/>
            </a:pPr>
            <a:r>
              <a:rPr lang="en-US" dirty="0" smtClean="0">
                <a:latin typeface="Times New Roman" panose="02020603050405020304" pitchFamily="18" charset="0"/>
                <a:cs typeface="Times New Roman" panose="02020603050405020304" pitchFamily="18" charset="0"/>
              </a:rPr>
              <a:t>Unfair Contract Terms Act</a:t>
            </a:r>
          </a:p>
          <a:p>
            <a:pPr marL="0" indent="0">
              <a:buNone/>
            </a:pPr>
            <a:r>
              <a:rPr lang="en-US" dirty="0" smtClean="0">
                <a:latin typeface="Times New Roman" panose="02020603050405020304" pitchFamily="18" charset="0"/>
                <a:cs typeface="Times New Roman" panose="02020603050405020304" pitchFamily="18" charset="0"/>
              </a:rPr>
              <a:t>1977- UK, 1997-Sri Lanka</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24204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Terms and Conditions of a Contract</a:t>
            </a: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Unfair Contract Terms Act – Exclusion clause</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If the person signs a document, without reading or without understanding, the exclusion clause will automatically be a part of the contract.</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However, the clause must be brought into the attention. </a:t>
            </a:r>
          </a:p>
          <a:p>
            <a:pPr marL="0" indent="0">
              <a:buNone/>
            </a:pPr>
            <a:r>
              <a:rPr lang="en-US" dirty="0" smtClean="0">
                <a:latin typeface="Times New Roman" panose="02020603050405020304" pitchFamily="18" charset="0"/>
                <a:cs typeface="Times New Roman" panose="02020603050405020304" pitchFamily="18" charset="0"/>
              </a:rPr>
              <a:t>	Reasonable notice must be given.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069778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Times New Roman" panose="02020603050405020304" pitchFamily="18" charset="0"/>
                <a:cs typeface="Times New Roman" panose="02020603050405020304" pitchFamily="18" charset="0"/>
              </a:rPr>
              <a:t>Olley</a:t>
            </a:r>
            <a:r>
              <a:rPr lang="en-US" b="1" dirty="0">
                <a:latin typeface="Times New Roman" panose="02020603050405020304" pitchFamily="18" charset="0"/>
                <a:cs typeface="Times New Roman" panose="02020603050405020304" pitchFamily="18" charset="0"/>
              </a:rPr>
              <a:t> v Marlborough Court Ltd [1949]</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err="1">
                <a:latin typeface="Times New Roman" panose="02020603050405020304" pitchFamily="18" charset="0"/>
                <a:cs typeface="Times New Roman" panose="02020603050405020304" pitchFamily="18" charset="0"/>
              </a:rPr>
              <a:t>Olley</a:t>
            </a:r>
            <a:r>
              <a:rPr lang="en-US" dirty="0">
                <a:latin typeface="Times New Roman" panose="02020603050405020304" pitchFamily="18" charset="0"/>
                <a:cs typeface="Times New Roman" panose="02020603050405020304" pitchFamily="18" charset="0"/>
              </a:rPr>
              <a:t> was a guest in the defendant hotel. On arrival, </a:t>
            </a:r>
            <a:r>
              <a:rPr lang="en-US" dirty="0" err="1">
                <a:latin typeface="Times New Roman" panose="02020603050405020304" pitchFamily="18" charset="0"/>
                <a:cs typeface="Times New Roman" panose="02020603050405020304" pitchFamily="18" charset="0"/>
              </a:rPr>
              <a:t>Olley</a:t>
            </a:r>
            <a:r>
              <a:rPr lang="en-US" dirty="0">
                <a:latin typeface="Times New Roman" panose="02020603050405020304" pitchFamily="18" charset="0"/>
                <a:cs typeface="Times New Roman" panose="02020603050405020304" pitchFamily="18" charset="0"/>
              </a:rPr>
              <a:t> paid for a week’s board in advance and then went to the room.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the room, a notice was displayed stating the proprietors would not be responsible for any items lost or stolen, unless handed to them for safe keeping. </a:t>
            </a:r>
          </a:p>
        </p:txBody>
      </p:sp>
    </p:spTree>
    <p:extLst>
      <p:ext uri="{BB962C8B-B14F-4D97-AF65-F5344CB8AC3E}">
        <p14:creationId xmlns:p14="http://schemas.microsoft.com/office/powerpoint/2010/main" val="4343982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err="1">
                <a:latin typeface="Times New Roman" panose="02020603050405020304" pitchFamily="18" charset="0"/>
                <a:cs typeface="Times New Roman" panose="02020603050405020304" pitchFamily="18" charset="0"/>
              </a:rPr>
              <a:t>Olley</a:t>
            </a:r>
            <a:r>
              <a:rPr lang="en-US" b="1" dirty="0">
                <a:latin typeface="Times New Roman" panose="02020603050405020304" pitchFamily="18" charset="0"/>
                <a:cs typeface="Times New Roman" panose="02020603050405020304" pitchFamily="18" charset="0"/>
              </a:rPr>
              <a:t> v Marlborough Court Ltd [1949]</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r>
              <a:rPr lang="en-US" dirty="0" err="1" smtClean="0">
                <a:latin typeface="Times New Roman" panose="02020603050405020304" pitchFamily="18" charset="0"/>
                <a:cs typeface="Times New Roman" panose="02020603050405020304" pitchFamily="18" charset="0"/>
              </a:rPr>
              <a:t>Olley</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left the room and deposited her key on the board in reception before leaving the hotel. The key was taken and several items were stolen from her room. </a:t>
            </a:r>
            <a:r>
              <a:rPr lang="en-US" dirty="0" err="1">
                <a:latin typeface="Times New Roman" panose="02020603050405020304" pitchFamily="18" charset="0"/>
                <a:cs typeface="Times New Roman" panose="02020603050405020304" pitchFamily="18" charset="0"/>
              </a:rPr>
              <a:t>Olley</a:t>
            </a:r>
            <a:r>
              <a:rPr lang="en-US" dirty="0">
                <a:latin typeface="Times New Roman" panose="02020603050405020304" pitchFamily="18" charset="0"/>
                <a:cs typeface="Times New Roman" panose="02020603050405020304" pitchFamily="18" charset="0"/>
              </a:rPr>
              <a:t> sought damages in negligence.</a:t>
            </a:r>
          </a:p>
        </p:txBody>
      </p:sp>
    </p:spTree>
    <p:extLst>
      <p:ext uri="{BB962C8B-B14F-4D97-AF65-F5344CB8AC3E}">
        <p14:creationId xmlns:p14="http://schemas.microsoft.com/office/powerpoint/2010/main" val="2847435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Vitiating Factors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Mistake</a:t>
            </a:r>
          </a:p>
          <a:p>
            <a:r>
              <a:rPr lang="en-US" dirty="0" smtClean="0">
                <a:latin typeface="Times New Roman" panose="02020603050405020304" pitchFamily="18" charset="0"/>
                <a:cs typeface="Times New Roman" panose="02020603050405020304" pitchFamily="18" charset="0"/>
              </a:rPr>
              <a:t>Misrepresentation</a:t>
            </a:r>
          </a:p>
          <a:p>
            <a:r>
              <a:rPr lang="en-US" dirty="0" smtClean="0">
                <a:latin typeface="Times New Roman" panose="02020603050405020304" pitchFamily="18" charset="0"/>
                <a:cs typeface="Times New Roman" panose="02020603050405020304" pitchFamily="18" charset="0"/>
              </a:rPr>
              <a:t>Duress</a:t>
            </a:r>
          </a:p>
          <a:p>
            <a:r>
              <a:rPr lang="en-US" dirty="0" smtClean="0">
                <a:latin typeface="Times New Roman" panose="02020603050405020304" pitchFamily="18" charset="0"/>
                <a:cs typeface="Times New Roman" panose="02020603050405020304" pitchFamily="18" charset="0"/>
              </a:rPr>
              <a:t>Illegality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083314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Forms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81200" y="1600200"/>
            <a:ext cx="8229600" cy="5029200"/>
          </a:xfrm>
        </p:spPr>
        <p:txBody>
          <a:bodyPr>
            <a:normAutofit fontScale="92500" lnSpcReduction="10000"/>
          </a:bodyPr>
          <a:lstStyle/>
          <a:p>
            <a:r>
              <a:rPr lang="en-US" dirty="0" smtClean="0">
                <a:latin typeface="Times New Roman" panose="02020603050405020304" pitchFamily="18" charset="0"/>
                <a:cs typeface="Times New Roman" panose="02020603050405020304" pitchFamily="18" charset="0"/>
              </a:rPr>
              <a:t>Contracts void and unenforceable unless in a particular Form</a:t>
            </a:r>
          </a:p>
          <a:p>
            <a:pPr marL="0" indent="0">
              <a:buNone/>
            </a:pPr>
            <a:r>
              <a:rPr lang="en-US" dirty="0" smtClean="0">
                <a:latin typeface="Times New Roman" panose="02020603050405020304" pitchFamily="18" charset="0"/>
                <a:cs typeface="Times New Roman" panose="02020603050405020304" pitchFamily="18" charset="0"/>
              </a:rPr>
              <a:t>Ex: </a:t>
            </a:r>
            <a:r>
              <a:rPr lang="en-US" dirty="0">
                <a:latin typeface="Times New Roman" panose="02020603050405020304" pitchFamily="18" charset="0"/>
                <a:cs typeface="Times New Roman" panose="02020603050405020304" pitchFamily="18" charset="0"/>
              </a:rPr>
              <a:t>Prevention of Frauds Ordinance No. 07 of 1840</a:t>
            </a:r>
            <a:endParaRPr lang="en-US" dirty="0" smtClean="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Section 2</a:t>
            </a:r>
          </a:p>
          <a:p>
            <a:pPr marL="0" indent="0">
              <a:buNone/>
            </a:pPr>
            <a:r>
              <a:rPr lang="en-US" dirty="0" smtClean="0">
                <a:latin typeface="Times New Roman" panose="02020603050405020304" pitchFamily="18" charset="0"/>
                <a:cs typeface="Times New Roman" panose="02020603050405020304" pitchFamily="18" charset="0"/>
              </a:rPr>
              <a:t>Any sale, purchase, transfer, mortgage and etc.</a:t>
            </a:r>
          </a:p>
          <a:p>
            <a:pPr marL="0" indent="0">
              <a:buNone/>
            </a:pPr>
            <a:endParaRPr lang="en-US" dirty="0" smtClean="0">
              <a:latin typeface="Times New Roman" panose="02020603050405020304" pitchFamily="18" charset="0"/>
              <a:cs typeface="Times New Roman" panose="02020603050405020304" pitchFamily="18" charset="0"/>
            </a:endParaRPr>
          </a:p>
          <a:p>
            <a:pPr marL="514350" indent="-514350">
              <a:buFont typeface="+mj-lt"/>
              <a:buAutoNum type="arabicPeriod"/>
            </a:pPr>
            <a:r>
              <a:rPr lang="en-US" dirty="0" smtClean="0">
                <a:latin typeface="Times New Roman" panose="02020603050405020304" pitchFamily="18" charset="0"/>
                <a:cs typeface="Times New Roman" panose="02020603050405020304" pitchFamily="18" charset="0"/>
              </a:rPr>
              <a:t>Should be in writing</a:t>
            </a:r>
          </a:p>
          <a:p>
            <a:pPr marL="514350" indent="-514350">
              <a:buFont typeface="+mj-lt"/>
              <a:buAutoNum type="arabicPeriod"/>
            </a:pPr>
            <a:r>
              <a:rPr lang="en-US" dirty="0" smtClean="0">
                <a:latin typeface="Times New Roman" panose="02020603050405020304" pitchFamily="18" charset="0"/>
                <a:cs typeface="Times New Roman" panose="02020603050405020304" pitchFamily="18" charset="0"/>
              </a:rPr>
              <a:t>In the presence and signature of</a:t>
            </a:r>
          </a:p>
          <a:p>
            <a:pPr marL="0" indent="0">
              <a:buNone/>
            </a:pPr>
            <a:r>
              <a:rPr lang="en-US" dirty="0" smtClean="0">
                <a:latin typeface="Times New Roman" panose="02020603050405020304" pitchFamily="18" charset="0"/>
                <a:cs typeface="Times New Roman" panose="02020603050405020304" pitchFamily="18" charset="0"/>
              </a:rPr>
              <a:t>	Licensed Notary Public</a:t>
            </a:r>
          </a:p>
          <a:p>
            <a:pPr marL="0" indent="0">
              <a:buNone/>
            </a:pPr>
            <a:r>
              <a:rPr lang="en-US" dirty="0" smtClean="0">
                <a:latin typeface="Times New Roman" panose="02020603050405020304" pitchFamily="18" charset="0"/>
                <a:cs typeface="Times New Roman" panose="02020603050405020304" pitchFamily="18" charset="0"/>
              </a:rPr>
              <a:t>	Minimum two witnesses</a:t>
            </a:r>
          </a:p>
          <a:p>
            <a:pPr marL="0" indent="0">
              <a:buNone/>
            </a:pPr>
            <a:r>
              <a:rPr lang="en-US" dirty="0" smtClean="0">
                <a:latin typeface="Times New Roman" panose="02020603050405020304" pitchFamily="18" charset="0"/>
                <a:cs typeface="Times New Roman" panose="02020603050405020304" pitchFamily="18" charset="0"/>
              </a:rPr>
              <a:t>3.	Notary attestation</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52041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Forms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Contracts void and enforceable unless in a particular Form</a:t>
            </a:r>
          </a:p>
          <a:p>
            <a:pPr marL="0" indent="0">
              <a:buNone/>
            </a:pPr>
            <a:r>
              <a:rPr lang="en-US" dirty="0" smtClean="0">
                <a:latin typeface="Times New Roman" panose="02020603050405020304" pitchFamily="18" charset="0"/>
                <a:cs typeface="Times New Roman" panose="02020603050405020304" pitchFamily="18" charset="0"/>
              </a:rPr>
              <a:t>Ex: Promise to marry </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Should be in writing</a:t>
            </a:r>
          </a:p>
          <a:p>
            <a:pPr marL="0" indent="0">
              <a:buNone/>
            </a:pPr>
            <a:r>
              <a:rPr lang="en-US" dirty="0" smtClean="0">
                <a:latin typeface="Times New Roman" panose="02020603050405020304" pitchFamily="18" charset="0"/>
                <a:cs typeface="Times New Roman" panose="02020603050405020304" pitchFamily="18" charset="0"/>
              </a:rPr>
              <a:t>Motor Vehicle Transfer Document – MTA 6</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dirty="0" smtClean="0">
                <a:latin typeface="Times New Roman" panose="02020603050405020304" pitchFamily="18" charset="0"/>
                <a:cs typeface="Times New Roman" panose="02020603050405020304" pitchFamily="18" charset="0"/>
              </a:rPr>
              <a:t>Some forms of CEB, Water Board, Bank, School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0141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Discharge of a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Performance</a:t>
            </a:r>
          </a:p>
          <a:p>
            <a:r>
              <a:rPr lang="en-US" dirty="0" smtClean="0">
                <a:latin typeface="Times New Roman" panose="02020603050405020304" pitchFamily="18" charset="0"/>
                <a:cs typeface="Times New Roman" panose="02020603050405020304" pitchFamily="18" charset="0"/>
              </a:rPr>
              <a:t>Agreement (Waiving off)</a:t>
            </a:r>
          </a:p>
          <a:p>
            <a:r>
              <a:rPr lang="en-US" dirty="0" smtClean="0">
                <a:latin typeface="Times New Roman" panose="02020603050405020304" pitchFamily="18" charset="0"/>
                <a:cs typeface="Times New Roman" panose="02020603050405020304" pitchFamily="18" charset="0"/>
              </a:rPr>
              <a:t>Breach</a:t>
            </a:r>
          </a:p>
          <a:p>
            <a:r>
              <a:rPr lang="en-US" dirty="0" smtClean="0">
                <a:latin typeface="Times New Roman" panose="02020603050405020304" pitchFamily="18" charset="0"/>
                <a:cs typeface="Times New Roman" panose="02020603050405020304" pitchFamily="18" charset="0"/>
              </a:rPr>
              <a:t>Frustration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11037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Remedies for Breach of Contract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Damages</a:t>
            </a:r>
          </a:p>
          <a:p>
            <a:r>
              <a:rPr lang="en-US" dirty="0" smtClean="0">
                <a:latin typeface="Times New Roman" panose="02020603050405020304" pitchFamily="18" charset="0"/>
                <a:cs typeface="Times New Roman" panose="02020603050405020304" pitchFamily="18" charset="0"/>
              </a:rPr>
              <a:t>Specific Performance</a:t>
            </a:r>
          </a:p>
          <a:p>
            <a:r>
              <a:rPr lang="en-US" dirty="0" smtClean="0">
                <a:latin typeface="Times New Roman" panose="02020603050405020304" pitchFamily="18" charset="0"/>
                <a:cs typeface="Times New Roman" panose="02020603050405020304" pitchFamily="18" charset="0"/>
              </a:rPr>
              <a:t>Injunction</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207406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Thank you</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latin typeface="Times New Roman" panose="02020603050405020304" pitchFamily="18" charset="0"/>
                <a:cs typeface="Times New Roman" panose="02020603050405020304" pitchFamily="18" charset="0"/>
              </a:rPr>
              <a:t>Any Questions?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53744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628</TotalTime>
  <Words>964</Words>
  <Application>Microsoft Office PowerPoint</Application>
  <PresentationFormat>Widescreen</PresentationFormat>
  <Paragraphs>201</Paragraphs>
  <Slides>42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Arial</vt:lpstr>
      <vt:lpstr>Calibri</vt:lpstr>
      <vt:lpstr>Calibri Light</vt:lpstr>
      <vt:lpstr>Times New Roman</vt:lpstr>
      <vt:lpstr>Wingdings</vt:lpstr>
      <vt:lpstr>Office Theme</vt:lpstr>
      <vt:lpstr>Law of Contract</vt:lpstr>
      <vt:lpstr>Definition of a Contract</vt:lpstr>
      <vt:lpstr>Definition of a Contract</vt:lpstr>
      <vt:lpstr>Definition of a contract</vt:lpstr>
      <vt:lpstr>How a Contract is created</vt:lpstr>
      <vt:lpstr>Formation of a Contract</vt:lpstr>
      <vt:lpstr>Formation of a Contract</vt:lpstr>
      <vt:lpstr>Elements of a Contract</vt:lpstr>
      <vt:lpstr>Capacity of Parties to Contract</vt:lpstr>
      <vt:lpstr>Capacity of Parties to Contract</vt:lpstr>
      <vt:lpstr>Offer</vt:lpstr>
      <vt:lpstr>PowerPoint Presentation</vt:lpstr>
      <vt:lpstr>Invitation to Treat</vt:lpstr>
      <vt:lpstr>Case study</vt:lpstr>
      <vt:lpstr>Carlill vs. Carbolic Smoke Ball Company (1892)</vt:lpstr>
      <vt:lpstr>Carlill vs. Carbolic Smoke Ball Company (1892)</vt:lpstr>
      <vt:lpstr>Carlill vs. Carbolic Smoke Ball Company (1892)</vt:lpstr>
      <vt:lpstr>Carlill vs. Carbolic Smoke Ball Company (1892)</vt:lpstr>
      <vt:lpstr>Pharmaceutical Society of Great Britain v Boots Cash Chemists [1953] </vt:lpstr>
      <vt:lpstr>Pharmaceutical Society of Great Britain v Boots Cash Chemists [1953] </vt:lpstr>
      <vt:lpstr> Fisher v Bell [1961]</vt:lpstr>
      <vt:lpstr> Fisher v Bell [1961]</vt:lpstr>
      <vt:lpstr> Partridge v Crittenden [1968] </vt:lpstr>
      <vt:lpstr> Partridge v Crittenden [1968] </vt:lpstr>
      <vt:lpstr> Partridge v Crittenden [1968] </vt:lpstr>
      <vt:lpstr>Acceptance</vt:lpstr>
      <vt:lpstr>Acceptance</vt:lpstr>
      <vt:lpstr>Consideration</vt:lpstr>
      <vt:lpstr>Termination of an Offer</vt:lpstr>
      <vt:lpstr>Terms and Conditions of a Contract</vt:lpstr>
      <vt:lpstr>Terms and Conditions of a Contract</vt:lpstr>
      <vt:lpstr>Terms and Conditions of a Contract</vt:lpstr>
      <vt:lpstr>Terms and Conditions of a Contract</vt:lpstr>
      <vt:lpstr>Terms and Conditions of a Contract</vt:lpstr>
      <vt:lpstr>Olley v Marlborough Court Ltd [1949]</vt:lpstr>
      <vt:lpstr>Olley v Marlborough Court Ltd [1949]</vt:lpstr>
      <vt:lpstr>Vitiating Factors of a Contract</vt:lpstr>
      <vt:lpstr>Forms</vt:lpstr>
      <vt:lpstr>Forms</vt:lpstr>
      <vt:lpstr>Discharge of a Contract</vt:lpstr>
      <vt:lpstr>Remedies for Breach of Contract</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Piumal Fernando</dc:creator>
  <cp:lastModifiedBy>Piumal Fernando</cp:lastModifiedBy>
  <cp:revision>51</cp:revision>
  <dcterms:created xsi:type="dcterms:W3CDTF">2025-03-13T06:34:42Z</dcterms:created>
  <dcterms:modified xsi:type="dcterms:W3CDTF">2025-07-29T14:43:03Z</dcterms:modified>
</cp:coreProperties>
</file>